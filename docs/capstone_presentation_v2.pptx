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SMART CITY CAPSTONE  ·  GUC MASTERS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Categorize-then-Predict
</a:t>
            </a:r>
            <a:r>
              <a:rPr sz="3400" b="0">
                <a:solidFill>
                  <a:srgbClr val="A0B8C4"/>
                </a:solidFill>
                <a:latin typeface="Calibri"/>
              </a:rPr>
              <a:t>Trustworthy PM2.5 where there is no sensor — and a few days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8A020"/>
                </a:solidFill>
                <a:latin typeface="Calibri"/>
              </a:rPr>
              <a:t>Kampala, Uganda  ·  39 low-cost sensors  ·  free data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11064240" cy="155448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840480"/>
            <a:ext cx="64008" cy="155448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931920"/>
            <a:ext cx="1065276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A38B"/>
                </a:solidFill>
                <a:latin typeface="Calibri"/>
              </a:rPr>
              <a:t>The question   </a:t>
            </a:r>
            <a:r>
              <a:rPr sz="1450" b="0">
                <a:solidFill>
                  <a:srgbClr val="A0B8C4"/>
                </a:solidFill>
                <a:latin typeface="Calibri"/>
              </a:rPr>
              <a:t>Can a categorize-then-predict pipeline give an urban planner trustworthy PM2.5 where there is no sensor, and a few days ahead, without collapsing? This deck reports the honest answer — out-of-site and out-of-time, negative results included.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01  ·  RESEARCH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From 60+ Papers Down to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1064240" cy="82296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64008" cy="822960"/>
          </a:xfrm>
          <a:prstGeom prst="rect">
            <a:avLst/>
          </a:prstGeom>
          <a:solidFill>
            <a:srgbClr val="5BA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40280"/>
            <a:ext cx="10652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5BA4CF"/>
                </a:solidFill>
                <a:latin typeface="Calibri"/>
              </a:rPr>
              <a:t>60+ screened   </a:t>
            </a:r>
            <a:r>
              <a:rPr sz="1450" b="0">
                <a:solidFill>
                  <a:srgbClr val="A0B8C4"/>
                </a:solidFill>
                <a:latin typeface="Calibri"/>
              </a:rPr>
              <a:t>Air-quality + ML + remote-sensing literature for low-resource cities.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64008" cy="82296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10652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A38B"/>
                </a:solidFill>
                <a:latin typeface="Calibri"/>
              </a:rPr>
              <a:t>4 anchors kept   </a:t>
            </a:r>
            <a:r>
              <a:rPr sz="1450" b="0">
                <a:solidFill>
                  <a:srgbClr val="A0B8C4"/>
                </a:solidFill>
                <a:latin typeface="Calibri"/>
              </a:rPr>
              <a:t>Each builds on the last — precedent, levers, honest evaluation.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11064240" cy="82296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069080"/>
            <a:ext cx="64008" cy="82296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160520"/>
            <a:ext cx="106527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E8A020"/>
                </a:solidFill>
                <a:latin typeface="Calibri"/>
              </a:rPr>
              <a:t>1 gap   </a:t>
            </a:r>
            <a:r>
              <a:rPr sz="1450" b="0">
                <a:solidFill>
                  <a:srgbClr val="A0B8C4"/>
                </a:solidFill>
                <a:latin typeface="Calibri"/>
              </a:rPr>
              <a:t>Models look great on a random split, then collapse at a new place.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The gap — generalization to unseen places — is exactly what the 4th cap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02  ·  THE FOUR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Each Paper Builds on the Last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1064240" cy="80467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64008" cy="804672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94560"/>
            <a:ext cx="10652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A38B"/>
                </a:solidFill>
                <a:latin typeface="Calibri"/>
              </a:rPr>
              <a:t>Adong 2025   </a:t>
            </a:r>
            <a:r>
              <a:rPr sz="1450" b="0">
                <a:solidFill>
                  <a:srgbClr val="A0B8C4"/>
                </a:solidFill>
                <a:latin typeface="Calibri"/>
              </a:rPr>
              <a:t>Kampala PM2.5 from satellite AOD alone — weather deliberately excluded. Our precedent.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35808"/>
            <a:ext cx="11064240" cy="80467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35808"/>
            <a:ext cx="64008" cy="804672"/>
          </a:xfrm>
          <a:prstGeom prst="rect">
            <a:avLst/>
          </a:prstGeom>
          <a:solidFill>
            <a:srgbClr val="5BA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127248"/>
            <a:ext cx="10652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5BA4CF"/>
                </a:solidFill>
                <a:latin typeface="Calibri"/>
              </a:rPr>
              <a:t>Weather lever   </a:t>
            </a:r>
            <a:r>
              <a:rPr sz="1450" b="0">
                <a:solidFill>
                  <a:srgbClr val="A0B8C4"/>
                </a:solidFill>
                <a:latin typeface="Calibri"/>
              </a:rPr>
              <a:t>ERA5 weather is the cheap, generalizable signal the precedent left 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68496"/>
            <a:ext cx="11064240" cy="80467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68496"/>
            <a:ext cx="64008" cy="804672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59935"/>
            <a:ext cx="10652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E8A020"/>
                </a:solidFill>
                <a:latin typeface="Calibri"/>
              </a:rPr>
              <a:t>Honest evaluation   </a:t>
            </a:r>
            <a:r>
              <a:rPr sz="1450" b="0">
                <a:solidFill>
                  <a:srgbClr val="A0B8C4"/>
                </a:solidFill>
                <a:latin typeface="Calibri"/>
              </a:rPr>
              <a:t>African spatial-CV ~0.13 vs random &gt;0.90 — collapse is the norm, not the exception.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01183"/>
            <a:ext cx="11064240" cy="80467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01183"/>
            <a:ext cx="64008" cy="804672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992623"/>
            <a:ext cx="10652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46C98A"/>
                </a:solidFill>
                <a:latin typeface="Calibri"/>
              </a:rPr>
              <a:t>Land-use regression   </a:t>
            </a:r>
            <a:r>
              <a:rPr sz="1450" b="0">
                <a:solidFill>
                  <a:srgbClr val="A0B8C4"/>
                </a:solidFill>
                <a:latin typeface="Calibri"/>
              </a:rPr>
              <a:t>Road density / distance-to-road / terrain transfer to new locations.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Together: cheap data can work — but only if evaluated honestly and given place-structure.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03  ·  THE 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From “Which Lever?” to “Categorize-then-Predict”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49240" cy="137160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64008" cy="1371600"/>
          </a:xfrm>
          <a:prstGeom prst="rect">
            <a:avLst/>
          </a:prstGeom>
          <a:solidFill>
            <a:srgbClr val="7A9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94560"/>
            <a:ext cx="4937759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7A9BAD"/>
                </a:solidFill>
                <a:latin typeface="Calibri"/>
              </a:rPr>
              <a:t>Old framing (3rd cap)   </a:t>
            </a:r>
            <a:r>
              <a:rPr sz="1400" b="0">
                <a:solidFill>
                  <a:srgbClr val="A0B8C4"/>
                </a:solidFill>
                <a:latin typeface="Calibri"/>
              </a:rPr>
              <a:t>“Which cheap data lever helps estimate PM2.5?” → a finding (weather helps, LST is inert), but the tool collapses at a sensor-less place.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103120"/>
            <a:ext cx="5440680" cy="137160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2103120"/>
            <a:ext cx="64008" cy="137160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194560"/>
            <a:ext cx="50292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4A38B"/>
                </a:solidFill>
                <a:latin typeface="Calibri"/>
              </a:rPr>
              <a:t>New framing (4th cap)   </a:t>
            </a:r>
            <a:r>
              <a:rPr sz="1400" b="0">
                <a:solidFill>
                  <a:srgbClr val="A0B8C4"/>
                </a:solidFill>
                <a:latin typeface="Calibri"/>
              </a:rPr>
              <a:t>A clinic, not one doctor: a triage nurse sorts each place into a kind, then the specialist for that kind predicts.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F0EE"/>
                </a:solidFill>
                <a:latin typeface="Calibri"/>
              </a:rPr>
              <a:t>Two metrics — kept separate end to end: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5349240" cy="128016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64008" cy="1280160"/>
          </a:xfrm>
          <a:prstGeom prst="rect">
            <a:avLst/>
          </a:prstGeom>
          <a:solidFill>
            <a:srgbClr val="5BA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206240"/>
            <a:ext cx="4937759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BA4CF"/>
                </a:solidFill>
                <a:latin typeface="Calibri"/>
              </a:rPr>
              <a:t>NOW · nowcast   </a:t>
            </a:r>
            <a:r>
              <a:rPr sz="1400" b="0">
                <a:solidFill>
                  <a:srgbClr val="A0B8C4"/>
                </a:solidFill>
                <a:latin typeface="Calibri"/>
              </a:rPr>
              <a:t>PM2.5 today at a sensor-less place. Honest test = leave-sites-out. Bar = the blind pooled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114800"/>
            <a:ext cx="5440680" cy="128016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114800"/>
            <a:ext cx="64008" cy="128016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4206240"/>
            <a:ext cx="5029200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A020"/>
                </a:solidFill>
                <a:latin typeface="Calibri"/>
              </a:rPr>
              <a:t>FUTURE · forecast   </a:t>
            </a:r>
            <a:r>
              <a:rPr sz="1400" b="0">
                <a:solidFill>
                  <a:srgbClr val="A0B8C4"/>
                </a:solidFill>
                <a:latin typeface="Calibri"/>
              </a:rPr>
              <a:t>PM2.5 +1…7 days at a known place. Honest test = chronological. Bar = persistence (“same as yesterday”).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Different question, different honest test, different bar, different best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04  · 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39 Sensors · One Merged Table · Free Inputs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14A38B"/>
                </a:solidFill>
                <a:latin typeface="Calibr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1576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AirQo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14884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5BA4CF"/>
                </a:solidFill>
                <a:latin typeface="Calibri"/>
              </a:rPr>
              <a:t>13,944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71576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site-days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4884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8A020"/>
                </a:solidFill>
                <a:latin typeface="Calibri"/>
              </a:rPr>
              <a:t>~84%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1576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daily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39" y="214884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46C98A"/>
                </a:solidFill>
                <a:latin typeface="Calibri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39" y="271576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µg/m³ mean PM2.5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11064240" cy="96012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64008" cy="96012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794759"/>
            <a:ext cx="1065276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Predictors (free, available anywhere)   </a:t>
            </a:r>
            <a:r>
              <a:rPr sz="1350" b="0">
                <a:solidFill>
                  <a:srgbClr val="A0B8C4"/>
                </a:solidFill>
                <a:latin typeface="Calibri"/>
              </a:rPr>
              <a:t>ERA5 weather (temp · dew-point · wind · pressure · rain) + location + calendar. LST carried but proven inert.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64008" cy="914400"/>
          </a:xfrm>
          <a:prstGeom prst="rect">
            <a:avLst/>
          </a:prstGeom>
          <a:solidFill>
            <a:srgbClr val="EC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846320"/>
            <a:ext cx="106527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C5A4C"/>
                </a:solidFill>
                <a:latin typeface="Calibri"/>
              </a:rPr>
              <a:t>Banned as predictors   </a:t>
            </a:r>
            <a:r>
              <a:rPr sz="1350" b="0">
                <a:solidFill>
                  <a:srgbClr val="A0B8C4"/>
                </a:solidFill>
                <a:latin typeface="Calibri"/>
              </a:rPr>
              <a:t>pm10 (same instrument as the target, corr ≈ 0.9) and n_obs (a by-product of the daily mean) — neither exists at a sensor-less place, so using them would manufacture a fake win.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Honest features first: nothing a planner could not actually obtain at a new address.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05  ·  THE COLLAPSE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Looks Great — Until You Point It Somewhere 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7A9BAD"/>
                </a:solidFill>
                <a:latin typeface="Calibri"/>
              </a:rPr>
              <a:t>0.81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leaky random-split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488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C5A4C"/>
                </a:solidFill>
                <a:latin typeface="Calibri"/>
              </a:rPr>
              <a:t>0.31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71576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honest new-site 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488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C5A4C"/>
                </a:solidFill>
                <a:latin typeface="Calibri"/>
              </a:rPr>
              <a:t>~0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1576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one new-site fold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64240" cy="123444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64008" cy="12344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794759"/>
            <a:ext cx="1065276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E8A020"/>
                </a:solidFill>
                <a:latin typeface="Calibri"/>
              </a:rPr>
              <a:t>Why it matters   </a:t>
            </a:r>
            <a:r>
              <a:rPr sz="1450" b="0">
                <a:solidFill>
                  <a:srgbClr val="A0B8C4"/>
                </a:solidFill>
                <a:latin typeface="Calibri"/>
              </a:rPr>
              <a:t>The headline R²≈0.81 is a leaky random split — it tests on the same sensors it trained on (gap-filling). Graded honestly (hide whole sensors, or forecast the real future) it collapses, and a “same-as-yesterday” guess beats it out-of-time. A planner needs PM2.5 where there is no sensor.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The whole 4th cap exists to stop this collapse — without faking the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06  ·  CATEGORIZE (CP-A)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39 Sensors → 3 Behavioural Kinds of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1064240" cy="73152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64008" cy="731520"/>
          </a:xfrm>
          <a:prstGeom prst="rect">
            <a:avLst/>
          </a:prstGeom>
          <a:solidFill>
            <a:srgbClr val="5BA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5BA4CF"/>
                </a:solidFill>
                <a:latin typeface="Calibr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148840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B8C4"/>
                </a:solidFill>
                <a:latin typeface="Calibri"/>
              </a:rPr>
              <a:t>low-pollution / well-ventilated — the city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14884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5BA4CF"/>
                </a:solidFill>
                <a:latin typeface="Calibri"/>
              </a:rPr>
              <a:t>PM2.5 ≈ 31.7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11064240" cy="73152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64008" cy="73152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8A020"/>
                </a:solidFill>
                <a:latin typeface="Calibri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17520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B8C4"/>
                </a:solidFill>
                <a:latin typeface="Calibri"/>
              </a:rPr>
              <a:t>high-pollution / well-ventilated — hotter spots, still windy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01752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E8A020"/>
                </a:solidFill>
                <a:latin typeface="Calibri"/>
              </a:rPr>
              <a:t>PM2.5 ≈ 47.5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11064240" cy="73152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64008" cy="73152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4A38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86200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A0B8C4"/>
                </a:solidFill>
                <a:latin typeface="Calibri"/>
              </a:rPr>
              <a:t>moderate / stagnant — low wind + humid, a robust micro-regime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88620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50" b="1">
                <a:solidFill>
                  <a:srgbClr val="14A38B"/>
                </a:solidFill>
                <a:latin typeface="Calibri"/>
              </a:rPr>
              <a:t>PM2.5 ≈ 46.5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64008" cy="868680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937759"/>
            <a:ext cx="106527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6C98A"/>
                </a:solidFill>
                <a:latin typeface="Calibri"/>
              </a:rPr>
              <a:t>Robust + portable   </a:t>
            </a:r>
            <a:r>
              <a:rPr sz="1300" b="0">
                <a:solidFill>
                  <a:srgbClr val="A0B8C4"/>
                </a:solidFill>
                <a:latin typeface="Calibri"/>
              </a:rPr>
              <a:t>Same 3 stagnant sites at every k; k-means agrees with Ward. Categories are spatially intermixed — they capture behaviour, not geography. A new site is categorized from its signature, snapped to the nearest centroid.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Kampala is homogeneous in level; the structure is low-vs-high pollution + 3 stagnant outliers.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07  ·  THE HONEST LADDER (CP-B)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Knowing the Category Beats the Blind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F0EE"/>
                </a:solidFill>
                <a:latin typeface="Calibri"/>
              </a:rPr>
              <a:t>New-site R² (leave-sites-out) — climb only if the rung below holds: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120640" cy="566928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64008" cy="566928"/>
          </a:xfrm>
          <a:prstGeom prst="rect">
            <a:avLst/>
          </a:prstGeom>
          <a:solidFill>
            <a:srgbClr val="EC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65759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F0EE"/>
                </a:solidFill>
                <a:latin typeface="Calibri"/>
              </a:rPr>
              <a:t>blind (no category)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468880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>
                <a:solidFill>
                  <a:srgbClr val="EC5A4C"/>
                </a:solidFill>
                <a:latin typeface="Calibri"/>
              </a:rPr>
              <a:t>0.316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82112"/>
            <a:ext cx="8595360" cy="566928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82112"/>
            <a:ext cx="64008" cy="5669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2"/>
            <a:ext cx="7132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F0EE"/>
                </a:solidFill>
                <a:latin typeface="Calibri"/>
              </a:rPr>
              <a:t>+ category · k=4 (tuned)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82112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>
                <a:solidFill>
                  <a:srgbClr val="14A38B"/>
                </a:solidFill>
                <a:latin typeface="Calibri"/>
              </a:rPr>
              <a:t>0.558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95344"/>
            <a:ext cx="8869680" cy="566928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95344"/>
            <a:ext cx="64008" cy="566928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95344"/>
            <a:ext cx="7406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F0EE"/>
                </a:solidFill>
                <a:latin typeface="Calibri"/>
              </a:rPr>
              <a:t>+ category + geodata · k=4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3895344"/>
            <a:ext cx="1280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700" b="1">
                <a:solidFill>
                  <a:srgbClr val="46C98A"/>
                </a:solidFill>
                <a:latin typeface="Calibri"/>
              </a:rPr>
              <a:t>0.564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09160"/>
            <a:ext cx="5349240" cy="100584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709160"/>
            <a:ext cx="64008" cy="100584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800600"/>
            <a:ext cx="493775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A38B"/>
                </a:solidFill>
                <a:latin typeface="Calibri"/>
              </a:rPr>
              <a:t>Significant   </a:t>
            </a:r>
            <a:r>
              <a:rPr sz="1300" b="0">
                <a:solidFill>
                  <a:srgbClr val="A0B8C4"/>
                </a:solidFill>
                <a:latin typeface="Calibri"/>
              </a:rPr>
              <a:t>Tuning categories to k=4 (by honest R², not silhouette) lifts the deploy-only nowcast 0.48→0.56. Paired bootstrap +1.07 µg/m³, CI [+0.33, +1.90].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709160"/>
            <a:ext cx="5440680" cy="100584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709160"/>
            <a:ext cx="64008" cy="100584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800600"/>
            <a:ext cx="5029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020"/>
                </a:solidFill>
                <a:latin typeface="Calibri"/>
              </a:rPr>
              <a:t>Soft routing wins   </a:t>
            </a:r>
            <a:r>
              <a:rPr sz="1300" b="0">
                <a:solidFill>
                  <a:srgbClr val="A0B8C4"/>
                </a:solidFill>
                <a:latin typeface="Calibri"/>
              </a:rPr>
              <a:t>Category-as-a-feature tolerates a wrong category; mixture-of-experts hard-routes and collapses (0.50→0.30) under realistic cold-start.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Ceiling: leave a whole category out → negative. Interpolates among known kinds, can’t extrapolate.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08  ·  NOW BAKE-OFF (CP-D)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The Model Is Not 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F0EE"/>
                </a:solidFill>
                <a:latin typeface="Calibri"/>
              </a:rPr>
              <a:t>New-site R² · same +category features · four learners: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46C98A"/>
                </a:solidFill>
                <a:latin typeface="Calibri"/>
              </a:rPr>
              <a:t>0.529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580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RandomForest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46888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14A38B"/>
                </a:solidFill>
                <a:latin typeface="Calibri"/>
              </a:rPr>
              <a:t>0.482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03580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5BA4CF"/>
                </a:solidFill>
                <a:latin typeface="Calibri"/>
              </a:rPr>
              <a:t>0.469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03580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39" y="246888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8A020"/>
                </a:solidFill>
                <a:latin typeface="Calibri"/>
              </a:rPr>
              <a:t>0.465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39" y="3035808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CatBoost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5349240" cy="96012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64008" cy="960120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023359"/>
            <a:ext cx="4937759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6C98A"/>
                </a:solidFill>
                <a:latin typeface="Calibri"/>
              </a:rPr>
              <a:t>Best: RandomForest   </a:t>
            </a:r>
            <a:r>
              <a:rPr sz="1300" b="0">
                <a:solidFill>
                  <a:srgbClr val="A0B8C4"/>
                </a:solidFill>
                <a:latin typeface="Calibri"/>
              </a:rPr>
              <a:t>Lowest leaky score yet highest new-site score — it overfits least, transfers best. But all 4 cluster (0.47–0.53).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931920"/>
            <a:ext cx="5440680" cy="96012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64008" cy="960120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023359"/>
            <a:ext cx="502920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6C98A"/>
                </a:solidFill>
                <a:latin typeface="Calibri"/>
              </a:rPr>
              <a:t>Conformal — fixed   </a:t>
            </a:r>
            <a:r>
              <a:rPr sz="1300" b="0">
                <a:solidFill>
                  <a:srgbClr val="A0B8C4"/>
                </a:solidFill>
                <a:latin typeface="Calibri"/>
              </a:rPr>
              <a:t>Calibrating on held-out SITES (group conformal) lifts new-site 90%-interval coverage 74.8% → 85.8%. Bands widen honestly.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The category feature (+0.16) moved R² far more than any model swap. Features &gt; learner.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09  ·  BREAK THE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Free Map Data Nowcasts a Sensor-less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7A9BAD"/>
                </a:solidFill>
                <a:latin typeface="Calibri"/>
              </a:rPr>
              <a:t>0.32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blind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488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5BA4CF"/>
                </a:solidFill>
                <a:latin typeface="Calibri"/>
              </a:rPr>
              <a:t>0.42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71576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+ geodata · ZERO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1488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46C98A"/>
                </a:solidFill>
                <a:latin typeface="Calibri"/>
              </a:rPr>
              <a:t>0.55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1576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+ category + geodata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03320"/>
            <a:ext cx="11064240" cy="105156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64008" cy="1051560"/>
          </a:xfrm>
          <a:prstGeom prst="rect">
            <a:avLst/>
          </a:prstGeom>
          <a:solidFill>
            <a:srgbClr val="5BA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794759"/>
            <a:ext cx="1065276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5BA4CF"/>
                </a:solidFill>
                <a:latin typeface="Calibri"/>
              </a:rPr>
              <a:t>Land-use regression, sourced free   </a:t>
            </a:r>
            <a:r>
              <a:rPr sz="1450" b="0">
                <a:solidFill>
                  <a:srgbClr val="A0B8C4"/>
                </a:solidFill>
                <a:latin typeface="Calibri"/>
              </a:rPr>
              <a:t>OSM road density + distance-to-nearest-major-road (Overpass, 43,870 ways) + SRTM elevation. Static, need ZERO pollution observations. dist-to-major-road is the clearest signal (closer → higher PM2.5).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64008" cy="86868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937759"/>
            <a:ext cx="106527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020"/>
                </a:solidFill>
                <a:latin typeface="Calibri"/>
              </a:rPr>
              <a:t>A complement, not a substitute   </a:t>
            </a:r>
            <a:r>
              <a:rPr sz="1300" b="0">
                <a:solidFill>
                  <a:srgbClr val="A0B8C4"/>
                </a:solidFill>
                <a:latin typeface="Calibri"/>
              </a:rPr>
              <a:t>Geodata can’t name the category (54% &lt; 62% baseline) — it adds independent signal. Combined is best, and most stable (±0.046).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The bridge from “a finding” to “a tool a planner can point at any address.”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10  ·  FORECAST (CP-D)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A Real Forecaster Holds R²≈0.43 a Week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F0EE"/>
                </a:solidFill>
                <a:latin typeface="Calibri"/>
              </a:rPr>
              <a:t>R² by horizon (chronological, out-of-time):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A9BAD"/>
                </a:solidFill>
                <a:latin typeface="Calibri"/>
              </a:rPr>
              <a:t>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688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A9BAD"/>
                </a:solidFill>
                <a:latin typeface="Calibri"/>
              </a:rPr>
              <a:t>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4688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A9BAD"/>
                </a:solidFill>
                <a:latin typeface="Calibri"/>
              </a:rPr>
              <a:t>GBM-on-lags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468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A9BAD"/>
                </a:solidFill>
                <a:latin typeface="Calibri"/>
              </a:rPr>
              <a:t>LSTM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10789920" cy="493776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2377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0EE"/>
                </a:solidFill>
                <a:latin typeface="Calibri"/>
              </a:rPr>
              <a:t>+1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8346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C5A4C"/>
                </a:solidFill>
                <a:latin typeface="Calibri"/>
              </a:rPr>
              <a:t>0.34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926080"/>
            <a:ext cx="28346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A020"/>
                </a:solidFill>
                <a:latin typeface="Calibri"/>
              </a:rPr>
              <a:t>0.43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926080"/>
            <a:ext cx="2743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6C98A"/>
                </a:solidFill>
                <a:latin typeface="Calibri"/>
              </a:rPr>
              <a:t>0.51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93008"/>
            <a:ext cx="10789920" cy="493776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93008"/>
            <a:ext cx="2377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0EE"/>
                </a:solidFill>
                <a:latin typeface="Calibri"/>
              </a:rPr>
              <a:t>+3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93008"/>
            <a:ext cx="28346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C5A4C"/>
                </a:solidFill>
                <a:latin typeface="Calibri"/>
              </a:rPr>
              <a:t>0.11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493008"/>
            <a:ext cx="28346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A020"/>
                </a:solidFill>
                <a:latin typeface="Calibri"/>
              </a:rPr>
              <a:t>0.37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493008"/>
            <a:ext cx="2743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6C98A"/>
                </a:solidFill>
                <a:latin typeface="Calibri"/>
              </a:rPr>
              <a:t>0.48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59936"/>
            <a:ext cx="10789920" cy="493776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59936"/>
            <a:ext cx="23774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0EE"/>
                </a:solidFill>
                <a:latin typeface="Calibri"/>
              </a:rPr>
              <a:t>+7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059936"/>
            <a:ext cx="28346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C5A4C"/>
                </a:solidFill>
                <a:latin typeface="Calibri"/>
              </a:rPr>
              <a:t>0.02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059936"/>
            <a:ext cx="28346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8A020"/>
                </a:solidFill>
                <a:latin typeface="Calibri"/>
              </a:rPr>
              <a:t>0.33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059936"/>
            <a:ext cx="2743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46C98A"/>
                </a:solidFill>
                <a:latin typeface="Calibri"/>
              </a:rPr>
              <a:t>0.43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11064240" cy="86868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92040"/>
            <a:ext cx="64008" cy="86868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983479"/>
            <a:ext cx="106527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020"/>
                </a:solidFill>
                <a:latin typeface="Calibri"/>
              </a:rPr>
              <a:t>LSTM earns its weight   </a:t>
            </a:r>
            <a:r>
              <a:rPr sz="1300" b="0">
                <a:solidFill>
                  <a:srgbClr val="A0B8C4"/>
                </a:solidFill>
                <a:latin typeface="Calibri"/>
              </a:rPr>
              <a:t>Global LSTM + category embedding beats the GBMs at every horizon (+0.04…+0.12), lead widening with horizon. All beat persistence. Correction: forecasting does NOT decay to ~0 by +7d.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Persistence-beats-model was true only for the nowcast model — not a purpose-built forecaster.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11  ·  SAFETY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From a Number to a Safety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F0EE"/>
                </a:solidFill>
                <a:latin typeface="Calibri"/>
              </a:rPr>
              <a:t>EPA PM2.5 safety bands — what a city official actually needs: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5BA4CF"/>
                </a:solidFill>
                <a:latin typeface="Calibri"/>
              </a:rPr>
              <a:t>Elevated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0720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≤ 35.4 µg/m³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402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8A020"/>
                </a:solidFill>
                <a:latin typeface="Calibri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0720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35.5 – 55.4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402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EC5A4C"/>
                </a:solidFill>
                <a:latin typeface="Calibri"/>
              </a:rPr>
              <a:t>Dangerous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07208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0B8C4"/>
                </a:solidFill>
                <a:latin typeface="Calibri"/>
              </a:rPr>
              <a:t>&gt; 55.4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F0EE"/>
                </a:solidFill>
                <a:latin typeface="Calibri"/>
              </a:rPr>
              <a:t>Graded by the BAND it lands in — same honest tests: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5349240" cy="96012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64008" cy="960120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69079"/>
            <a:ext cx="4937759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6C98A"/>
                </a:solidFill>
                <a:latin typeface="Calibri"/>
              </a:rPr>
              <a:t>New-site (no sensor)   </a:t>
            </a:r>
            <a:r>
              <a:rPr sz="1300" b="0">
                <a:solidFill>
                  <a:srgbClr val="A0B8C4"/>
                </a:solidFill>
                <a:latin typeface="Calibri"/>
              </a:rPr>
              <a:t>Exact tier 68%  ·  within one tier 98.5%  ·  vs 52% majority baseline. A 2-tier error (a Dangerous area called safe) for only 3.6% of days.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977639"/>
            <a:ext cx="5440680" cy="96012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977639"/>
            <a:ext cx="64008" cy="96012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069079"/>
            <a:ext cx="502920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A38B"/>
                </a:solidFill>
                <a:latin typeface="Calibri"/>
              </a:rPr>
              <a:t>Forecast +1→+7d   </a:t>
            </a:r>
            <a:r>
              <a:rPr sz="1300" b="0">
                <a:solidFill>
                  <a:srgbClr val="A0B8C4"/>
                </a:solidFill>
                <a:latin typeface="Calibri"/>
              </a:rPr>
              <a:t>Exact tier 70% → 68%  ·  within one tier ~98%  ·  beats the persistence-band baseline at every horizon.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R² punished 47-vs-52 misses; in safety tiers those are the SAME band — so the tool is deployable.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12  ·  DANGER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Catching the Days That Matter — a Planner's Dial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8F0EE"/>
                </a:solidFill>
                <a:latin typeface="Calibri"/>
              </a:rPr>
              <a:t>Lower the Dangerous alert cutoff → catch more dangerous days, at a chosen false-alarm cost (honest new-site):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9BAD"/>
                </a:solidFill>
                <a:latin typeface="Calibri"/>
              </a:rPr>
              <a:t>alert if predicted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331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9BAD"/>
                </a:solidFill>
                <a:latin typeface="Calibri"/>
              </a:rPr>
              <a:t>dangerous-day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331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7A9BAD"/>
                </a:solidFill>
                <a:latin typeface="Calibri"/>
              </a:rPr>
              <a:t>false-alarm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1247120" cy="43891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3931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0EE"/>
                </a:solidFill>
                <a:latin typeface="Calibri"/>
              </a:rPr>
              <a:t>55.4 (strict EPA)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78892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6C98A"/>
                </a:solidFill>
                <a:latin typeface="Calibri"/>
              </a:rPr>
              <a:t>0.51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78892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A020"/>
                </a:solidFill>
                <a:latin typeface="Calibri"/>
              </a:rPr>
              <a:t>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39"/>
            <a:ext cx="11247120" cy="43891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39"/>
            <a:ext cx="3931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0EE"/>
                </a:solidFill>
                <a:latin typeface="Calibri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291839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6C98A"/>
                </a:solidFill>
                <a:latin typeface="Calibri"/>
              </a:rPr>
              <a:t>0.67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91839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A020"/>
                </a:solidFill>
                <a:latin typeface="Calibri"/>
              </a:rPr>
              <a:t>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11247120" cy="43891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3931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0EE"/>
                </a:solidFill>
                <a:latin typeface="Calibri"/>
              </a:rPr>
              <a:t>45   (suggested)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79476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6C98A"/>
                </a:solidFill>
                <a:latin typeface="Calibri"/>
              </a:rPr>
              <a:t>0.80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79476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A020"/>
                </a:solidFill>
                <a:latin typeface="Calibri"/>
              </a:rPr>
              <a:t>17%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11247120" cy="43891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3931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F0EE"/>
                </a:solidFill>
                <a:latin typeface="Calibri"/>
              </a:rP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29768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6C98A"/>
                </a:solidFill>
                <a:latin typeface="Calibri"/>
              </a:rPr>
              <a:t>0.91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297680"/>
            <a:ext cx="3657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8A020"/>
                </a:solidFill>
                <a:latin typeface="Calibri"/>
              </a:rPr>
              <a:t>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5486400" cy="89611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92040"/>
            <a:ext cx="64008" cy="896112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983479"/>
            <a:ext cx="5074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A38B"/>
                </a:solidFill>
                <a:latin typeface="Calibri"/>
              </a:rPr>
              <a:t>Why it works   </a:t>
            </a:r>
            <a:r>
              <a:rPr sz="1250" b="0">
                <a:solidFill>
                  <a:srgbClr val="A0B8C4"/>
                </a:solidFill>
                <a:latin typeface="Calibri"/>
              </a:rPr>
              <a:t>Dangerous days are a humid, stagnant weather regime (humidity + dew-point separate them most) — the model keys on weather to flag them.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892040"/>
            <a:ext cx="5440680" cy="896112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892040"/>
            <a:ext cx="64008" cy="896112"/>
          </a:xfrm>
          <a:prstGeom prst="rect">
            <a:avLst/>
          </a:prstGeom>
          <a:solidFill>
            <a:srgbClr val="EC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983479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5A4C"/>
                </a:solidFill>
                <a:latin typeface="Calibri"/>
              </a:rPr>
              <a:t>Honest negative   </a:t>
            </a:r>
            <a:r>
              <a:rPr sz="1250" b="0">
                <a:solidFill>
                  <a:srgbClr val="A0B8C4"/>
                </a:solidFill>
                <a:latin typeface="Calibri"/>
              </a:rPr>
              <a:t>A dedicated class-weighted detector did NOT beat simply lowering the regressor's threshold. The simpler lever wins.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The planner owns the operating point: 80% of dangerous days caught at a 45 µg/m³ alert cutoff.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13  ·  THE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The Reframe Works — With Honest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529584" cy="201168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64008" cy="2011680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94560"/>
            <a:ext cx="3118103" cy="1847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46C98A"/>
                </a:solidFill>
                <a:latin typeface="Calibri"/>
              </a:rPr>
              <a:t>What worked   </a:t>
            </a:r>
            <a:r>
              <a:rPr sz="1350" b="0">
                <a:solidFill>
                  <a:srgbClr val="A0B8C4"/>
                </a:solidFill>
                <a:latin typeface="Calibri"/>
              </a:rPr>
              <a:t>Category lifts new-site R² 0.32→0.48 (significant). Free geodata: 0.42 zero-deploy, 0.55 combined. LSTM holds 0.43 at +7d.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2103120"/>
            <a:ext cx="3529584" cy="201168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2103120"/>
            <a:ext cx="64008" cy="2011680"/>
          </a:xfrm>
          <a:prstGeom prst="rect">
            <a:avLst/>
          </a:prstGeom>
          <a:solidFill>
            <a:srgbClr val="EC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194560"/>
            <a:ext cx="3118103" cy="1847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C5A4C"/>
                </a:solidFill>
                <a:latin typeface="Calibri"/>
              </a:rPr>
              <a:t>What didn’t   </a:t>
            </a:r>
            <a:r>
              <a:rPr sz="1350" b="0">
                <a:solidFill>
                  <a:srgbClr val="A0B8C4"/>
                </a:solidFill>
                <a:latin typeface="Calibri"/>
              </a:rPr>
              <a:t>Mixture-of-experts collapses under cold-start. Category×month prior hurts under noise. Geodata can’t name the category.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3568" y="2103120"/>
            <a:ext cx="3639312" cy="201168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73568" y="2103120"/>
            <a:ext cx="64008" cy="201168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227832" cy="1847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E8A020"/>
                </a:solidFill>
                <a:latin typeface="Calibri"/>
              </a:rPr>
              <a:t>Bounded   </a:t>
            </a:r>
            <a:r>
              <a:rPr sz="1350" b="0">
                <a:solidFill>
                  <a:srgbClr val="A0B8C4"/>
                </a:solidFill>
                <a:latin typeface="Calibri"/>
              </a:rPr>
              <a:t>Leave-a-whole-category-out goes negative — can interpolate among known kinds, can’t extrapolate to an unseen regime.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64008" cy="128016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389120"/>
            <a:ext cx="10652760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A38B"/>
                </a:solidFill>
                <a:latin typeface="Calibri"/>
              </a:rPr>
              <a:t>Two prior claims corrected (verified)   </a:t>
            </a:r>
            <a:r>
              <a:rPr sz="1450" b="0">
                <a:solidFill>
                  <a:srgbClr val="A0B8C4"/>
                </a:solidFill>
                <a:latin typeface="Calibri"/>
              </a:rPr>
              <a:t>1) Forecasting does not decay to ~0 by +7d — an artefact of using a nowcast model to forecast. 2) “Categorization can’t rescue a homogeneous city” is too pessimistic — it lifts new-site R² by +0.16; true only for unseen regimes.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Honesty over headlines — every win holds out-of-site and out-of-time, or it isn’t reported.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46520"/>
            <a:ext cx="121916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7A9BAD"/>
                </a:solidFill>
                <a:latin typeface="Calibri"/>
              </a:rPr>
              <a:t>GUC Masters   ·   Smart City Capstone   · 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A38B"/>
                </a:solidFill>
                <a:latin typeface="Calibri"/>
              </a:rPr>
              <a:t>14  ·  CONTRIBUTION &amp;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Calibri"/>
              </a:rPr>
              <a:t>A Cheap, Honest PM2.5 Safety Tool for a Low-Resource 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1064240" cy="114300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64008" cy="114300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94560"/>
            <a:ext cx="10652760" cy="978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4A38B"/>
                </a:solidFill>
                <a:latin typeface="Calibri"/>
              </a:rPr>
              <a:t>The contribution   </a:t>
            </a:r>
            <a:r>
              <a:rPr sz="1450" b="0">
                <a:solidFill>
                  <a:srgbClr val="A0B8C4"/>
                </a:solidFill>
                <a:latin typeface="Calibri"/>
              </a:rPr>
              <a:t>Free data + behavioural categories + land-use geodata turn a collapsing model into a deployable safety-triage tool: classify a never-instrumented area's safety tier (68% exact / 98.5% within one tier) and forecast a week ahead — evaluated the way a planner will actually use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440680" cy="91440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429000"/>
            <a:ext cx="64008" cy="914400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52044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6C98A"/>
                </a:solidFill>
                <a:latin typeface="Calibri"/>
              </a:rPr>
              <a:t>Done · safety tiers   </a:t>
            </a:r>
            <a:r>
              <a:rPr sz="1300" b="0">
                <a:solidFill>
                  <a:srgbClr val="A0B8C4"/>
                </a:solidFill>
                <a:latin typeface="Calibri"/>
              </a:rPr>
              <a:t>band evaluation + planner-tunable danger alerting (80% recall)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3429000"/>
            <a:ext cx="5440680" cy="91440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3429000"/>
            <a:ext cx="64008" cy="914400"/>
          </a:xfrm>
          <a:prstGeom prst="rect">
            <a:avLst/>
          </a:prstGeom>
          <a:solidFill>
            <a:srgbClr val="46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52044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6C98A"/>
                </a:solidFill>
                <a:latin typeface="Calibri"/>
              </a:rPr>
              <a:t>Done · sharper model   </a:t>
            </a:r>
            <a:r>
              <a:rPr sz="1300" b="0">
                <a:solidFill>
                  <a:srgbClr val="A0B8C4"/>
                </a:solidFill>
                <a:latin typeface="Calibri"/>
              </a:rPr>
              <a:t>k=4 categories (0.56) + group conformal (86% coverage)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5440680" cy="91440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64008" cy="91440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7200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4A38B"/>
                </a:solidFill>
                <a:latin typeface="Calibri"/>
              </a:rPr>
              <a:t>Next · more places   </a:t>
            </a:r>
            <a:r>
              <a:rPr sz="1300" b="0">
                <a:solidFill>
                  <a:srgbClr val="A0B8C4"/>
                </a:solidFill>
                <a:latin typeface="Calibri"/>
              </a:rPr>
              <a:t>39 sites is small — more sensors/categories sharpen routing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4480560"/>
            <a:ext cx="5440680" cy="914400"/>
          </a:xfrm>
          <a:prstGeom prst="rect">
            <a:avLst/>
          </a:prstGeom>
          <a:solidFill>
            <a:srgbClr val="122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79" y="4480560"/>
            <a:ext cx="64008" cy="91440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572000"/>
            <a:ext cx="50292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E8A020"/>
                </a:solidFill>
                <a:latin typeface="Calibri"/>
              </a:rPr>
              <a:t>Next · push recall   </a:t>
            </a:r>
            <a:r>
              <a:rPr sz="1300" b="0">
                <a:solidFill>
                  <a:srgbClr val="A0B8C4"/>
                </a:solidFill>
                <a:latin typeface="Calibri"/>
              </a:rPr>
              <a:t>cost curves to 90% danger recall · tighter conformal to 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4A38B"/>
                </a:solidFill>
                <a:latin typeface="Calibri"/>
              </a:rPr>
              <a:t>→  </a:t>
            </a:r>
            <a:r>
              <a:rPr sz="1350" b="0">
                <a:solidFill>
                  <a:srgbClr val="7A9BAD"/>
                </a:solidFill>
                <a:latin typeface="Calibri"/>
              </a:rPr>
              <a:t>Reproducible: fixed seeds · honest splits · scripts + result CSVs in 4th-cap-handover/analysis/.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
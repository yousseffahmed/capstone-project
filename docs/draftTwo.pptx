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6236d9eb94e6d" /><Relationship Type="http://schemas.openxmlformats.org/officeDocument/2006/relationships/extended-properties" Target="/docProps/app.xml" Id="R2bdc0536c5864663" /><Relationship Type="http://schemas.openxmlformats.org/officeDocument/2006/relationships/officeDocument" Target="/ppt/presentation.xml" Id="R2ba5c74e266c40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2d93d079164b89"/>
  </p:sldMasterIdLst>
  <p:notesMasterIdLst>
    <p:notesMasterId xmlns:r="http://schemas.openxmlformats.org/officeDocument/2006/relationships" r:id="Rd7407f85929140f9"/>
  </p:notesMasterIdLst>
  <p:sldIdLst>
    <p:sldId xmlns:r="http://schemas.openxmlformats.org/officeDocument/2006/relationships" id="256" r:id="Rdc4308c9d39240fa"/>
    <p:sldId xmlns:r="http://schemas.openxmlformats.org/officeDocument/2006/relationships" id="257" r:id="Rc8497ca04dc248ae"/>
    <p:sldId xmlns:r="http://schemas.openxmlformats.org/officeDocument/2006/relationships" id="258" r:id="Rff6b4c5cb6804a84"/>
    <p:sldId xmlns:r="http://schemas.openxmlformats.org/officeDocument/2006/relationships" id="259" r:id="R58e0ec71aacd42cd"/>
    <p:sldId xmlns:r="http://schemas.openxmlformats.org/officeDocument/2006/relationships" id="260" r:id="R8e5c1d06c2eb492a"/>
    <p:sldId xmlns:r="http://schemas.openxmlformats.org/officeDocument/2006/relationships" id="261" r:id="R32aff6c923c741c7"/>
    <p:sldId xmlns:r="http://schemas.openxmlformats.org/officeDocument/2006/relationships" id="262" r:id="Rd42f12f7a2f343e7"/>
    <p:sldId xmlns:r="http://schemas.openxmlformats.org/officeDocument/2006/relationships" id="263" r:id="R26b8f9050df54761"/>
    <p:sldId xmlns:r="http://schemas.openxmlformats.org/officeDocument/2006/relationships" id="264" r:id="R29ac7b1f530f4675"/>
    <p:sldId xmlns:r="http://schemas.openxmlformats.org/officeDocument/2006/relationships" id="265" r:id="R88a60f4e624d496f"/>
    <p:sldId xmlns:r="http://schemas.openxmlformats.org/officeDocument/2006/relationships" id="266" r:id="R52dbf6a348204c1f"/>
    <p:sldId xmlns:r="http://schemas.openxmlformats.org/officeDocument/2006/relationships" id="267" r:id="R9004880297e441de"/>
    <p:sldId xmlns:r="http://schemas.openxmlformats.org/officeDocument/2006/relationships" id="268" r:id="Rd1b39e0037e646a4"/>
    <p:sldId xmlns:r="http://schemas.openxmlformats.org/officeDocument/2006/relationships" id="269" r:id="R2f04a83356874fb1"/>
    <p:sldId xmlns:r="http://schemas.openxmlformats.org/officeDocument/2006/relationships" id="270" r:id="R0ba44a4c4c7644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d93d079164b89" /><Relationship Type="http://schemas.openxmlformats.org/officeDocument/2006/relationships/theme" Target="/ppt/theme/theme1.xml" Id="R492340961c494893" /><Relationship Type="http://schemas.openxmlformats.org/officeDocument/2006/relationships/notesMaster" Target="/ppt/notesMasters/notesMaster1.xml" Id="Rd7407f85929140f9" /><Relationship Type="http://schemas.openxmlformats.org/officeDocument/2006/relationships/presProps" Target="/ppt/presProps.xml" Id="R954956e7a1eb43f9" /><Relationship Type="http://schemas.openxmlformats.org/officeDocument/2006/relationships/viewProps" Target="/ppt/viewProps.xml" Id="R9981f1cab0cb461f" /><Relationship Type="http://schemas.openxmlformats.org/officeDocument/2006/relationships/tableStyles" Target="/ppt/tableStyles.xml" Id="R8079d0e8b49044d4" /><Relationship Type="http://schemas.openxmlformats.org/officeDocument/2006/relationships/slide" Target="/ppt/slides/slide1.xml" Id="Rdc4308c9d39240fa" /><Relationship Type="http://schemas.openxmlformats.org/officeDocument/2006/relationships/slide" Target="/ppt/slides/slide2.xml" Id="Rc8497ca04dc248ae" /><Relationship Type="http://schemas.openxmlformats.org/officeDocument/2006/relationships/slide" Target="/ppt/slides/slide3.xml" Id="Rff6b4c5cb6804a84" /><Relationship Type="http://schemas.openxmlformats.org/officeDocument/2006/relationships/slide" Target="/ppt/slides/slide4.xml" Id="R58e0ec71aacd42cd" /><Relationship Type="http://schemas.openxmlformats.org/officeDocument/2006/relationships/slide" Target="/ppt/slides/slide5.xml" Id="R8e5c1d06c2eb492a" /><Relationship Type="http://schemas.openxmlformats.org/officeDocument/2006/relationships/slide" Target="/ppt/slides/slide6.xml" Id="R32aff6c923c741c7" /><Relationship Type="http://schemas.openxmlformats.org/officeDocument/2006/relationships/slide" Target="/ppt/slides/slide7.xml" Id="Rd42f12f7a2f343e7" /><Relationship Type="http://schemas.openxmlformats.org/officeDocument/2006/relationships/slide" Target="/ppt/slides/slide8.xml" Id="R26b8f9050df54761" /><Relationship Type="http://schemas.openxmlformats.org/officeDocument/2006/relationships/slide" Target="/ppt/slides/slide9.xml" Id="R29ac7b1f530f4675" /><Relationship Type="http://schemas.openxmlformats.org/officeDocument/2006/relationships/slide" Target="/ppt/slides/slide10.xml" Id="R88a60f4e624d496f" /><Relationship Type="http://schemas.openxmlformats.org/officeDocument/2006/relationships/slide" Target="/ppt/slides/slide11.xml" Id="R52dbf6a348204c1f" /><Relationship Type="http://schemas.openxmlformats.org/officeDocument/2006/relationships/slide" Target="/ppt/slides/slide12.xml" Id="R9004880297e441de" /><Relationship Type="http://schemas.openxmlformats.org/officeDocument/2006/relationships/slide" Target="/ppt/slides/slide13.xml" Id="Rd1b39e0037e646a4" /><Relationship Type="http://schemas.openxmlformats.org/officeDocument/2006/relationships/slide" Target="/ppt/slides/slide14.xml" Id="R2f04a83356874fb1" /><Relationship Type="http://schemas.openxmlformats.org/officeDocument/2006/relationships/slide" Target="/ppt/slides/slide15.xml" Id="R0ba44a4c4c76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a9dd2185c59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apstoneDark">
  <a:themeElements>
    <a:clrScheme name="CapstoneDark">
      <a:accent1>
        <a:srgbClr val="14A38B"/>
      </a:accent1>
      <a:accent2>
        <a:srgbClr val="E8A02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72c58fdca34a0a" /><Relationship Type="http://schemas.openxmlformats.org/officeDocument/2006/relationships/notesMaster" Target="/ppt/notesMasters/notesMaster1.xml" Id="Rb2299b9c13a1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b61e6e2c04d65" /><Relationship Type="http://schemas.openxmlformats.org/officeDocument/2006/relationships/notesMaster" Target="/ppt/notesMasters/notesMaster1.xml" Id="Rb1bb998ce403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86f2dea4f437b" /><Relationship Type="http://schemas.openxmlformats.org/officeDocument/2006/relationships/notesMaster" Target="/ppt/notesMasters/notesMaster1.xml" Id="Rb5464aa2806a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6b85919a8f41dd" /><Relationship Type="http://schemas.openxmlformats.org/officeDocument/2006/relationships/notesMaster" Target="/ppt/notesMasters/notesMaster1.xml" Id="R8be720f1db9045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bca2eed40477e" /><Relationship Type="http://schemas.openxmlformats.org/officeDocument/2006/relationships/notesMaster" Target="/ppt/notesMasters/notesMaster1.xml" Id="R287766eff60d49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4af41e9ea4fe5" /><Relationship Type="http://schemas.openxmlformats.org/officeDocument/2006/relationships/notesMaster" Target="/ppt/notesMasters/notesMaster1.xml" Id="R6e2812c7239549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82b8fe199544e0" /><Relationship Type="http://schemas.openxmlformats.org/officeDocument/2006/relationships/notesMaster" Target="/ppt/notesMasters/notesMaster1.xml" Id="R56da7b95f7e040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a75bd5c22e456d" /><Relationship Type="http://schemas.openxmlformats.org/officeDocument/2006/relationships/notesMaster" Target="/ppt/notesMasters/notesMaster1.xml" Id="R84864ce8b3b842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de677e9c454f9d" /><Relationship Type="http://schemas.openxmlformats.org/officeDocument/2006/relationships/notesMaster" Target="/ppt/notesMasters/notesMaster1.xml" Id="R8f4c2280dcb3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951dfbe2f34a79" /><Relationship Type="http://schemas.openxmlformats.org/officeDocument/2006/relationships/notesMaster" Target="/ppt/notesMasters/notesMaster1.xml" Id="Rcad885d9dd194d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979a12fb9e4db0" /><Relationship Type="http://schemas.openxmlformats.org/officeDocument/2006/relationships/notesMaster" Target="/ppt/notesMasters/notesMaster1.xml" Id="R3fe8d81b470b4b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e3740ed52b49f2" /><Relationship Type="http://schemas.openxmlformats.org/officeDocument/2006/relationships/notesMaster" Target="/ppt/notesMasters/notesMaster1.xml" Id="Ra8e9c014a7064a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23577ad40d4488" /><Relationship Type="http://schemas.openxmlformats.org/officeDocument/2006/relationships/notesMaster" Target="/ppt/notesMasters/notesMaster1.xml" Id="R76f0f36cdf8d4c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5d3b56a2364f10" /><Relationship Type="http://schemas.openxmlformats.org/officeDocument/2006/relationships/notesMaster" Target="/ppt/notesMasters/notesMaster1.xml" Id="Rab13191dfc6a48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e2d9566e4d4387" /><Relationship Type="http://schemas.openxmlformats.org/officeDocument/2006/relationships/notesMaster" Target="/ppt/notesMasters/notesMaster1.xml" Id="R35acedff6451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this as the draftTwo split requested by research stage. Each person owns a complete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e4b2404314b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B2C110B-3E93-452B-99CD-AC30ED6E312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7316A26-1958-44E2-BFAB-315CAEAE97F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E0421B-7A11-4A0C-9024-EA7941A9BC3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1E1FAE-7ABA-4E09-B28F-CBBBC6ADDD9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c8016ca4ea4a61" /><Relationship Type="http://schemas.openxmlformats.org/officeDocument/2006/relationships/slideLayout" Target="/ppt/slideLayouts/slideLayout2.xml" Id="R15770e20f4d0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50FD49-5705-471E-935F-B4383DF62AB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770e20f4d0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4be469b8364295" /><Relationship Type="http://schemas.openxmlformats.org/officeDocument/2006/relationships/notesSlide" Target="/ppt/notesSlides/notesSlide1.xml" Id="Re57bd1dc1ea049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6ea9e10f484490" /><Relationship Type="http://schemas.openxmlformats.org/officeDocument/2006/relationships/notesSlide" Target="/ppt/notesSlides/notesSlide2.xml" Id="R111987b64393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66a06f931648b9" /><Relationship Type="http://schemas.openxmlformats.org/officeDocument/2006/relationships/notesSlide" Target="/ppt/notesSlides/notesSlide3.xml" Id="R3c02b0bf8f6146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0c730884c042cd" /><Relationship Type="http://schemas.openxmlformats.org/officeDocument/2006/relationships/notesSlide" Target="/ppt/notesSlides/notesSlide4.xml" Id="R9437fa760b92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4e2a6236dd4a60" /><Relationship Type="http://schemas.openxmlformats.org/officeDocument/2006/relationships/notesSlide" Target="/ppt/notesSlides/notesSlide5.xml" Id="R9b8d79cad3654e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40cf02920464f" /><Relationship Type="http://schemas.openxmlformats.org/officeDocument/2006/relationships/notesSlide" Target="/ppt/notesSlides/notesSlide6.xml" Id="Ra0fadeb8c4b643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c27809eab4b82" /><Relationship Type="http://schemas.openxmlformats.org/officeDocument/2006/relationships/notesSlide" Target="/ppt/notesSlides/notesSlide7.xml" Id="Rdedf431df8a64e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1cb62f24a46ef" /><Relationship Type="http://schemas.openxmlformats.org/officeDocument/2006/relationships/notesSlide" Target="/ppt/notesSlides/notesSlide8.xml" Id="R7fee5cd76a7b4d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f7bc1819548db" /><Relationship Type="http://schemas.openxmlformats.org/officeDocument/2006/relationships/image" Target="/ppt/media/image.png" Id="Rb85ef9934a744059" /><Relationship Type="http://schemas.openxmlformats.org/officeDocument/2006/relationships/notesSlide" Target="/ppt/notesSlides/notesSlide9.xml" Id="R9d42354a3e4e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d63902741c4568" /><Relationship Type="http://schemas.openxmlformats.org/officeDocument/2006/relationships/image" Target="/ppt/media/image2.png" Id="R0f1ba9104fa24c0f" /><Relationship Type="http://schemas.openxmlformats.org/officeDocument/2006/relationships/notesSlide" Target="/ppt/notesSlides/notesSlide10.xml" Id="R9cfaf005268844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c4a3f44a174b95" /><Relationship Type="http://schemas.openxmlformats.org/officeDocument/2006/relationships/image" Target="/ppt/media/image3.png" Id="Ra55b023504e24d33" /><Relationship Type="http://schemas.openxmlformats.org/officeDocument/2006/relationships/notesSlide" Target="/ppt/notesSlides/notesSlide11.xml" Id="Ra683932bbf9043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9fec7df9e4788" /><Relationship Type="http://schemas.openxmlformats.org/officeDocument/2006/relationships/image" Target="/ppt/media/image4.png" Id="Rdb61f98ce40e4d8e" /><Relationship Type="http://schemas.openxmlformats.org/officeDocument/2006/relationships/notesSlide" Target="/ppt/notesSlides/notesSlide12.xml" Id="Rb832888667d140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dc9dfb70244ee" /><Relationship Type="http://schemas.openxmlformats.org/officeDocument/2006/relationships/image" Target="/ppt/media/image5.png" Id="R28a8106b56fd4c07" /><Relationship Type="http://schemas.openxmlformats.org/officeDocument/2006/relationships/notesSlide" Target="/ppt/notesSlides/notesSlide13.xml" Id="Rda1a71f2731d45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fc3a89479d445d" /><Relationship Type="http://schemas.openxmlformats.org/officeDocument/2006/relationships/image" Target="/ppt/media/image6.png" Id="R10922dcb0737472c" /><Relationship Type="http://schemas.openxmlformats.org/officeDocument/2006/relationships/notesSlide" Target="/ppt/notesSlides/notesSlide14.xml" Id="R21aa3b2c201e49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fdd4bddc84759" /><Relationship Type="http://schemas.openxmlformats.org/officeDocument/2006/relationships/notesSlide" Target="/ppt/notesSlides/notesSlide15.xml" Id="R323753c7a00342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6EDC-F0B9-4839-97CC-414C564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7E17C-03E7-47C7-8A7D-F508C7F0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2C15-8384-452B-A20A-BE103FD8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BA2D3-B6DE-4C5A-8B7F-FC4C527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draftTwo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D475-6BBA-41AA-A82B-7273F866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F0EE"/>
                </a:solidFill>
              </a:defRPr>
            </a:pPr>
            <a:r>
              <a:rPr sz="3300" b="1">
                <a:solidFill>
                  <a:srgbClr val="E8F0EE"/>
                </a:solidFill>
              </a:rPr>
              <a:t>Kampala PM2.5 Defense 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4E5EB-E447-455B-9A5B-F2F3D659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3BE"/>
                </a:solidFill>
              </a:defRPr>
            </a:pPr>
            <a:r>
              <a:rPr sz="1650" b="0">
                <a:solidFill>
                  <a:srgbClr val="9FB3BE"/>
                </a:solidFill>
              </a:rPr>
              <a:t>Five presenters · one coherent research story · honest model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D5542-C345-49B7-A3F7-4FAD3CA4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191000" cy="3238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241F"/>
                </a:solidFill>
              </a:defRPr>
            </a:pPr>
            <a:r>
              <a:rPr sz="1050" b="1">
                <a:solidFill>
                  <a:srgbClr val="06241F"/>
                </a:solidFill>
              </a:rPr>
              <a:t>Problem → Features → NOW → FUTURE →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6AD3E-72A1-44DD-B546-D2A034A1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7145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37E94-24C1-4379-B68B-06EA3CCF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25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F8420-94D4-4F44-9964-EF32F833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total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EC079-3C87-4D40-BDBB-80B002EE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00500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CD4D1-23F7-42CA-A0A0-E186C367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4337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A38B"/>
                </a:solidFill>
              </a:defRPr>
            </a:pPr>
            <a:r>
              <a:rPr sz="2175" b="1">
                <a:solidFill>
                  <a:srgbClr val="14A38B"/>
                </a:solidFill>
              </a:rPr>
              <a:t>5 ×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55093-AAD8-45F3-B7DF-CADEEE6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five people, five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112C3-9869-4948-ABEE-5086C99B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20002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29BDE-C7AF-4D8C-9D17-CC0DD668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4337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k=4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52763-417F-4E08-9830-36F6AFEF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910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accepted NOW /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F775B-A851-4DDA-9F57-6A0CD4A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22860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F65E1-A449-4967-8A1C-EA89FE01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4337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LSTM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0BB55-DE07-4298-BBA5-D585463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91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accepted FUTURE headline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998CD-541D-49D9-906D-6370707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200150"/>
            <a:ext cx="2190750" cy="2133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F87E3-DED3-4BAA-96C0-3A931A4E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200150"/>
            <a:ext cx="476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7D232-1E26-465A-BBFF-CFC37F77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3335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Opening 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6D299-9BC3-4F04-8C41-9955B937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657350"/>
            <a:ext cx="1771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The project is not just a PM2.5 model. It is an honest test of whether cheap data can support planning decisions at places without dense sensors.</a:t>
            </a:r>
          </a:p>
        </p:txBody>
      </p:sp>
    </p:spTree>
    <p:extLst>
      <p:ext uri="{BB962C8B-B14F-4D97-AF65-F5344CB8AC3E}">
        <p14:creationId xmlns:p14="http://schemas.microsoft.com/office/powerpoint/2010/main" val="755537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9866B-016A-45E9-AE73-6BFEA0F8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3BF9B-E7CA-4CF5-BB49-DF5860F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0BDF2-BFE5-4B6F-A3CF-7F78913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EBE53-5A59-4C57-AB7E-E2C1A37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presentation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EF485-3383-40DE-9314-7406C79E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25-Minute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E6FD5-82A5-4B1D-9024-7D0D0C1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Each presenter owns a complete research stage, not a random set of files.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6B742-6DA2-445D-959E-508C0215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981200" cy="2667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F6715-8986-4278-ACA1-36D0BBA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485E5-637B-4E58-BEEA-A68D9851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Person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9F111-5D08-430E-A35C-550EF96E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1562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Problem, Data &amp; Stage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Why the project exists and what the data shows.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15FDC-27FB-48DC-A29D-FC43299A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981200" cy="2667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4E486-CBD0-4EA7-8C3B-F23FE14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183FE-4195-4EE8-A199-0FDA1F2D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669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Person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D98B9-7096-4715-8D52-661306D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90825"/>
            <a:ext cx="1562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Stage 2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How raw data became model-ready.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6DC30-3D45-4822-88C1-FD00327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981200" cy="2667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F07B0-DCEF-42D5-BA01-77D4CB5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07146-360B-47D7-8781-D610334F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69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Person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13EFB-FDD9-43C7-B131-A273915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90825"/>
            <a:ext cx="1562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NOW Prediction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New-site prediction, categorization, safety tiers.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B5F53-C6E4-4680-AB70-4DD97BD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981200" cy="2667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5009C-BBED-462A-983F-11B3517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8B7C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CEB65-AAA8-4611-9071-1B40F6C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669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Person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5FF9E-FB0B-4FB5-B3BA-62ED92FD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90825"/>
            <a:ext cx="1562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FUTURE Forecasting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Forecast horizons, LSTM, RF and rolling challengers.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49BC5-BA34-4C9F-A400-B517D95E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981200" cy="2667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77E4E-9EE3-4FC5-A6FE-2C688127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47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3FDBA8-64EE-400E-A88A-33C8F50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669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Person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A8BE2-BB64-4E7C-A46E-476B7C1D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90825"/>
            <a:ext cx="1562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Prototype &amp;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Tool, k=6 rejection, final recommendations.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C82A1-50EA-4EB7-B8F4-B31D3EB8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F0EE"/>
                </a:solidFill>
              </a:defRPr>
            </a:pPr>
            <a:r>
              <a:rPr sz="1575" b="1">
                <a:solidFill>
                  <a:srgbClr val="E8F0EE"/>
                </a:solidFill>
              </a:rPr>
              <a:t>Target: 5 minutes per person · each section ends with one key message</a:t>
            </a:r>
          </a:p>
        </p:txBody>
      </p:sp>
    </p:spTree>
    <p:extLst>
      <p:ext uri="{BB962C8B-B14F-4D97-AF65-F5344CB8AC3E}">
        <p14:creationId xmlns:p14="http://schemas.microsoft.com/office/powerpoint/2010/main" val="100563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DD9C9-4FE2-4D8A-AEB3-46FA2C1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35CC3-572B-4C10-B52E-73B16AEB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9EABE-CC89-4E3F-9A1F-4D7EA85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3F26E-77E5-4E39-8F90-92810CDC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1 · Stage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5D69-962E-4C55-9A20-00522783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Why This Project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AC1BF-1128-4A5E-9E90-B779C02E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Kampala needs air-quality insight where sensors are sparse.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E92E8-592E-4892-9F65-7D5198B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0955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DE51B-9925-4C5C-BFA3-FC68F10A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A38B"/>
                </a:solidFill>
              </a:defRPr>
            </a:pPr>
            <a:r>
              <a:rPr sz="2175" b="1">
                <a:solidFill>
                  <a:srgbClr val="14A38B"/>
                </a:solidFill>
              </a:rPr>
              <a:t>PM2.5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E7A5D-8E51-466A-93CC-F95B9A80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9579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fine particles linked to health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009DE-F435-407C-B141-49D8A4A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3A4B9-5209-465D-9359-E15AB83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15 µg/m³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3CB6E-7435-41BC-BF30-A27EDCDB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WHO 24-hour guideline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F3D24-2AEF-4BBB-9F6C-176231B7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23672-4F4B-4ABE-BD79-0204A0D6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3837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C5A4C"/>
                </a:solidFill>
              </a:defRPr>
            </a:pPr>
            <a:r>
              <a:rPr sz="2175" b="1">
                <a:solidFill>
                  <a:srgbClr val="EC5A4C"/>
                </a:solidFill>
              </a:rPr>
              <a:t>~94%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3F764-C6F0-44C6-AC0D-47C28F74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days above WHO guideline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A450A-9E5D-4882-A548-4BA861B8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952750" cy="1809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87058-7400-4B46-918B-D3DB5265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0F322-D3A8-402B-A456-1CBDF8C1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Research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6C627-EDD6-4CEF-B2CB-6FAEF87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2533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Can free data give a planner trustworthy PM2.5 where there is no sensor, and a few days ahead?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B1C05-0523-4D17-AF6E-E97E4E3F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EE0AC-A1BB-4706-812B-6E795DD7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29125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Random splits answer gap-filling, not real deployment.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6C59-BDE6-4822-824E-A1523D0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B98B5-790A-4C91-A59A-3BA7AFD7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0125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The honest NOW test hides whole sensor sites.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9C521-ED28-47F4-9B19-E0A9ADBC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F60AB-CCA5-4B5B-B68B-4F2BD80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91125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The honest FUTURE test predicts later dates chronologically.</a:t>
            </a:r>
          </a:p>
        </p:txBody>
      </p:sp>
    </p:spTree>
    <p:extLst>
      <p:ext uri="{BB962C8B-B14F-4D97-AF65-F5344CB8AC3E}">
        <p14:creationId xmlns:p14="http://schemas.microsoft.com/office/powerpoint/2010/main" val="302822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3A234-E1A1-4E56-B1C3-F592CB1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CA777-4DE6-430C-90EA-C9F0D6E7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C535-AC6D-4194-A9AC-4945B940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D066B-DC15-4C0A-8B2B-35E4C2E3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1 ·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BAC15-9677-4EF7-BF7F-7E74849F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Data Sources and Dataset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1E32E-23F6-4E57-8FF1-E77FDB21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One site-day table joins pollution, weather, satellite, and location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5AFF5-4F90-48EE-AD58-134CE08A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145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BD8B4-BB42-4CB7-90EC-742CD17E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A38B"/>
                </a:solidFill>
              </a:defRPr>
            </a:pPr>
            <a:r>
              <a:rPr sz="2175" b="1">
                <a:solidFill>
                  <a:srgbClr val="14A38B"/>
                </a:solidFill>
              </a:rPr>
              <a:t>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C2EDE-133E-499A-A6AE-06692FBB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AirQo sensor 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4F1BB-E6ED-4536-8E1A-E3E0ADBD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809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0634C-48BC-424F-B0CB-FE142DFF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38375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13,944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76BDE-C59D-4673-8D5E-F0827413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site-days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A23A5-FC0F-40F3-BE79-95E329CE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0002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A34CE-6F3E-4630-8B17-CE3E44F2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38375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38.2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93881-38D2-4AD3-8B57-2DCC41F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mean PM2.5 µg/m³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F43AC-12A7-4325-AE79-67A54613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333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751B5-791A-41B8-BB95-E51421E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3105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9304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9FB3BE"/>
                </a:solidFill>
              </a:defRPr>
            </a:pPr>
            <a:r>
              <a:rPr sz="2175" b="1">
                <a:solidFill>
                  <a:srgbClr val="9FB3BE"/>
                </a:solidFill>
              </a:rPr>
              <a:t>2019-05-23 → 2020-12-31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87CDE-C5B8-44B8-BEE5-FB6F0D2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3067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study period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C422D-BE75-467F-9805-B4995EDA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381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A58DA-853A-4E17-8039-ED24BE67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E8E0D-962E-4EA0-AF3D-2815A76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AirQo sensors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3E5E8-E9E3-4E1A-9E3F-BEBBBBB5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Ground truth daily PM2.5 readings across 39 Kampala-area sites.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EAB3E-53A1-438C-8264-D2BE8C74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2381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5A8C6-5AFA-48D7-B5EF-4CFA8205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6C88B-4929-4CD7-ABE5-AC09FC12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9097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ERA5 weather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E2B68-312F-421C-BE37-34603712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14825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Temperature, dewpoint, wind, pressure, and precipitation.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96325-C4E9-42C3-847B-CDA7134F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381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6C232-2083-43AF-9732-D57EDF6B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8B7CF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21551-B11F-478C-9C36-95FAC254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Satellite LST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04F10-387A-403D-919F-4BF4E2CD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14825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Land-surface temperature was carried, but cloud gaps and low value limited adoption.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7FADC-6600-454D-A6EF-98312BE3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3812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C3644D-9F89-4FA1-9EF6-4D5C31D4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7C2218-BA41-4BF9-86FD-05FCBB6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90975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Geospatial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D8AD1A-EC5B-4DA0-A094-80C78F01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14825"/>
            <a:ext cx="1962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Road density, distance to major roads, elevation, and building-density experiments.</a:t>
            </a:r>
          </a:p>
        </p:txBody>
      </p:sp>
    </p:spTree>
    <p:extLst>
      <p:ext uri="{BB962C8B-B14F-4D97-AF65-F5344CB8AC3E}">
        <p14:creationId xmlns:p14="http://schemas.microsoft.com/office/powerpoint/2010/main" val="1961185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3F8E2-4F07-4820-8961-5BC6AD94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23249-FEC3-4625-9A3B-9CA85A4B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F2AC0-A0CB-4E01-A539-C288383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63DEB-A7E8-434F-8FC4-ADBBDC9C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1 · explore &amp; 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B2F8F-5A12-48DF-9F34-B47B5EA3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Stage 1 Findings: Pollution Is Structured but Hard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6DB02-78C5-45C2-B391-1E30362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exploration explains why a naive model fails.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E64D1-5893-4C9C-BFE9-16C7CC4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0002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F3272-9E19-4868-95BC-0B2F2F42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C5A4C"/>
                </a:solidFill>
              </a:defRPr>
            </a:pPr>
            <a:r>
              <a:rPr sz="2175" b="1">
                <a:solidFill>
                  <a:srgbClr val="EC5A4C"/>
                </a:solidFill>
              </a:rPr>
              <a:t>94%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25ABD-32F5-41E8-AB40-6F36931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site-days above WHO 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BF56C-0622-4723-9E25-5E14D34E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47875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56331-C0D8-4A9C-8451-63AEEB8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81%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52B60-EF13-4A79-9200-445EFE4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3842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daytime LST missing/gapped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124C3-374E-4651-BA2F-22CC507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03C49-75CA-4B96-8C4B-13424C41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907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84%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55881-80D5-476E-85C3-BB2C38EB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3842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night LST missing/gapped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537E1-5BF8-4173-A98C-20E86B79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95275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F6B01-6C3C-475E-A21D-E233315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 w="0">
            <a:solidFill>
              <a:srgbClr val="8B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BCB32-FB29-4864-BAD2-1695EC06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MNAR idea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EE90E-3586-49F9-B081-91AD6CC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2533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LST gaps are not random: clouds hide the surface and also relate to pollution/weather regimes.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1DED3-501E-46BA-AF40-93119449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3E731-576C-4E8F-9742-71DC5F41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9575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PM2.5 distribution is skewed and frequently unsafe.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D45D9-305A-457F-ACCA-61B8A74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DEAEF-A05D-4BE0-A183-5DB1966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958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Seasonality and temporal patterns matter.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226FD-C5CE-468D-9CFC-F2509DAE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37004-F692-4261-89A3-F8A7AA3E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9585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Correlation analysis showed no single easy predictor solves the task.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F561A-7E57-4FA9-8F39-7240DC08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9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1C959-5166-4E70-A673-2E9249AB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2959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LST missingness contains information but LST itself was not adopted as a core lever.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F5B86-052E-4790-8429-EB75CF7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F2680-BC8A-44BA-91AD-31BA51D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5F7C6-D0AB-4860-9AC3-ADFA101F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43600"/>
            <a:ext cx="948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Key message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82937C-8EBE-49CC-AB96-3736AE8B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67450"/>
            <a:ext cx="94869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Before building models, we proved pollution is seasonal, difficult to predict, and that LST missingness carries information.</a:t>
            </a:r>
          </a:p>
        </p:txBody>
      </p:sp>
    </p:spTree>
    <p:extLst>
      <p:ext uri="{BB962C8B-B14F-4D97-AF65-F5344CB8AC3E}">
        <p14:creationId xmlns:p14="http://schemas.microsoft.com/office/powerpoint/2010/main" val="578795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B0367-138B-4EED-96A9-9171B14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21A81-A9FD-46B8-B825-07BC77A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E70A9-1BBC-4100-81FC-D1A4E186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9FE32-E1DE-4E06-B99C-099A8F4D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2 · Stage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1FD98-F3A8-4F9C-93B0-C8DF931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From Raw Rows to Model-Ready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3D0E-27C8-4F98-96DC-9A6BDEAF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Stage 2 is about the site-day grain and repeatable feature construction.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74C08-E656-4FF7-BA7B-FA9B13C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8575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BACD8-A078-43FE-B3F3-A6602287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738BE-6FD3-4331-BF4A-FDC9E381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Site-day grain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88243-50BA-4851-8BD1-CF27DDF3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Each row is one sensor site on one day. This keeps NOW and FUTURE validation aligned with deployment.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19114-0212-41AC-A211-FBFE54F2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8575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BB8D8-8B95-4691-9BA9-26D35C4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B97AD-F653-4948-920E-2EFF5047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Shared feature 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8CBF0-C4A6-48A0-8EE8-C4D2DD0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`analysis/features.py` centralizes loading, engineered weather, category assignment, and lag panels.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73A32-74DF-443A-8696-727C8EC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8575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AA83B-7901-4A15-9B29-08998E5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89A5D-5A75-498C-93ED-54734FAC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336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Model-ready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D61DD-FF3B-4F58-8E04-9D181F8D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2438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The model sees weather, location, calendar, geodata, and only deployable PM2.5 history when allowed.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AB761-942A-4995-8B11-58451571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CDDB8-89F8-4423-90C6-17AE4793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91000"/>
            <a:ext cx="817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Temperature and dewpoint support relative humidity.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891D2-060C-4445-BE09-D1D61667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74652-46EC-4063-8793-80F86C58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72000"/>
            <a:ext cx="817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Wind u/v becomes wind speed, a ventilation signal.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8B43A-D5B5-4B87-9C8A-87EFA4E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76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E0507-57E9-4350-B302-4F0B2925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953000"/>
            <a:ext cx="817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Month and day-of-week capture calendar patterns.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B5A03-050E-4BAD-A07D-6051E223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57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8FF84-28B8-458A-9B3B-655FEF24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34000"/>
            <a:ext cx="817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FUTURE uses calendar-aware lags and rolling averages.</a:t>
            </a:r>
          </a:p>
        </p:txBody>
      </p:sp>
    </p:spTree>
    <p:extLst>
      <p:ext uri="{BB962C8B-B14F-4D97-AF65-F5344CB8AC3E}">
        <p14:creationId xmlns:p14="http://schemas.microsoft.com/office/powerpoint/2010/main" val="1374530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97B80-CBAA-4C8D-BA7B-1081742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0A2E1-195B-4D90-B6FA-4513C105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941AE-0F3F-4C19-9845-B19D72F8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81EDE-5639-45D5-A2E7-C00863E4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2 ·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D8BD8-D0BA-49C0-AD40-7E80DEC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Features Are Also a Deployment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7D2CB-03E5-499C-BBB1-FD44F768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Every input must be classified by whether a real planner can obtain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CE41-895A-4B26-ABE5-6DD01166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00375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72993-1AB8-4DA0-98F9-ED2AC064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F4854-853A-4273-B7D7-493A3B91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Zero deploy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6A06B-4AF1-453A-AD3A-BFF945C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5812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Lat/lon, calendar, ERA5 weather, OSM roads, elevation, and static geodata can be used without a PM2.5 sensor.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51A90-5906-4B75-9738-D305B1C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00375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97249-C938-470E-ADC0-5306A9B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44BCA-21C6-46F2-B8C6-BBC75A6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Short 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1B353-F936-45C6-A30D-C7ADE17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25812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First N days of PM2.5 history can infer a site category, then evaluation must start after that window.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8274A-86A1-4693-BFF5-19BC041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00375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70605-C5ED-4E3D-9153-A88ED4B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2D120-774B-4463-A96D-E434290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Research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5B4B8-24B2-445C-9004-525F43E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5812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Full-history category uses the held-out site’s complete PM2.5 behavior and is an oracle upper bound.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63931-E9F7-4BCD-8BD5-70ECEEEF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381500" cy="1095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B28C0-2CF0-4709-A232-A6294760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2D62F-E113-45D8-BFA5-F305B340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Success driver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50332-B790-4EFD-BA6B-6D149A7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3962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The project succeeds because features are engineered and evaluated carefully, not because one fancy learner solves everything.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78FAB-6430-4851-B771-04A0781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381500" cy="1095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A8D2D-65A9-4F02-9725-F30ECC6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970E3-C12B-4892-B747-C855F1F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101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Presenter key message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FE317-5DEF-4858-B2FF-DA828AF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962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Feature engineering and deployability are the scientific backbone of the model claims.</a:t>
            </a:r>
          </a:p>
        </p:txBody>
      </p:sp>
    </p:spTree>
    <p:extLst>
      <p:ext uri="{BB962C8B-B14F-4D97-AF65-F5344CB8AC3E}">
        <p14:creationId xmlns:p14="http://schemas.microsoft.com/office/powerpoint/2010/main" val="1890100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AF969-FF00-45BD-8EBB-BE476080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A304-6604-4A5E-898C-F314407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5798-9A0D-458E-B9D5-7F55AE70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5A539-6151-4000-B154-41D37340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2 · leakage guardrails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24E18-15BA-44C5-958A-E8D8D6C0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Banned Features and Leakage 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C954C-BF00-4CE2-AC5A-6759F3D8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model is not allowed to use information unavailable at prediction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52005-B2F2-4CEB-95DF-47A36027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EDAAA-61DF-4C85-848D-9A622BE3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4D5F7-6FEB-401E-B532-0452867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PM10 banned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85602-4AC6-49EF-B99D-53AF6A9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628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Same-instrument pollutant and highly target-coupled. It would inflate performance unrealistically.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6B2EB-D254-4C66-8E63-D1725F9C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56F05-2A8C-44FE-B135-6B822188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F4E1A-DB66-4871-959F-AE9A0E9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n_obs banned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D1D0B-40F7-4078-BC32-5A4F1B42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2628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A by-product of the daily mean, not an input available at a sensor-less place.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B76CD-B09E-459D-A272-65D15A1B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B7957-8D6B-4804-8B0C-4167B7F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219B1-1F70-460D-9188-EE15FEC7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Category caution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A8DC8-14E4-4D63-B3CA-C23F0C30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2628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A PM2.5-derived category is safe only when the deployment setting supplies the PM2.5 history.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A9C15-B861-4CE2-AF7D-62F5D3C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C9536-ACA5-4922-853B-A0C42A2F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893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Train/test splits must hide whole sites for NOW.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478A8-8B17-47C9-9BE9-B7B65F01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E7E51-92E2-4A75-9E37-80793E16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893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Chronological splits must respect forecast target dates for FUTURE.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76E93-1AC4-499E-B77B-B0F93BD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08ABB-0E0D-4FE0-9611-E620A47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893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Category priors must be fit inside folds or rejected.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4E581-D58A-4065-BA00-8C266FE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86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7A37A-441F-46CD-9292-A1AEF63F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62600"/>
            <a:ext cx="893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Random split numbers are diagnostic only.</a:t>
            </a:r>
          </a:p>
        </p:txBody>
      </p:sp>
    </p:spTree>
    <p:extLst>
      <p:ext uri="{BB962C8B-B14F-4D97-AF65-F5344CB8AC3E}">
        <p14:creationId xmlns:p14="http://schemas.microsoft.com/office/powerpoint/2010/main" val="1640990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F515B-466F-45B8-9326-415D1552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65DDB-F5DC-44B4-866A-08570C1E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DC2E9-7FA3-45E3-80C8-AD9BE0B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F63E0-FAA8-4143-9F94-2B88A7D8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3 ·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895CD-8B25-40F5-8314-BDCB0C3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NOW: Predict Today at a New 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C313F-73EB-4B81-AF50-7780D264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honest test hides whole locations, because that is the real deployment problem.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ef9934a744059"/>
          <a:stretch xmlns:a="http://schemas.openxmlformats.org/drawingml/2006/main"/>
        </p:blipFill>
        <p:spPr>
          <a:xfrm xmlns:a="http://schemas.openxmlformats.org/drawingml/2006/main">
            <a:off x="666750" y="2263140"/>
            <a:ext cx="6000750" cy="276034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32F6E-8C73-47F0-BE2C-1E2B46F9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52974-5986-4949-9979-55E1918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C5A4C"/>
                </a:solidFill>
              </a:defRPr>
            </a:pPr>
            <a:r>
              <a:rPr sz="2175" b="1">
                <a:solidFill>
                  <a:srgbClr val="EC5A4C"/>
                </a:solidFill>
              </a:rPr>
              <a:t>~0.32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6503B-ADC3-4227-A84A-1A0D112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860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blind new-site R²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828F2-8EB1-4913-A9FC-0AA21133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9050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32C62-C5C5-4839-88D5-DF1AFDE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38375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~0.48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04589-16E1-4EE9-90D9-06558503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86050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+category R²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E6ED3-DCB4-421E-8306-2E810108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95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ACF64-EA3A-4E68-92FF-CD923FC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67125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~0.55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81F1A-5814-44D3-A13E-550F3CD0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14800"/>
            <a:ext cx="382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+category + geodata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49BF9-90FA-4E86-9F92-76F279C0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95875"/>
            <a:ext cx="4095750" cy="8001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11EEB-2934-4B49-A0C9-5F5F968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95875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079BA-9CF8-4180-B5BA-ECF996D1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29225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Key message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2219E-6F2F-47F6-9721-298C43EA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53075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7334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Categorizing sites into pollution regimes provides the largest new-site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513556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3B9B9-D99C-4E7E-83F9-3FBF53AA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9FE04-B540-4E3C-8964-64EC52E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1F7B5-AF53-468E-B179-7A1029F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B3493-18EF-4570-A263-6C997E8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3 · categorization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1F527-B2F4-4C5C-AA01-21900D78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Site Categories: k=3 → k=4, Not k=6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5812E-F4CB-4244-98AB-60CB1A3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final accepted NOW model balances performance and stability.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ba9104fa24c0f"/>
          <a:stretch xmlns:a="http://schemas.openxmlformats.org/drawingml/2006/main"/>
        </p:blipFill>
        <p:spPr>
          <a:xfrm xmlns:a="http://schemas.openxmlformats.org/drawingml/2006/main">
            <a:off x="809625" y="1857375"/>
            <a:ext cx="43338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A0947-B290-4A94-B8B5-EA03815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286000" cy="11906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94BA9-7748-41B1-A633-9A9B0E7D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3BE"/>
          </a:solidFill>
          <a:ln xmlns:a="http://schemas.openxmlformats.org/drawingml/2006/main" w="0">
            <a:solidFill>
              <a:srgbClr val="9FB3B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87A8D-A405-42FF-9D48-98CA4515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k=3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908C4-93C4-462D-9BAD-561777F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Original silhouette-driven categories: low, high, and stagnant micro-regime.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B481B-EEE9-43E7-8DEF-E6D04063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286000" cy="11906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AC995-A4E2-46FE-83B6-77CBD817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19F44-D53C-4FF5-BFBE-3F22B0F9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336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k=4 accepted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6D047-CE82-49A0-AE8E-52D3A76B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57450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9037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Better honest new-site performance and stable enough for the capstone recommendation.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E329A-32C1-43BA-A92C-F77B0BC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4905375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E759E-4E6E-44B0-BF6B-54F8F2F1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F6889-87DE-40BE-814D-4F80911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52850"/>
            <a:ext cx="4486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k=6 audit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B86C8-5AED-4619-9C01-0B46114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76700"/>
            <a:ext cx="44862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Meaningful finer regimes, but small clusters make it fragile. Full-history k=6 is a non-deployable upper bound.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44E9D-82D1-4871-ADCF-7C906699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Presenter line: “We choose k=4 not because k=6 is meaningless, but because k=4 generalizes more defensibly.”</a:t>
            </a:r>
          </a:p>
        </p:txBody>
      </p:sp>
    </p:spTree>
    <p:extLst>
      <p:ext uri="{BB962C8B-B14F-4D97-AF65-F5344CB8AC3E}">
        <p14:creationId xmlns:p14="http://schemas.microsoft.com/office/powerpoint/2010/main" val="79008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4EF73-3D3C-44A6-A056-E733005A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F47C8-F263-4236-B2DF-950BE906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AE682-F528-4263-9FDB-A5D4B0CE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826B7-59EC-4BDC-AFE3-F9502CBD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3 · safety tiers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1176-5C7B-49A4-A373-29BD832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Safety Tiers Turn Predictions into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5809B-10EE-46B3-AB2B-611968F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planner does not act on R²; they act on risk categories.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b023504e24d33"/>
          <a:stretch xmlns:a="http://schemas.openxmlformats.org/drawingml/2006/main"/>
        </p:blipFill>
        <p:spPr>
          <a:xfrm xmlns:a="http://schemas.openxmlformats.org/drawingml/2006/main">
            <a:off x="666750" y="2821026"/>
            <a:ext cx="5429250" cy="15493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D14C9-ED1C-4BCE-B120-285A89D7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4398F-1EB5-4982-A0AE-571F347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4787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68%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25772-B45F-4413-86D5-73C9191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exact NOW safety 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A176F-2724-4C98-824B-B1375A1E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05000"/>
            <a:ext cx="209550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3D0BB-DC5B-4013-B1B8-DB0F1C64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47875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98.5%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A6AF8-FF5D-4596-92EC-CB99B8F3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955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within one 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557FD-3380-49B5-B54D-DF86134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619625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7E832-67BB-46D3-ACE3-AA4D65AB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DA009-B833-428B-A72A-280E945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420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EPA bands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FDF4D-119C-4C63-9F03-6E08D392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4200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Elevated ≤35.4 · High 35.5–55.4 · Dangerous &gt;55.4 µg/m³.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0E83E-90A4-48F2-9743-69D12F9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619625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5FB3D-F0C2-4DB4-8674-A61D7299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47F85-1E9B-43DC-901F-532AF14A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91100"/>
            <a:ext cx="4200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Tool connection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CCA7D-24AC-4180-A586-AA0D164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14950"/>
            <a:ext cx="4200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The predictor page and prototype expose safety tier, uncertainty, and alert behavior.</a:t>
            </a:r>
          </a:p>
        </p:txBody>
      </p:sp>
    </p:spTree>
    <p:extLst>
      <p:ext uri="{BB962C8B-B14F-4D97-AF65-F5344CB8AC3E}">
        <p14:creationId xmlns:p14="http://schemas.microsoft.com/office/powerpoint/2010/main" val="134598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D2B4-2EF2-4ECD-95E9-93E23DB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8B85C-294C-4811-878E-DD29A94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EB2CF-388A-433E-B816-550CFFB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C005C-4468-422B-94F5-34A28A6B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4 · 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C9568-C53A-470B-83A0-D18550F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FUTURE: Forecast Several Days Ahead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F33F8-7B52-444C-9FC0-D3519072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This task is known-site forecasting, not zero-deploy new-site prediction.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A6A94-AA31-4FE0-A1D9-873219C6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4765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90D6D-18E3-4E02-BCEB-626C9F3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CA198-C855-42D6-80D6-A1594592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336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+1, +3, +5, +7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C768E-77E5-40AC-B031-A5C7441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57450"/>
            <a:ext cx="2057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Forecast horizons are evaluated separately because difficulty changes with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2FC67-92A7-45AF-95B6-3F275627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4765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9F772-DF1E-4C27-B63A-E546BF31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62B7A-6D2B-4818-AF9C-2A3A8CF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336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Lag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CA4EF-4E54-4C09-871B-14EAF13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057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PM2.5 lag 1/2/3/7 and rolling means carry recent pollution memory.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88DC6-98D9-491E-B98C-56D6550B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24765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ADBFA-2753-474D-AFBA-B935E3B2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121EE-5809-46F7-93FD-FA8A9343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336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Persistence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C4AEF-4DEF-4D53-8AD3-F031846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57450"/>
            <a:ext cx="20574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The model must beat “same as yesterday” and rolling-window baselines.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96F67-B9C1-4485-9344-935F95C4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00250"/>
            <a:ext cx="200025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19B0E-E2A5-4B5C-AA46-BCBF3F1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00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05A0F-9E15-4803-823A-87CA6FA9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336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Learners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B64A9-69B2-44EE-AFED-5654CD77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57450"/>
            <a:ext cx="15811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XGBoost, LightGBM, LSTM, RF challenger.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1f98ce40e4d8e"/>
          <a:stretch xmlns:a="http://schemas.openxmlformats.org/drawingml/2006/main"/>
        </p:blipFill>
        <p:spPr>
          <a:xfrm xmlns:a="http://schemas.openxmlformats.org/drawingml/2006/main">
            <a:off x="4166152" y="3857625"/>
            <a:ext cx="3478696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841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2C6B2-3D5F-4E42-8F04-7FE7469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976CA-1F82-4CE3-9F60-5A85B44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1F00C-09C9-453B-A1A8-EE512B81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E9DC8-E7F7-4DC5-B604-749326F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4 · challengers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44ADD-8FB4-4C76-B4E4-88E8900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LSTM Remains Headline, Challengers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DD21B-5492-4A41-A48F-8221C71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latest fair benchmark keeps the claim honest.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8106b56fd4c07"/>
          <a:stretch xmlns:a="http://schemas.openxmlformats.org/drawingml/2006/main"/>
        </p:blipFill>
        <p:spPr>
          <a:xfrm xmlns:a="http://schemas.openxmlformats.org/drawingml/2006/main">
            <a:off x="666750" y="1993106"/>
            <a:ext cx="5905500" cy="339566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D0D4E-EB57-4B7E-87F0-4DF7AA2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810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28974-53E2-414D-8006-41A08CA8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1A1C5-9242-4255-8250-6EFDE799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85975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Accepted headline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BC369-A2AD-44C7-AD22-2C6D729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09825"/>
            <a:ext cx="3390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LSTM remains strongest overall and is the accepted FUTURE model for the capstone.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F7464-6B06-41F6-AFFC-6458F41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81375"/>
            <a:ext cx="3810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1D901-5F51-443F-A566-96BEDAE8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81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69E51-65EF-41A6-878B-A2824FD2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14725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Latest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50E6E-B173-4ECF-90EB-0C52AB7E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38575"/>
            <a:ext cx="3390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Random Forest and rolling-7 are competitive at some horizons, especially longer ones.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C0F10-48DC-4130-A1D4-EEADE9D3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3810000" cy="857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2F131-9FD9-4446-B27A-D3FB1D2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4FD3E-2214-409B-9370-08E0003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43475"/>
            <a:ext cx="3390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What not to say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0D406-6BD2-4019-A50E-D00514EA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673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906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Do not claim RF beats LSTM overall. It is a challenger baseline.</a:t>
            </a:r>
          </a:p>
        </p:txBody>
      </p:sp>
    </p:spTree>
    <p:extLst>
      <p:ext uri="{BB962C8B-B14F-4D97-AF65-F5344CB8AC3E}">
        <p14:creationId xmlns:p14="http://schemas.microsoft.com/office/powerpoint/2010/main" val="546974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3EE72-3924-4237-9F75-39582676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D5BF4-311F-4933-9F13-33A5903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FCC23-A050-486B-A0A1-241C338A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7E8D7-7634-43FC-93D3-F99D396F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5 ·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60B35-14DB-4A91-A0ED-6516C25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Interactive Prototype: The Planner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1C67A-1DEE-4AC1-991B-D0BDC9D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project is packaged as browser-facing evidence, not only scripts.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22dcb0737472c"/>
          <a:stretch xmlns:a="http://schemas.openxmlformats.org/drawingml/2006/main"/>
        </p:blipFill>
        <p:spPr>
          <a:xfrm xmlns:a="http://schemas.openxmlformats.org/drawingml/2006/main">
            <a:off x="619125" y="2844781"/>
            <a:ext cx="5095875" cy="145418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F2844-6457-46B3-A706-FAA98054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5720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2811A-DDA3-4522-AC8B-4372C27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8D91B-00DF-4B01-97FC-D9174010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0725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Safety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62103-AD3B-479E-A454-E112D7F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14575"/>
            <a:ext cx="415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Coverage cells show predicted EPA tier for monitored areas and forecast views.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ACC3D-AEA7-4E3C-9ED1-D91CA7E2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45720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6AC01-5D91-4F46-BE5B-6053610C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4A585-06BF-4C5C-99D8-2012D05C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Predict 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98AF8-E877-4ABD-AE82-F348533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52825"/>
            <a:ext cx="415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A planner can enter a location and see predicted tier, PM2.5 estimate, uncertainty, and alert logic.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22293-31A6-4BEC-8F84-1F337892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5720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8A9D7-ACDB-4E87-97BF-711B7455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24E99-7441-4E6D-8D85-5611B4C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Uncertainty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10D08-77B9-4D7E-B7A2-3678D749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91075"/>
            <a:ext cx="4152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Conformal-style bands communicate that new-site prediction is harder than seen-site prediction.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7A5B3-C2F4-4327-8F93-006722D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Important page: pages/kampala_planner_prototype.html</a:t>
            </a:r>
          </a:p>
        </p:txBody>
      </p:sp>
    </p:spTree>
    <p:extLst>
      <p:ext uri="{BB962C8B-B14F-4D97-AF65-F5344CB8AC3E}">
        <p14:creationId xmlns:p14="http://schemas.microsoft.com/office/powerpoint/2010/main" val="2111612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25AE3-55D2-40B0-AF73-4A4A22CB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61860-4BCB-4C04-9401-C2DAABF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0AD04-6F2E-4E59-B70D-1B8DF77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02AF2-8698-4105-A8D7-7F98AE7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3929-C56C-4584-9F29-19527DC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5 · final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5D274-EC40-43C7-9FF2-86CA42FA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F0EE"/>
                </a:solidFill>
              </a:defRPr>
            </a:pPr>
            <a:r>
              <a:rPr sz="2700" b="1">
                <a:solidFill>
                  <a:srgbClr val="E8F0EE"/>
                </a:solidFill>
              </a:rPr>
              <a:t>Final Audit: The Honest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DEEB5-0F67-45F1-91F6-6732262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3BE"/>
                </a:solidFill>
              </a:defRPr>
            </a:pPr>
            <a:r>
              <a:rPr sz="1500" b="0">
                <a:solidFill>
                  <a:srgbClr val="9FB3BE"/>
                </a:solidFill>
              </a:rPr>
              <a:t>The strongest contribution is rejecting improvements that cannot realistically deploy.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BF210-E8DE-488B-9624-E5D96F0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571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CD045-8A05-4BF3-AFE5-C4D05142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38375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C5A4C"/>
                </a:solidFill>
              </a:defRPr>
            </a:pPr>
            <a:r>
              <a:rPr sz="2175" b="1">
                <a:solidFill>
                  <a:srgbClr val="EC5A4C"/>
                </a:solidFill>
              </a:rPr>
              <a:t>≈0.58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0411F-92DA-4075-9119-16DA202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86050"/>
            <a:ext cx="230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k=6 full-history upper bound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55AC1-8B06-4024-90B1-304D3BE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95500"/>
            <a:ext cx="23812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CAAC0-B9F0-4BF9-BEB0-44B3F72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38375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A020"/>
                </a:solidFill>
              </a:defRPr>
            </a:pPr>
            <a:r>
              <a:rPr sz="2175" b="1">
                <a:solidFill>
                  <a:srgbClr val="E8A020"/>
                </a:solidFill>
              </a:rPr>
              <a:t>≈0.51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DACB3-5385-4C40-99BF-AE8A578B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860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best deployable k=6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BF6B6-A184-4894-9C3F-2B28A15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77594-1775-4D17-BA42-791AE733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3837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≈0.56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336DE-F298-4BB5-AE57-99B53606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860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accepted k=4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4E0CE-1AB4-4DEC-89EB-C44F16F2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190750" cy="10287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CA3DB-E48D-4E26-8E1E-A5C2929C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38375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C98A"/>
                </a:solidFill>
              </a:defRPr>
            </a:pPr>
            <a:r>
              <a:rPr sz="2175" b="1">
                <a:solidFill>
                  <a:srgbClr val="46C98A"/>
                </a:solidFill>
              </a:rPr>
              <a:t>LSTM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05613-F107-45DA-81C9-F8C584D7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860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3BE"/>
                </a:solidFill>
              </a:defRPr>
            </a:pPr>
            <a:r>
              <a:rPr sz="1050" b="0">
                <a:solidFill>
                  <a:srgbClr val="9FB3BE"/>
                </a:solidFill>
              </a:rPr>
              <a:t>accepted FUTURE headline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CD987-BF98-4FA2-861D-7BE57367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57200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12BEC-E82C-492E-BC7F-9B9EA1D2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239D8-9720-4D60-A510-4B4BA87D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Research integrity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8C7ED-CAEE-4E13-9D5A-7C6360DE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152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Separate oracle upper bounds from deployable models. Label leakage risks. Keep negative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24260-1E1C-41D0-B407-0EB4D7CE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57200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CD7ED-58AF-4A42-AAAF-178F0BF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9C820-B5F4-49FF-AD1E-28A9788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E"/>
                </a:solidFill>
              </a:defRPr>
            </a:pPr>
            <a:r>
              <a:rPr sz="1350" b="1">
                <a:solidFill>
                  <a:srgbClr val="E8F0EE"/>
                </a:solidFill>
              </a:rPr>
              <a:t>Final 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11B2F-BB5F-4738-90CC-20578875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4152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BE"/>
                </a:solidFill>
              </a:defRPr>
            </a:pPr>
            <a:r>
              <a:rPr sz="1200" b="0">
                <a:solidFill>
                  <a:srgbClr val="9FB3BE"/>
                </a:solidFill>
              </a:rPr>
              <a:t>Accepted NOW = k=4. Accepted FUTURE = LSTM. RF = challenger. k=6 = research direction.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4F2958-01A5-4068-AA93-5555935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57875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789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F0EE"/>
                </a:solidFill>
              </a:defRPr>
            </a:pPr>
            <a:r>
              <a:rPr sz="1500" b="1">
                <a:solidFill>
                  <a:srgbClr val="E8F0EE"/>
                </a:solidFill>
              </a:rPr>
              <a:t>Closing line: “The project is academically valuable because it is honest about what works, what does not, and what cannot be deployed.”</a:t>
            </a:r>
          </a:p>
        </p:txBody>
      </p:sp>
    </p:spTree>
    <p:extLst>
      <p:ext uri="{BB962C8B-B14F-4D97-AF65-F5344CB8AC3E}">
        <p14:creationId xmlns:p14="http://schemas.microsoft.com/office/powerpoint/2010/main" val="19224760"/>
      </p:ext>
    </p:extLst>
  </p:cSld>
</p:sld>
</file>

<file path=ppt/theme/theme1.xml><?xml version="1.0" encoding="utf-8"?>
<a:theme xmlns:a="http://schemas.openxmlformats.org/drawingml/2006/main" name="CapstoneDark">
  <a:themeElements>
    <a:clrScheme name="CapstoneDark">
      <a:accent1>
        <a:srgbClr val="14A38B"/>
      </a:accent1>
      <a:accent2>
        <a:srgbClr val="E8A02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2026-06-15T10:23:28.5400000Z</dcterms:created>
  <dcterms:modified xsi:type="dcterms:W3CDTF">2026-06-15T10:23:28.5400000Z</dcterms:modified>
</coreProperties>
</file>
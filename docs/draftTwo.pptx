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91bf7092d94bae" /><Relationship Type="http://schemas.openxmlformats.org/officeDocument/2006/relationships/extended-properties" Target="/docProps/app.xml" Id="R5447f5eb37f24d81" /><Relationship Type="http://schemas.openxmlformats.org/officeDocument/2006/relationships/officeDocument" Target="/ppt/presentation.xml" Id="R393443ede8004642" /></Relationships>
</file>

<file path=ppt/presentation.xml><?xml version="1.0" encoding="utf-8"?>
<p:presentation xmlns:p="http://schemas.openxmlformats.org/presentationml/2006/main">
  <p:sldMasterIdLst>
    <p:sldMasterId xmlns:r="http://schemas.openxmlformats.org/officeDocument/2006/relationships" id="2147483648" r:id="R4b5924d1c12b4d52"/>
  </p:sldMasterIdLst>
  <p:notesMasterIdLst>
    <p:notesMasterId xmlns:r="http://schemas.openxmlformats.org/officeDocument/2006/relationships" r:id="R3b98ecfa3a9c4c1e"/>
  </p:notesMasterIdLst>
  <p:sldIdLst>
    <p:sldId xmlns:r="http://schemas.openxmlformats.org/officeDocument/2006/relationships" id="256" r:id="Ref4129fb73d94897"/>
    <p:sldId xmlns:r="http://schemas.openxmlformats.org/officeDocument/2006/relationships" id="257" r:id="R3128d3659a5745d7"/>
    <p:sldId xmlns:r="http://schemas.openxmlformats.org/officeDocument/2006/relationships" id="258" r:id="R033033c9cc3b4013"/>
    <p:sldId xmlns:r="http://schemas.openxmlformats.org/officeDocument/2006/relationships" id="259" r:id="Rea3d89b9f2914007"/>
    <p:sldId xmlns:r="http://schemas.openxmlformats.org/officeDocument/2006/relationships" id="260" r:id="R1ce6a3c6bfd84f0d"/>
    <p:sldId xmlns:r="http://schemas.openxmlformats.org/officeDocument/2006/relationships" id="261" r:id="Rd9f6ca0ee73b41bd"/>
    <p:sldId xmlns:r="http://schemas.openxmlformats.org/officeDocument/2006/relationships" id="262" r:id="R4af0671432514837"/>
    <p:sldId xmlns:r="http://schemas.openxmlformats.org/officeDocument/2006/relationships" id="263" r:id="R282a1fe7d5a24470"/>
    <p:sldId xmlns:r="http://schemas.openxmlformats.org/officeDocument/2006/relationships" id="264" r:id="Rf922168279a649e8"/>
    <p:sldId xmlns:r="http://schemas.openxmlformats.org/officeDocument/2006/relationships" id="265" r:id="Re6bbb71a83c040b3"/>
    <p:sldId xmlns:r="http://schemas.openxmlformats.org/officeDocument/2006/relationships" id="266" r:id="Rb52fffe598e1444a"/>
    <p:sldId xmlns:r="http://schemas.openxmlformats.org/officeDocument/2006/relationships" id="267" r:id="R0343bf8ba0754acb"/>
    <p:sldId xmlns:r="http://schemas.openxmlformats.org/officeDocument/2006/relationships" id="268" r:id="R9722192839af4da3"/>
    <p:sldId xmlns:r="http://schemas.openxmlformats.org/officeDocument/2006/relationships" id="269" r:id="R9d79acb058ba4c72"/>
    <p:sldId xmlns:r="http://schemas.openxmlformats.org/officeDocument/2006/relationships" id="270" r:id="R72bb9823f93e4358"/>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4b5924d1c12b4d52" /><Relationship Type="http://schemas.openxmlformats.org/officeDocument/2006/relationships/theme" Target="/ppt/theme/theme1.xml" Id="Ra621a045256e4f3a" /><Relationship Type="http://schemas.openxmlformats.org/officeDocument/2006/relationships/notesMaster" Target="/ppt/notesMasters/notesMaster1.xml" Id="R3b98ecfa3a9c4c1e" /><Relationship Type="http://schemas.openxmlformats.org/officeDocument/2006/relationships/presProps" Target="/ppt/presProps.xml" Id="R6885a5288ea84029" /><Relationship Type="http://schemas.openxmlformats.org/officeDocument/2006/relationships/viewProps" Target="/ppt/viewProps.xml" Id="Rbdbd70338cc44c70" /><Relationship Type="http://schemas.openxmlformats.org/officeDocument/2006/relationships/tableStyles" Target="/ppt/tableStyles.xml" Id="Rf981ac0019174e98" /><Relationship Type="http://schemas.openxmlformats.org/officeDocument/2006/relationships/slide" Target="/ppt/slides/slide1.xml" Id="Ref4129fb73d94897" /><Relationship Type="http://schemas.openxmlformats.org/officeDocument/2006/relationships/slide" Target="/ppt/slides/slide2.xml" Id="R3128d3659a5745d7" /><Relationship Type="http://schemas.openxmlformats.org/officeDocument/2006/relationships/slide" Target="/ppt/slides/slide3.xml" Id="R033033c9cc3b4013" /><Relationship Type="http://schemas.openxmlformats.org/officeDocument/2006/relationships/slide" Target="/ppt/slides/slide4.xml" Id="Rea3d89b9f2914007" /><Relationship Type="http://schemas.openxmlformats.org/officeDocument/2006/relationships/slide" Target="/ppt/slides/slide5.xml" Id="R1ce6a3c6bfd84f0d" /><Relationship Type="http://schemas.openxmlformats.org/officeDocument/2006/relationships/slide" Target="/ppt/slides/slide6.xml" Id="Rd9f6ca0ee73b41bd" /><Relationship Type="http://schemas.openxmlformats.org/officeDocument/2006/relationships/slide" Target="/ppt/slides/slide7.xml" Id="R4af0671432514837" /><Relationship Type="http://schemas.openxmlformats.org/officeDocument/2006/relationships/slide" Target="/ppt/slides/slide8.xml" Id="R282a1fe7d5a24470" /><Relationship Type="http://schemas.openxmlformats.org/officeDocument/2006/relationships/slide" Target="/ppt/slides/slide9.xml" Id="Rf922168279a649e8" /><Relationship Type="http://schemas.openxmlformats.org/officeDocument/2006/relationships/slide" Target="/ppt/slides/slide10.xml" Id="Re6bbb71a83c040b3" /><Relationship Type="http://schemas.openxmlformats.org/officeDocument/2006/relationships/slide" Target="/ppt/slides/slide11.xml" Id="Rb52fffe598e1444a" /><Relationship Type="http://schemas.openxmlformats.org/officeDocument/2006/relationships/slide" Target="/ppt/slides/slide12.xml" Id="R0343bf8ba0754acb" /><Relationship Type="http://schemas.openxmlformats.org/officeDocument/2006/relationships/slide" Target="/ppt/slides/slide13.xml" Id="R9722192839af4da3" /><Relationship Type="http://schemas.openxmlformats.org/officeDocument/2006/relationships/slide" Target="/ppt/slides/slide14.xml" Id="R9d79acb058ba4c72" /><Relationship Type="http://schemas.openxmlformats.org/officeDocument/2006/relationships/slide" Target="/ppt/slides/slide15.xml" Id="R72bb9823f93e43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058aab2ad6284e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apstoneDark">
  <a:themeElements>
    <a:clrScheme name="CapstoneDark">
      <a:accent1>
        <a:srgbClr val="14A38B"/>
      </a:accent1>
      <a:accent2>
        <a:srgbClr val="E8A020"/>
      </a:accent2>
    </a:clrScheme>
    <a:fontScheme name="Office">
      <a:majorFont>
        <a:latin typeface="Calibri Light"/>
        <a:ea typeface="Calibri Light"/>
        <a:cs typeface="Calibri Light"/>
      </a:majorFont>
      <a:minorFont>
        <a:latin typeface="Calibri"/>
        <a:ea typeface="Calibri"/>
        <a:cs typeface="Calibri"/>
      </a:minorFont>
    </a:fontScheme>
    <a:fmtScheme name="CapstoneDark">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5659d5284314685" /><Relationship Type="http://schemas.openxmlformats.org/officeDocument/2006/relationships/notesMaster" Target="/ppt/notesMasters/notesMaster1.xml" Id="Rfabda6dba2214c0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b09dc6fd8c42e8" /><Relationship Type="http://schemas.openxmlformats.org/officeDocument/2006/relationships/notesMaster" Target="/ppt/notesMasters/notesMaster1.xml" Id="R778a632dcd924e1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47787b14b64aff" /><Relationship Type="http://schemas.openxmlformats.org/officeDocument/2006/relationships/notesMaster" Target="/ppt/notesMasters/notesMaster1.xml" Id="R94bddf58fb9c40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908f1b6b0f44c0" /><Relationship Type="http://schemas.openxmlformats.org/officeDocument/2006/relationships/notesMaster" Target="/ppt/notesMasters/notesMaster1.xml" Id="Rc556ef619ab647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deb46627cf841cf" /><Relationship Type="http://schemas.openxmlformats.org/officeDocument/2006/relationships/notesMaster" Target="/ppt/notesMasters/notesMaster1.xml" Id="Rf7e16cdb33694a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737081b9644c97" /><Relationship Type="http://schemas.openxmlformats.org/officeDocument/2006/relationships/notesMaster" Target="/ppt/notesMasters/notesMaster1.xml" Id="Rd26b490ce72446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2ae41d293a4ac7" /><Relationship Type="http://schemas.openxmlformats.org/officeDocument/2006/relationships/notesMaster" Target="/ppt/notesMasters/notesMaster1.xml" Id="R511f78f95c384a5f"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d0c2a30dac4fb7" /><Relationship Type="http://schemas.openxmlformats.org/officeDocument/2006/relationships/notesMaster" Target="/ppt/notesMasters/notesMaster1.xml" Id="R225c3c59dfda4582"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f6b4eea4444309" /><Relationship Type="http://schemas.openxmlformats.org/officeDocument/2006/relationships/notesMaster" Target="/ppt/notesMasters/notesMaster1.xml" Id="Rd78daa452c6847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8407ac3fb7a43a7" /><Relationship Type="http://schemas.openxmlformats.org/officeDocument/2006/relationships/notesMaster" Target="/ppt/notesMasters/notesMaster1.xml" Id="R69c9e8bd01ac46b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cc88ae0a1c4e1c" /><Relationship Type="http://schemas.openxmlformats.org/officeDocument/2006/relationships/notesMaster" Target="/ppt/notesMasters/notesMaster1.xml" Id="Rb7cee5c5a1c643a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3ed9fa80694ee9" /><Relationship Type="http://schemas.openxmlformats.org/officeDocument/2006/relationships/notesMaster" Target="/ppt/notesMasters/notesMaster1.xml" Id="R32945fa7ca1f4e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decb7278cb249cb" /><Relationship Type="http://schemas.openxmlformats.org/officeDocument/2006/relationships/notesMaster" Target="/ppt/notesMasters/notesMaster1.xml" Id="R53b89bc7a56340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e32cd68fa884fa7" /><Relationship Type="http://schemas.openxmlformats.org/officeDocument/2006/relationships/notesMaster" Target="/ppt/notesMasters/notesMaster1.xml" Id="Rb1ea3f143cb549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31b10cf71b4be4" /><Relationship Type="http://schemas.openxmlformats.org/officeDocument/2006/relationships/notesMaster" Target="/ppt/notesMasters/notesMaster1.xml" Id="R3756e0c05b1a404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the draftTwo split requested by research stage. Each person owns a complete 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 until this point, we have discussed the problem, the data sources, and the feature engineering process.</a:t>
            </a:r>
          </a:p>
          <a:p xmlns:a="http://schemas.openxmlformats.org/drawingml/2006/main">
            <a:r>
              <a:t/>
            </a:r>
          </a:p>
          <a:p xmlns:a="http://schemas.openxmlformats.org/drawingml/2006/main">
            <a:r>
              <a:t>My part focuses on the first major prediction task in the project, which we call NOW prediction.</a:t>
            </a:r>
          </a:p>
          <a:p xmlns:a="http://schemas.openxmlformats.org/drawingml/2006/main">
            <a:r>
              <a:t/>
            </a:r>
          </a:p>
          <a:p xmlns:a="http://schemas.openxmlformats.org/drawingml/2006/main">
            <a:r>
              <a:t>The goal of NOW prediction is to estimate the current PM2.5 pollution level at a location where no air-quality sensor exists.</a:t>
            </a:r>
          </a:p>
          <a:p xmlns:a="http://schemas.openxmlformats.org/drawingml/2006/main">
            <a:r>
              <a:t/>
            </a:r>
          </a:p>
          <a:p xmlns:a="http://schemas.openxmlformats.org/drawingml/2006/main">
            <a:r>
              <a:t>At first glance, predicting pollution might seem straightforward. We have weather information, location information, and historical measurements. However, there is a major challenge.</a:t>
            </a:r>
          </a:p>
          <a:p xmlns:a="http://schemas.openxmlformats.org/drawingml/2006/main">
            <a:r>
              <a:t/>
            </a:r>
          </a:p>
          <a:p xmlns:a="http://schemas.openxmlformats.org/drawingml/2006/main">
            <a:r>
              <a:t>Most machine learning projects use a random train-test split. The problem is that a random split allows the model to train and test on data from the same monitoring sites. This can produce overly optimistic results.</a:t>
            </a:r>
          </a:p>
          <a:p xmlns:a="http://schemas.openxmlformats.org/drawingml/2006/main">
            <a:r>
              <a:t/>
            </a:r>
          </a:p>
          <a:p xmlns:a="http://schemas.openxmlformats.org/drawingml/2006/main">
            <a:r>
              <a:t>In reality, if we deploy the model, we want to predict pollution at a completely new location. To simulate this real-world scenario, the project uses a much stricter validation approach called Leave-Sites-Out validation. This means that entire monitoring sites are removed from training and only used for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biggest contribution of the NOW model is the idea of site categorization.</a:t>
            </a:r>
          </a:p>
          <a:p xmlns:a="http://schemas.openxmlformats.org/drawingml/2006/main">
            <a:r>
              <a:t/>
            </a:r>
          </a:p>
          <a:p xmlns:a="http://schemas.openxmlformats.org/drawingml/2006/main">
            <a:r>
              <a:t>We observed that not all monitoring locations behave the same way. Some sites consistently have low pollution levels. Others are heavily affected by traffic or urban activity. Others experience large fluctuations throughout the year.</a:t>
            </a:r>
          </a:p>
          <a:p xmlns:a="http://schemas.openxmlformats.org/drawingml/2006/main">
            <a:r>
              <a:t/>
            </a:r>
          </a:p>
          <a:p xmlns:a="http://schemas.openxmlformats.org/drawingml/2006/main">
            <a:r>
              <a:t>Instead of treating all sites identically, the project first groups sites into behavioral categories, or pollution regimes.</a:t>
            </a:r>
          </a:p>
          <a:p xmlns:a="http://schemas.openxmlformats.org/drawingml/2006/main">
            <a:r>
              <a:t/>
            </a:r>
          </a:p>
          <a:p xmlns:a="http://schemas.openxmlformats.org/drawingml/2006/main">
            <a:r>
              <a:t>To create these categories, the system analyzes characteristics such as average PM2.5 levels, pollution variability, seasonal behavior, and weather conditions.</a:t>
            </a:r>
          </a:p>
          <a:p xmlns:a="http://schemas.openxmlformats.org/drawingml/2006/main">
            <a:r>
              <a:t/>
            </a:r>
          </a:p>
          <a:p xmlns:a="http://schemas.openxmlformats.org/drawingml/2006/main">
            <a:r>
              <a:t>Initially, the project used four categories, known as k=4 categorization. During the improvement audit, we investigated a more detailed six-category approach, called k=6 categorization.</a:t>
            </a:r>
          </a:p>
          <a:p xmlns:a="http://schemas.openxmlformats.org/drawingml/2006/main">
            <a:r>
              <a:t/>
            </a:r>
          </a:p>
          <a:p xmlns:a="http://schemas.openxmlformats.org/drawingml/2006/main">
            <a:r>
              <a:t>The results showed that k=6 captured meaningful pollution regimes and sometimes achieved higher scores. However, it was also more fragile, with some categories containing only a few sites.</a:t>
            </a:r>
          </a:p>
          <a:p xmlns:a="http://schemas.openxmlformats.org/drawingml/2006/main">
            <a:r>
              <a:t/>
            </a:r>
          </a:p>
          <a:p xmlns:a="http://schemas.openxmlformats.org/drawingml/2006/main">
            <a:r>
              <a:t>Most importantly, the strongest k=6 results required information that would not be available for a truly new site. Therefore, although k=6 remains an interesting research direction, the accepted production model remains k=4.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site category is assigned, the model combines that information with other features such as weather data, geographic location, calendar information, and external geospatial features.</a:t>
            </a:r>
          </a:p>
          <a:p xmlns:a="http://schemas.openxmlformats.org/drawingml/2006/main">
            <a:r>
              <a:t/>
            </a:r>
          </a:p>
          <a:p xmlns:a="http://schemas.openxmlformats.org/drawingml/2006/main">
            <a:r>
              <a:t>The project tested several modeling approaches, including XGBoost, Random Forest, LightGBM, and CatBoost.</a:t>
            </a:r>
          </a:p>
          <a:p xmlns:a="http://schemas.openxmlformats.org/drawingml/2006/main">
            <a:r>
              <a:t/>
            </a:r>
          </a:p>
          <a:p xmlns:a="http://schemas.openxmlformats.org/drawingml/2006/main">
            <a:r>
              <a:t>One important finding was that feature engineering and site categorization contributed more to performance than simply switching machine learning algorithms. In other words, understanding the behavior of locations was more important than choosing a different model.</a:t>
            </a:r>
          </a:p>
          <a:p xmlns:a="http://schemas.openxmlformats.org/drawingml/2006/main">
            <a:r>
              <a:t/>
            </a:r>
          </a:p>
          <a:p xmlns:a="http://schemas.openxmlformats.org/drawingml/2006/main">
            <a:r>
              <a:t>After predicting PM2.5, the system converts the prediction into a safety category. Instead of focusing only on an exact pollution value, the model also provides operational safety levels: Elevated, High, and Dangerous.</a:t>
            </a:r>
          </a:p>
          <a:p xmlns:a="http://schemas.openxmlformats.org/drawingml/2006/main">
            <a:r>
              <a:t/>
            </a:r>
          </a:p>
          <a:p xmlns:a="http://schemas.openxmlformats.org/drawingml/2006/main">
            <a:r>
              <a:t>This makes the output easier to interpret for planners and decision makers. The project also evaluated safety-tier accuracy and dangerous-day detection, since these are often more useful in practice than a small improvement in regression accuracy.</a:t>
            </a:r>
          </a:p>
          <a:p xmlns:a="http://schemas.openxmlformats.org/drawingml/2006/main">
            <a:r>
              <a:t/>
            </a:r>
          </a:p>
          <a:p xmlns:a="http://schemas.openxmlformats.org/drawingml/2006/main">
            <a:r>
              <a:t>To summarize, the NOW prediction task focuses on estimating pollution at locations without sensors. The project's main contribution is the introduction of site categorization, which allows the model to learn different pollution regimes across Kampala.</a:t>
            </a:r>
          </a:p>
          <a:p xmlns:a="http://schemas.openxmlformats.org/drawingml/2006/main">
            <a:r>
              <a:t/>
            </a:r>
          </a:p>
          <a:p xmlns:a="http://schemas.openxmlformats.org/drawingml/2006/main">
            <a:r>
              <a:t>Although more complex categorization strategies were explored, the final recommendation remains the k=4 approach because it provides the best balance between performance, robustness, and deployability.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7a679434cf4390"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82C2F163-2F2F-4A43-9D50-697B5C351AD7}"/>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5F6CE14D-A42F-4FD3-AA87-81CB9EA81241}"/>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C205492E-FEE6-40CC-9468-5D5B7A7F72CD}"/>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48F930C6-2C57-4B72-A9CA-D95892532720}"/>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C918E388-860F-4F82-9374-E82070A9017C}"/>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a8cb94289dec4204" /><Relationship Type="http://schemas.openxmlformats.org/officeDocument/2006/relationships/slideLayout" Target="/ppt/slideLayouts/slideLayout2.xml" Id="Rb38d12d2b0f04b8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D0CF0D7C-8466-432F-8BD5-C831E4084686}"/>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8d12d2b0f04b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ca61794b107848a2" /><Relationship Type="http://schemas.openxmlformats.org/officeDocument/2006/relationships/notesSlide" Target="/ppt/notesSlides/notesSlide1.xml" Id="Re0409b75bade4b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31c456acb49a4010" /><Relationship Type="http://schemas.openxmlformats.org/officeDocument/2006/relationships/notesSlide" Target="/ppt/notesSlides/notesSlide2.xml" Id="R21323edce1684d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2f36fb813f9d4d1e" /><Relationship Type="http://schemas.openxmlformats.org/officeDocument/2006/relationships/notesSlide" Target="/ppt/notesSlides/notesSlide3.xml" Id="Rf805ef1e6b1740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0654a73f676d432e" /><Relationship Type="http://schemas.openxmlformats.org/officeDocument/2006/relationships/notesSlide" Target="/ppt/notesSlides/notesSlide4.xml" Id="R0b3f466cc4e84a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7ee8b7345f44ee4" /><Relationship Type="http://schemas.openxmlformats.org/officeDocument/2006/relationships/notesSlide" Target="/ppt/notesSlides/notesSlide5.xml" Id="R2e7bf5147db64b37"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6f55dc0998174148" /><Relationship Type="http://schemas.openxmlformats.org/officeDocument/2006/relationships/notesSlide" Target="/ppt/notesSlides/notesSlide6.xml" Id="Ra2df6cf56e164a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692ce36c3494cae" /><Relationship Type="http://schemas.openxmlformats.org/officeDocument/2006/relationships/notesSlide" Target="/ppt/notesSlides/notesSlide7.xml" Id="R6ebe59a19f4440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75c0801b6ff34a13" /><Relationship Type="http://schemas.openxmlformats.org/officeDocument/2006/relationships/notesSlide" Target="/ppt/notesSlides/notesSlide8.xml" Id="R73366fd8817b496e"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a464c3f623a64f32" /><Relationship Type="http://schemas.openxmlformats.org/officeDocument/2006/relationships/image" Target="/ppt/media/image.png" Id="Rd914d434606449e4" /><Relationship Type="http://schemas.openxmlformats.org/officeDocument/2006/relationships/notesSlide" Target="/ppt/notesSlides/notesSlide9.xml" Id="Rebaed446b064433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58d727d83042479b" /><Relationship Type="http://schemas.openxmlformats.org/officeDocument/2006/relationships/image" Target="/ppt/media/image2.png" Id="Rba2aca5719ff47d6" /><Relationship Type="http://schemas.openxmlformats.org/officeDocument/2006/relationships/notesSlide" Target="/ppt/notesSlides/notesSlide10.xml" Id="Ref16644d2d7d49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093c4da1b44d479c" /><Relationship Type="http://schemas.openxmlformats.org/officeDocument/2006/relationships/notesSlide" Target="/ppt/notesSlides/notesSlide11.xml" Id="Re1ced29b60284f0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487a39a90acf49a6" /><Relationship Type="http://schemas.openxmlformats.org/officeDocument/2006/relationships/image" Target="/ppt/media/image3.png" Id="R638460df61244fc7" /><Relationship Type="http://schemas.openxmlformats.org/officeDocument/2006/relationships/notesSlide" Target="/ppt/notesSlides/notesSlide12.xml" Id="R3fc74461a7ce4a1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c50fe19233d74e31" /><Relationship Type="http://schemas.openxmlformats.org/officeDocument/2006/relationships/image" Target="/ppt/media/image4.png" Id="R7b104426905b4886" /><Relationship Type="http://schemas.openxmlformats.org/officeDocument/2006/relationships/notesSlide" Target="/ppt/notesSlides/notesSlide13.xml" Id="Rdb88e110ed5f428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ba64821fb7d1443c" /><Relationship Type="http://schemas.openxmlformats.org/officeDocument/2006/relationships/image" Target="/ppt/media/image5.png" Id="R0005938250bc4d39" /><Relationship Type="http://schemas.openxmlformats.org/officeDocument/2006/relationships/notesSlide" Target="/ppt/notesSlides/notesSlide14.xml" Id="R389cdd2dc52b432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a67dae5f6b4445c8" /><Relationship Type="http://schemas.openxmlformats.org/officeDocument/2006/relationships/notesSlide" Target="/ppt/notesSlides/notesSlide15.xml" Id="R00c8d21aafa34534" /></Relationships>
</file>

<file path=ppt/slides/slide1.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BCC17F91-30DF-4923-9305-C54670CBC94A}"/>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DFE08162-30A6-4B88-BE0B-83C0ED00CF5D}"/>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B45FB60D-A371-4EBD-BB13-90BD7D875154}"/>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7A44F986-2544-400A-B5AB-2607F17BB7E9}"/>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draftTwo</a:t>
            </a:r>
          </a:p>
        </p:txBody>
      </p:sp>
      <p:sp>
        <p:nvSpPr>
          <p:cNvPr id="6" name="">
            <a:extLst xmlns:a="http://schemas.openxmlformats.org/drawingml/2006/main">
              <a:ext uri="{FF2B5EF4-FFF2-40B4-BE49-F238E27FC236}">
                <a16:creationId xmlns:a16="http://schemas.microsoft.com/office/drawing/2014/main" id="{7A3DC7A8-E3F3-46BA-9AB3-061A3A461F58}"/>
              </a:ext>
            </a:extLst>
          </p:cNvPr>
          <p:cNvSpPr>
            <a:spLocks xmlns:a="http://schemas.openxmlformats.org/drawingml/2006/main" noGrp="1"/>
          </p:cNvSpPr>
          <p:nvPr/>
        </p:nvSpPr>
        <p:spPr>
          <a:xfrm xmlns:a="http://schemas.openxmlformats.org/drawingml/2006/main">
            <a:off x="628650" y="1200150"/>
            <a:ext cx="7239000" cy="571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E8F0EE"/>
                </a:solidFill>
              </a:defRPr>
            </a:pPr>
            <a:r>
              <a:rPr sz="3300" b="1">
                <a:solidFill>
                  <a:srgbClr val="E8F0EE"/>
                </a:solidFill>
              </a:rPr>
              <a:t>Kampala PM2.5 Defense Split</a:t>
            </a:r>
          </a:p>
        </p:txBody>
      </p:sp>
      <p:sp>
        <p:nvSpPr>
          <p:cNvPr id="7" name="">
            <a:extLst xmlns:a="http://schemas.openxmlformats.org/drawingml/2006/main">
              <a:ext uri="{FF2B5EF4-FFF2-40B4-BE49-F238E27FC236}">
                <a16:creationId xmlns:a16="http://schemas.microsoft.com/office/drawing/2014/main" id="{3E7D6D54-5B40-473E-9C13-BAD0D0FA4889}"/>
              </a:ext>
            </a:extLst>
          </p:cNvPr>
          <p:cNvSpPr>
            <a:spLocks xmlns:a="http://schemas.openxmlformats.org/drawingml/2006/main" noGrp="1"/>
          </p:cNvSpPr>
          <p:nvPr/>
        </p:nvSpPr>
        <p:spPr>
          <a:xfrm xmlns:a="http://schemas.openxmlformats.org/drawingml/2006/main">
            <a:off x="666750" y="1866900"/>
            <a:ext cx="78105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9FB3BE"/>
                </a:solidFill>
              </a:defRPr>
            </a:pPr>
            <a:r>
              <a:rPr sz="1650" b="0">
                <a:solidFill>
                  <a:srgbClr val="9FB3BE"/>
                </a:solidFill>
              </a:rPr>
              <a:t>Five presenters · one coherent research story · honest model decisions</a:t>
            </a:r>
          </a:p>
        </p:txBody>
      </p:sp>
      <p:sp>
        <p:nvSpPr>
          <p:cNvPr id="8" name="">
            <a:extLst xmlns:a="http://schemas.openxmlformats.org/drawingml/2006/main">
              <a:ext uri="{FF2B5EF4-FFF2-40B4-BE49-F238E27FC236}">
                <a16:creationId xmlns:a16="http://schemas.microsoft.com/office/drawing/2014/main" id="{92601AD0-72A0-4B6D-9409-E4B41BCC856B}"/>
              </a:ext>
            </a:extLst>
          </p:cNvPr>
          <p:cNvSpPr>
            <a:spLocks xmlns:a="http://schemas.openxmlformats.org/drawingml/2006/main" noGrp="1"/>
          </p:cNvSpPr>
          <p:nvPr/>
        </p:nvSpPr>
        <p:spPr>
          <a:xfrm xmlns:a="http://schemas.openxmlformats.org/drawingml/2006/main">
            <a:off x="666750" y="2667000"/>
            <a:ext cx="4191000" cy="323850"/>
          </a:xfrm>
          <a:prstGeom xmlns:a="http://schemas.openxmlformats.org/drawingml/2006/main" prst="roundRect">
            <a:avLst>
              <a:gd name="adj" fmla="val 16667"/>
            </a:avLst>
          </a:prstGeom>
          <a:solidFill xmlns:a="http://schemas.openxmlformats.org/drawingml/2006/main">
            <a:srgbClr val="14A38B"/>
          </a:solidFill>
          <a:ln xmlns:a="http://schemas.openxmlformats.org/drawingml/2006/main" w="0">
            <a:solidFill>
              <a:srgbClr val="14A38B"/>
            </a:solidFill>
          </a:ln>
        </p:spPr>
        <p:txBody>
          <a:bodyPr xmlns:a="http://schemas.openxmlformats.org/drawingml/2006/main" anchor="ctr"/>
          <a:lstStyle xmlns:a="http://schemas.openxmlformats.org/drawingml/2006/main"/>
          <a:p xmlns:a="http://schemas.openxmlformats.org/drawingml/2006/main">
            <a:pPr algn="ctr">
              <a:defRPr sz="1050" b="1">
                <a:solidFill>
                  <a:srgbClr val="06241F"/>
                </a:solidFill>
              </a:defRPr>
            </a:pPr>
            <a:r>
              <a:rPr sz="1050" b="1">
                <a:solidFill>
                  <a:srgbClr val="06241F"/>
                </a:solidFill>
              </a:rPr>
              <a:t>Problem → Features → NOW → FUTURE → Audit</a:t>
            </a:r>
          </a:p>
        </p:txBody>
      </p:sp>
      <p:sp>
        <p:nvSpPr>
          <p:cNvPr id="9" name="">
            <a:extLst xmlns:a="http://schemas.openxmlformats.org/drawingml/2006/main">
              <a:ext uri="{FF2B5EF4-FFF2-40B4-BE49-F238E27FC236}">
                <a16:creationId xmlns:a16="http://schemas.microsoft.com/office/drawing/2014/main" id="{68F70A41-C073-48D3-A701-2CF7A2C49E4E}"/>
              </a:ext>
            </a:extLst>
          </p:cNvPr>
          <p:cNvSpPr>
            <a:spLocks xmlns:a="http://schemas.openxmlformats.org/drawingml/2006/main" noGrp="1"/>
          </p:cNvSpPr>
          <p:nvPr/>
        </p:nvSpPr>
        <p:spPr>
          <a:xfrm xmlns:a="http://schemas.openxmlformats.org/drawingml/2006/main">
            <a:off x="762000" y="4000500"/>
            <a:ext cx="171450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0" name="">
            <a:extLst xmlns:a="http://schemas.openxmlformats.org/drawingml/2006/main">
              <a:ext uri="{FF2B5EF4-FFF2-40B4-BE49-F238E27FC236}">
                <a16:creationId xmlns:a16="http://schemas.microsoft.com/office/drawing/2014/main" id="{6DAA24AC-F05B-42A6-8408-610F38B5EAE1}"/>
              </a:ext>
            </a:extLst>
          </p:cNvPr>
          <p:cNvSpPr>
            <a:spLocks xmlns:a="http://schemas.openxmlformats.org/drawingml/2006/main" noGrp="1"/>
          </p:cNvSpPr>
          <p:nvPr/>
        </p:nvSpPr>
        <p:spPr>
          <a:xfrm xmlns:a="http://schemas.openxmlformats.org/drawingml/2006/main">
            <a:off x="876300" y="4143375"/>
            <a:ext cx="14859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8A020"/>
                </a:solidFill>
              </a:defRPr>
            </a:pPr>
            <a:r>
              <a:rPr sz="2175" b="1">
                <a:solidFill>
                  <a:srgbClr val="E8A020"/>
                </a:solidFill>
              </a:rPr>
              <a:t>25 min</a:t>
            </a:r>
          </a:p>
        </p:txBody>
      </p:sp>
      <p:sp>
        <p:nvSpPr>
          <p:cNvPr id="11" name="">
            <a:extLst xmlns:a="http://schemas.openxmlformats.org/drawingml/2006/main">
              <a:ext uri="{FF2B5EF4-FFF2-40B4-BE49-F238E27FC236}">
                <a16:creationId xmlns:a16="http://schemas.microsoft.com/office/drawing/2014/main" id="{69EBFC7E-A386-49E5-A73E-CCF57DA0465C}"/>
              </a:ext>
            </a:extLst>
          </p:cNvPr>
          <p:cNvSpPr>
            <a:spLocks xmlns:a="http://schemas.openxmlformats.org/drawingml/2006/main" noGrp="1"/>
          </p:cNvSpPr>
          <p:nvPr/>
        </p:nvSpPr>
        <p:spPr>
          <a:xfrm xmlns:a="http://schemas.openxmlformats.org/drawingml/2006/main">
            <a:off x="895350" y="4591050"/>
            <a:ext cx="1447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total presentation</a:t>
            </a:r>
          </a:p>
        </p:txBody>
      </p:sp>
      <p:sp>
        <p:nvSpPr>
          <p:cNvPr id="12" name="">
            <a:extLst xmlns:a="http://schemas.openxmlformats.org/drawingml/2006/main">
              <a:ext uri="{FF2B5EF4-FFF2-40B4-BE49-F238E27FC236}">
                <a16:creationId xmlns:a16="http://schemas.microsoft.com/office/drawing/2014/main" id="{CA678F25-DB18-410A-8EC5-49D15A11740F}"/>
              </a:ext>
            </a:extLst>
          </p:cNvPr>
          <p:cNvSpPr>
            <a:spLocks xmlns:a="http://schemas.openxmlformats.org/drawingml/2006/main" noGrp="1"/>
          </p:cNvSpPr>
          <p:nvPr/>
        </p:nvSpPr>
        <p:spPr>
          <a:xfrm xmlns:a="http://schemas.openxmlformats.org/drawingml/2006/main">
            <a:off x="2781300" y="4000500"/>
            <a:ext cx="2190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7BCD97F3-A13F-4F1E-8456-8AAC6348651F}"/>
              </a:ext>
            </a:extLst>
          </p:cNvPr>
          <p:cNvSpPr>
            <a:spLocks xmlns:a="http://schemas.openxmlformats.org/drawingml/2006/main" noGrp="1"/>
          </p:cNvSpPr>
          <p:nvPr/>
        </p:nvSpPr>
        <p:spPr>
          <a:xfrm xmlns:a="http://schemas.openxmlformats.org/drawingml/2006/main">
            <a:off x="2895600" y="4143375"/>
            <a:ext cx="1962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14A38B"/>
                </a:solidFill>
              </a:defRPr>
            </a:pPr>
            <a:r>
              <a:rPr sz="2175" b="1">
                <a:solidFill>
                  <a:srgbClr val="14A38B"/>
                </a:solidFill>
              </a:rPr>
              <a:t>5 × 5</a:t>
            </a:r>
          </a:p>
        </p:txBody>
      </p:sp>
      <p:sp>
        <p:nvSpPr>
          <p:cNvPr id="14" name="">
            <a:extLst xmlns:a="http://schemas.openxmlformats.org/drawingml/2006/main">
              <a:ext uri="{FF2B5EF4-FFF2-40B4-BE49-F238E27FC236}">
                <a16:creationId xmlns:a16="http://schemas.microsoft.com/office/drawing/2014/main" id="{67EA0EDB-C2D5-4CC3-9653-55E1B0DE4B3C}"/>
              </a:ext>
            </a:extLst>
          </p:cNvPr>
          <p:cNvSpPr>
            <a:spLocks xmlns:a="http://schemas.openxmlformats.org/drawingml/2006/main" noGrp="1"/>
          </p:cNvSpPr>
          <p:nvPr/>
        </p:nvSpPr>
        <p:spPr>
          <a:xfrm xmlns:a="http://schemas.openxmlformats.org/drawingml/2006/main">
            <a:off x="2914650" y="4591050"/>
            <a:ext cx="1924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five people, five minutes</a:t>
            </a:r>
          </a:p>
        </p:txBody>
      </p:sp>
      <p:sp>
        <p:nvSpPr>
          <p:cNvPr id="15" name="">
            <a:extLst xmlns:a="http://schemas.openxmlformats.org/drawingml/2006/main">
              <a:ext uri="{FF2B5EF4-FFF2-40B4-BE49-F238E27FC236}">
                <a16:creationId xmlns:a16="http://schemas.microsoft.com/office/drawing/2014/main" id="{65FCE47E-03DF-41AC-BA91-6764E86E8269}"/>
              </a:ext>
            </a:extLst>
          </p:cNvPr>
          <p:cNvSpPr>
            <a:spLocks xmlns:a="http://schemas.openxmlformats.org/drawingml/2006/main" noGrp="1"/>
          </p:cNvSpPr>
          <p:nvPr/>
        </p:nvSpPr>
        <p:spPr>
          <a:xfrm xmlns:a="http://schemas.openxmlformats.org/drawingml/2006/main">
            <a:off x="5276850" y="4000500"/>
            <a:ext cx="20002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6" name="">
            <a:extLst xmlns:a="http://schemas.openxmlformats.org/drawingml/2006/main">
              <a:ext uri="{FF2B5EF4-FFF2-40B4-BE49-F238E27FC236}">
                <a16:creationId xmlns:a16="http://schemas.microsoft.com/office/drawing/2014/main" id="{DE25C580-76B9-476F-B854-82B613A78EE8}"/>
              </a:ext>
            </a:extLst>
          </p:cNvPr>
          <p:cNvSpPr>
            <a:spLocks xmlns:a="http://schemas.openxmlformats.org/drawingml/2006/main" noGrp="1"/>
          </p:cNvSpPr>
          <p:nvPr/>
        </p:nvSpPr>
        <p:spPr>
          <a:xfrm xmlns:a="http://schemas.openxmlformats.org/drawingml/2006/main">
            <a:off x="5391150" y="4143375"/>
            <a:ext cx="17716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k=4</a:t>
            </a:r>
          </a:p>
        </p:txBody>
      </p:sp>
      <p:sp>
        <p:nvSpPr>
          <p:cNvPr id="17" name="">
            <a:extLst xmlns:a="http://schemas.openxmlformats.org/drawingml/2006/main">
              <a:ext uri="{FF2B5EF4-FFF2-40B4-BE49-F238E27FC236}">
                <a16:creationId xmlns:a16="http://schemas.microsoft.com/office/drawing/2014/main" id="{E5DBFB8F-D280-403A-BE13-8B2FB46C0C88}"/>
              </a:ext>
            </a:extLst>
          </p:cNvPr>
          <p:cNvSpPr>
            <a:spLocks xmlns:a="http://schemas.openxmlformats.org/drawingml/2006/main" noGrp="1"/>
          </p:cNvSpPr>
          <p:nvPr/>
        </p:nvSpPr>
        <p:spPr>
          <a:xfrm xmlns:a="http://schemas.openxmlformats.org/drawingml/2006/main">
            <a:off x="5410200" y="4591050"/>
            <a:ext cx="1733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accepted NOW / safety</a:t>
            </a:r>
          </a:p>
        </p:txBody>
      </p:sp>
      <p:sp>
        <p:nvSpPr>
          <p:cNvPr id="18" name="">
            <a:extLst xmlns:a="http://schemas.openxmlformats.org/drawingml/2006/main">
              <a:ext uri="{FF2B5EF4-FFF2-40B4-BE49-F238E27FC236}">
                <a16:creationId xmlns:a16="http://schemas.microsoft.com/office/drawing/2014/main" id="{C807D17F-7167-4F7F-B46A-5C906151DB8A}"/>
              </a:ext>
            </a:extLst>
          </p:cNvPr>
          <p:cNvSpPr>
            <a:spLocks xmlns:a="http://schemas.openxmlformats.org/drawingml/2006/main" noGrp="1"/>
          </p:cNvSpPr>
          <p:nvPr/>
        </p:nvSpPr>
        <p:spPr>
          <a:xfrm xmlns:a="http://schemas.openxmlformats.org/drawingml/2006/main">
            <a:off x="7581900" y="4000500"/>
            <a:ext cx="228600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9" name="">
            <a:extLst xmlns:a="http://schemas.openxmlformats.org/drawingml/2006/main">
              <a:ext uri="{FF2B5EF4-FFF2-40B4-BE49-F238E27FC236}">
                <a16:creationId xmlns:a16="http://schemas.microsoft.com/office/drawing/2014/main" id="{2955F725-5A40-4023-8726-7396E484FF2B}"/>
              </a:ext>
            </a:extLst>
          </p:cNvPr>
          <p:cNvSpPr>
            <a:spLocks xmlns:a="http://schemas.openxmlformats.org/drawingml/2006/main" noGrp="1"/>
          </p:cNvSpPr>
          <p:nvPr/>
        </p:nvSpPr>
        <p:spPr>
          <a:xfrm xmlns:a="http://schemas.openxmlformats.org/drawingml/2006/main">
            <a:off x="7696200" y="4143375"/>
            <a:ext cx="20574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LSTM</a:t>
            </a:r>
          </a:p>
        </p:txBody>
      </p:sp>
      <p:sp>
        <p:nvSpPr>
          <p:cNvPr id="20" name="">
            <a:extLst xmlns:a="http://schemas.openxmlformats.org/drawingml/2006/main">
              <a:ext uri="{FF2B5EF4-FFF2-40B4-BE49-F238E27FC236}">
                <a16:creationId xmlns:a16="http://schemas.microsoft.com/office/drawing/2014/main" id="{B9C55ECD-7DB0-43EA-A0A4-0EC92051BCBC}"/>
              </a:ext>
            </a:extLst>
          </p:cNvPr>
          <p:cNvSpPr>
            <a:spLocks xmlns:a="http://schemas.openxmlformats.org/drawingml/2006/main" noGrp="1"/>
          </p:cNvSpPr>
          <p:nvPr/>
        </p:nvSpPr>
        <p:spPr>
          <a:xfrm xmlns:a="http://schemas.openxmlformats.org/drawingml/2006/main">
            <a:off x="7715250" y="4591050"/>
            <a:ext cx="20193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accepted FUTURE headline</a:t>
            </a:r>
          </a:p>
        </p:txBody>
      </p:sp>
      <p:sp>
        <p:nvSpPr>
          <p:cNvPr id="21" name="">
            <a:extLst xmlns:a="http://schemas.openxmlformats.org/drawingml/2006/main">
              <a:ext uri="{FF2B5EF4-FFF2-40B4-BE49-F238E27FC236}">
                <a16:creationId xmlns:a16="http://schemas.microsoft.com/office/drawing/2014/main" id="{18CB7CBF-B5AA-4F34-809D-8C517C6A5DE8}"/>
              </a:ext>
            </a:extLst>
          </p:cNvPr>
          <p:cNvSpPr>
            <a:spLocks xmlns:a="http://schemas.openxmlformats.org/drawingml/2006/main" noGrp="1"/>
          </p:cNvSpPr>
          <p:nvPr/>
        </p:nvSpPr>
        <p:spPr>
          <a:xfrm xmlns:a="http://schemas.openxmlformats.org/drawingml/2006/main">
            <a:off x="9191625" y="1200150"/>
            <a:ext cx="2190750" cy="21336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2" name="">
            <a:extLst xmlns:a="http://schemas.openxmlformats.org/drawingml/2006/main">
              <a:ext uri="{FF2B5EF4-FFF2-40B4-BE49-F238E27FC236}">
                <a16:creationId xmlns:a16="http://schemas.microsoft.com/office/drawing/2014/main" id="{AB7104E9-E33D-4F94-B63F-C8EA25BA3603}"/>
              </a:ext>
            </a:extLst>
          </p:cNvPr>
          <p:cNvSpPr>
            <a:spLocks xmlns:a="http://schemas.openxmlformats.org/drawingml/2006/main" noGrp="1"/>
          </p:cNvSpPr>
          <p:nvPr/>
        </p:nvSpPr>
        <p:spPr>
          <a:xfrm xmlns:a="http://schemas.openxmlformats.org/drawingml/2006/main">
            <a:off x="9191625" y="1200150"/>
            <a:ext cx="47625" cy="213360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23" name="">
            <a:extLst xmlns:a="http://schemas.openxmlformats.org/drawingml/2006/main">
              <a:ext uri="{FF2B5EF4-FFF2-40B4-BE49-F238E27FC236}">
                <a16:creationId xmlns:a16="http://schemas.microsoft.com/office/drawing/2014/main" id="{D57A3DF4-F4A7-43C6-825D-62544827B3EB}"/>
              </a:ext>
            </a:extLst>
          </p:cNvPr>
          <p:cNvSpPr>
            <a:spLocks xmlns:a="http://schemas.openxmlformats.org/drawingml/2006/main" noGrp="1"/>
          </p:cNvSpPr>
          <p:nvPr/>
        </p:nvSpPr>
        <p:spPr>
          <a:xfrm xmlns:a="http://schemas.openxmlformats.org/drawingml/2006/main">
            <a:off x="9401175" y="1333500"/>
            <a:ext cx="17716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Opening line</a:t>
            </a:r>
          </a:p>
        </p:txBody>
      </p:sp>
      <p:sp>
        <p:nvSpPr>
          <p:cNvPr id="24" name="">
            <a:extLst xmlns:a="http://schemas.openxmlformats.org/drawingml/2006/main">
              <a:ext uri="{FF2B5EF4-FFF2-40B4-BE49-F238E27FC236}">
                <a16:creationId xmlns:a16="http://schemas.microsoft.com/office/drawing/2014/main" id="{1AD4E698-AC7A-49E7-8906-FE13B5DBDA33}"/>
              </a:ext>
            </a:extLst>
          </p:cNvPr>
          <p:cNvSpPr>
            <a:spLocks xmlns:a="http://schemas.openxmlformats.org/drawingml/2006/main" noGrp="1"/>
          </p:cNvSpPr>
          <p:nvPr/>
        </p:nvSpPr>
        <p:spPr>
          <a:xfrm xmlns:a="http://schemas.openxmlformats.org/drawingml/2006/main">
            <a:off x="9401175" y="1657350"/>
            <a:ext cx="1771650" cy="1600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The project is not just a PM2.5 model. It is an honest test of whether cheap data can support planning decisions at places without dense sensors.</a:t>
            </a:r>
          </a:p>
        </p:txBody>
      </p:sp>
    </p:spTree>
    <p:extLst>
      <p:ext uri="{BB962C8B-B14F-4D97-AF65-F5344CB8AC3E}">
        <p14:creationId xmlns:p14="http://schemas.microsoft.com/office/powerpoint/2010/main" val="115119116"/>
      </p:ext>
    </p:extLst>
  </p:cSld>
</p:sld>
</file>

<file path=ppt/slides/slide2.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56A70D3B-BA9D-438A-95B5-C6C2C51AD1D4}"/>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C76C7C51-755C-4A9E-B64C-40A136897676}"/>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2345200D-F4EE-4791-BE94-E4B19A1654CC}"/>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B966FAC5-334F-4A35-A65B-6686F33AF740}"/>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presentation flow</a:t>
            </a:r>
          </a:p>
        </p:txBody>
      </p:sp>
      <p:sp>
        <p:nvSpPr>
          <p:cNvPr id="6" name="">
            <a:extLst xmlns:a="http://schemas.openxmlformats.org/drawingml/2006/main">
              <a:ext uri="{FF2B5EF4-FFF2-40B4-BE49-F238E27FC236}">
                <a16:creationId xmlns:a16="http://schemas.microsoft.com/office/drawing/2014/main" id="{4C27C258-6FAD-48C3-BAA7-2FD0385DF67B}"/>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25-Minute Flow</a:t>
            </a:r>
          </a:p>
        </p:txBody>
      </p:sp>
      <p:sp>
        <p:nvSpPr>
          <p:cNvPr id="7" name="">
            <a:extLst xmlns:a="http://schemas.openxmlformats.org/drawingml/2006/main">
              <a:ext uri="{FF2B5EF4-FFF2-40B4-BE49-F238E27FC236}">
                <a16:creationId xmlns:a16="http://schemas.microsoft.com/office/drawing/2014/main" id="{7BEE6319-03CB-4D46-AD58-EB274C4D8F54}"/>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Each presenter owns a complete research stage, not a random set of files.</a:t>
            </a:r>
          </a:p>
        </p:txBody>
      </p:sp>
      <p:sp>
        <p:nvSpPr>
          <p:cNvPr id="8" name="">
            <a:extLst xmlns:a="http://schemas.openxmlformats.org/drawingml/2006/main">
              <a:ext uri="{FF2B5EF4-FFF2-40B4-BE49-F238E27FC236}">
                <a16:creationId xmlns:a16="http://schemas.microsoft.com/office/drawing/2014/main" id="{CB82BB43-C4D3-409B-9B44-05BAEC91FACA}"/>
              </a:ext>
            </a:extLst>
          </p:cNvPr>
          <p:cNvSpPr>
            <a:spLocks xmlns:a="http://schemas.openxmlformats.org/drawingml/2006/main" noGrp="1"/>
          </p:cNvSpPr>
          <p:nvPr/>
        </p:nvSpPr>
        <p:spPr>
          <a:xfrm xmlns:a="http://schemas.openxmlformats.org/drawingml/2006/main">
            <a:off x="666750" y="2333625"/>
            <a:ext cx="1981200" cy="2667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9196E9B5-5A72-4BE3-B7A9-FB730D9D374E}"/>
              </a:ext>
            </a:extLst>
          </p:cNvPr>
          <p:cNvSpPr>
            <a:spLocks xmlns:a="http://schemas.openxmlformats.org/drawingml/2006/main" noGrp="1"/>
          </p:cNvSpPr>
          <p:nvPr/>
        </p:nvSpPr>
        <p:spPr>
          <a:xfrm xmlns:a="http://schemas.openxmlformats.org/drawingml/2006/main">
            <a:off x="666750" y="2333625"/>
            <a:ext cx="47625" cy="266700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0" name="">
            <a:extLst xmlns:a="http://schemas.openxmlformats.org/drawingml/2006/main">
              <a:ext uri="{FF2B5EF4-FFF2-40B4-BE49-F238E27FC236}">
                <a16:creationId xmlns:a16="http://schemas.microsoft.com/office/drawing/2014/main" id="{78BCFF7D-A278-4301-9159-E05C8FF09829}"/>
              </a:ext>
            </a:extLst>
          </p:cNvPr>
          <p:cNvSpPr>
            <a:spLocks xmlns:a="http://schemas.openxmlformats.org/drawingml/2006/main" noGrp="1"/>
          </p:cNvSpPr>
          <p:nvPr/>
        </p:nvSpPr>
        <p:spPr>
          <a:xfrm xmlns:a="http://schemas.openxmlformats.org/drawingml/2006/main">
            <a:off x="876300" y="2466975"/>
            <a:ext cx="15621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Person 1</a:t>
            </a:r>
          </a:p>
        </p:txBody>
      </p:sp>
      <p:sp>
        <p:nvSpPr>
          <p:cNvPr id="11" name="">
            <a:extLst xmlns:a="http://schemas.openxmlformats.org/drawingml/2006/main">
              <a:ext uri="{FF2B5EF4-FFF2-40B4-BE49-F238E27FC236}">
                <a16:creationId xmlns:a16="http://schemas.microsoft.com/office/drawing/2014/main" id="{55D5DFF7-B2BA-400F-B394-869A21151315}"/>
              </a:ext>
            </a:extLst>
          </p:cNvPr>
          <p:cNvSpPr>
            <a:spLocks xmlns:a="http://schemas.openxmlformats.org/drawingml/2006/main" noGrp="1"/>
          </p:cNvSpPr>
          <p:nvPr/>
        </p:nvSpPr>
        <p:spPr>
          <a:xfrm xmlns:a="http://schemas.openxmlformats.org/drawingml/2006/main">
            <a:off x="876300" y="2790825"/>
            <a:ext cx="1562100" cy="2133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Problem, Data &amp; Stage 1</a:t>
            </a:r>
          </a:p>
          <a:p xmlns:a="http://schemas.openxmlformats.org/drawingml/2006/main">
            <a:r>
              <a:t/>
            </a:r>
          </a:p>
          <a:p xmlns:a="http://schemas.openxmlformats.org/drawingml/2006/main">
            <a:pPr algn="l">
              <a:defRPr sz="1200" b="0">
                <a:solidFill>
                  <a:srgbClr val="9FB3BE"/>
                </a:solidFill>
              </a:defRPr>
            </a:pPr>
            <a:r>
              <a:rPr sz="1200" b="0">
                <a:solidFill>
                  <a:srgbClr val="9FB3BE"/>
                </a:solidFill>
              </a:rPr>
              <a:t>Why the project exists and what the data shows.</a:t>
            </a:r>
          </a:p>
        </p:txBody>
      </p:sp>
      <p:sp>
        <p:nvSpPr>
          <p:cNvPr id="12" name="">
            <a:extLst xmlns:a="http://schemas.openxmlformats.org/drawingml/2006/main">
              <a:ext uri="{FF2B5EF4-FFF2-40B4-BE49-F238E27FC236}">
                <a16:creationId xmlns:a16="http://schemas.microsoft.com/office/drawing/2014/main" id="{E48224FD-76FC-4491-91D4-66DC8241CD18}"/>
              </a:ext>
            </a:extLst>
          </p:cNvPr>
          <p:cNvSpPr>
            <a:spLocks xmlns:a="http://schemas.openxmlformats.org/drawingml/2006/main" noGrp="1"/>
          </p:cNvSpPr>
          <p:nvPr/>
        </p:nvSpPr>
        <p:spPr>
          <a:xfrm xmlns:a="http://schemas.openxmlformats.org/drawingml/2006/main">
            <a:off x="2933700" y="2333625"/>
            <a:ext cx="1981200" cy="2667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CDD02E3D-73B2-400A-98B8-7B0484ADD588}"/>
              </a:ext>
            </a:extLst>
          </p:cNvPr>
          <p:cNvSpPr>
            <a:spLocks xmlns:a="http://schemas.openxmlformats.org/drawingml/2006/main" noGrp="1"/>
          </p:cNvSpPr>
          <p:nvPr/>
        </p:nvSpPr>
        <p:spPr>
          <a:xfrm xmlns:a="http://schemas.openxmlformats.org/drawingml/2006/main">
            <a:off x="2933700" y="2333625"/>
            <a:ext cx="47625" cy="266700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4" name="">
            <a:extLst xmlns:a="http://schemas.openxmlformats.org/drawingml/2006/main">
              <a:ext uri="{FF2B5EF4-FFF2-40B4-BE49-F238E27FC236}">
                <a16:creationId xmlns:a16="http://schemas.microsoft.com/office/drawing/2014/main" id="{6078413E-82C7-4F62-BABF-CBC8522963EA}"/>
              </a:ext>
            </a:extLst>
          </p:cNvPr>
          <p:cNvSpPr>
            <a:spLocks xmlns:a="http://schemas.openxmlformats.org/drawingml/2006/main" noGrp="1"/>
          </p:cNvSpPr>
          <p:nvPr/>
        </p:nvSpPr>
        <p:spPr>
          <a:xfrm xmlns:a="http://schemas.openxmlformats.org/drawingml/2006/main">
            <a:off x="3143250" y="2466975"/>
            <a:ext cx="15621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Person 2</a:t>
            </a:r>
          </a:p>
        </p:txBody>
      </p:sp>
      <p:sp>
        <p:nvSpPr>
          <p:cNvPr id="15" name="">
            <a:extLst xmlns:a="http://schemas.openxmlformats.org/drawingml/2006/main">
              <a:ext uri="{FF2B5EF4-FFF2-40B4-BE49-F238E27FC236}">
                <a16:creationId xmlns:a16="http://schemas.microsoft.com/office/drawing/2014/main" id="{C3A4F438-BF59-4EDA-995E-EBDF00695EB6}"/>
              </a:ext>
            </a:extLst>
          </p:cNvPr>
          <p:cNvSpPr>
            <a:spLocks xmlns:a="http://schemas.openxmlformats.org/drawingml/2006/main" noGrp="1"/>
          </p:cNvSpPr>
          <p:nvPr/>
        </p:nvSpPr>
        <p:spPr>
          <a:xfrm xmlns:a="http://schemas.openxmlformats.org/drawingml/2006/main">
            <a:off x="3143250" y="2790825"/>
            <a:ext cx="1562100" cy="2133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Stage 2 Features</a:t>
            </a:r>
          </a:p>
          <a:p xmlns:a="http://schemas.openxmlformats.org/drawingml/2006/main">
            <a:r>
              <a:t/>
            </a:r>
          </a:p>
          <a:p xmlns:a="http://schemas.openxmlformats.org/drawingml/2006/main">
            <a:pPr algn="l">
              <a:defRPr sz="1200" b="0">
                <a:solidFill>
                  <a:srgbClr val="9FB3BE"/>
                </a:solidFill>
              </a:defRPr>
            </a:pPr>
            <a:r>
              <a:rPr sz="1200" b="0">
                <a:solidFill>
                  <a:srgbClr val="9FB3BE"/>
                </a:solidFill>
              </a:rPr>
              <a:t>How raw data became model-ready.</a:t>
            </a:r>
          </a:p>
        </p:txBody>
      </p:sp>
      <p:sp>
        <p:nvSpPr>
          <p:cNvPr id="16" name="">
            <a:extLst xmlns:a="http://schemas.openxmlformats.org/drawingml/2006/main">
              <a:ext uri="{FF2B5EF4-FFF2-40B4-BE49-F238E27FC236}">
                <a16:creationId xmlns:a16="http://schemas.microsoft.com/office/drawing/2014/main" id="{5D776E82-9FC0-4D1E-BA73-444674A109B2}"/>
              </a:ext>
            </a:extLst>
          </p:cNvPr>
          <p:cNvSpPr>
            <a:spLocks xmlns:a="http://schemas.openxmlformats.org/drawingml/2006/main" noGrp="1"/>
          </p:cNvSpPr>
          <p:nvPr/>
        </p:nvSpPr>
        <p:spPr>
          <a:xfrm xmlns:a="http://schemas.openxmlformats.org/drawingml/2006/main">
            <a:off x="5200650" y="2333625"/>
            <a:ext cx="1981200" cy="2667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7" name="">
            <a:extLst xmlns:a="http://schemas.openxmlformats.org/drawingml/2006/main">
              <a:ext uri="{FF2B5EF4-FFF2-40B4-BE49-F238E27FC236}">
                <a16:creationId xmlns:a16="http://schemas.microsoft.com/office/drawing/2014/main" id="{1D40E711-F17B-44D5-AC80-5324CBB66424}"/>
              </a:ext>
            </a:extLst>
          </p:cNvPr>
          <p:cNvSpPr>
            <a:spLocks xmlns:a="http://schemas.openxmlformats.org/drawingml/2006/main" noGrp="1"/>
          </p:cNvSpPr>
          <p:nvPr/>
        </p:nvSpPr>
        <p:spPr>
          <a:xfrm xmlns:a="http://schemas.openxmlformats.org/drawingml/2006/main">
            <a:off x="5200650" y="2333625"/>
            <a:ext cx="47625" cy="2667000"/>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8" name="">
            <a:extLst xmlns:a="http://schemas.openxmlformats.org/drawingml/2006/main">
              <a:ext uri="{FF2B5EF4-FFF2-40B4-BE49-F238E27FC236}">
                <a16:creationId xmlns:a16="http://schemas.microsoft.com/office/drawing/2014/main" id="{C4B0E5FA-A6BA-43D9-B52E-D643294A88D3}"/>
              </a:ext>
            </a:extLst>
          </p:cNvPr>
          <p:cNvSpPr>
            <a:spLocks xmlns:a="http://schemas.openxmlformats.org/drawingml/2006/main" noGrp="1"/>
          </p:cNvSpPr>
          <p:nvPr/>
        </p:nvSpPr>
        <p:spPr>
          <a:xfrm xmlns:a="http://schemas.openxmlformats.org/drawingml/2006/main">
            <a:off x="5410200" y="2466975"/>
            <a:ext cx="15621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Person 3</a:t>
            </a:r>
          </a:p>
        </p:txBody>
      </p:sp>
      <p:sp>
        <p:nvSpPr>
          <p:cNvPr id="19" name="">
            <a:extLst xmlns:a="http://schemas.openxmlformats.org/drawingml/2006/main">
              <a:ext uri="{FF2B5EF4-FFF2-40B4-BE49-F238E27FC236}">
                <a16:creationId xmlns:a16="http://schemas.microsoft.com/office/drawing/2014/main" id="{9EFDE054-1E0D-4470-9A81-42ADC04B1A9B}"/>
              </a:ext>
            </a:extLst>
          </p:cNvPr>
          <p:cNvSpPr>
            <a:spLocks xmlns:a="http://schemas.openxmlformats.org/drawingml/2006/main" noGrp="1"/>
          </p:cNvSpPr>
          <p:nvPr/>
        </p:nvSpPr>
        <p:spPr>
          <a:xfrm xmlns:a="http://schemas.openxmlformats.org/drawingml/2006/main">
            <a:off x="5410200" y="2790825"/>
            <a:ext cx="1562100" cy="2133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NOW Prediction</a:t>
            </a:r>
          </a:p>
          <a:p xmlns:a="http://schemas.openxmlformats.org/drawingml/2006/main">
            <a:r>
              <a:t/>
            </a:r>
          </a:p>
          <a:p xmlns:a="http://schemas.openxmlformats.org/drawingml/2006/main">
            <a:pPr algn="l">
              <a:defRPr sz="1200" b="0">
                <a:solidFill>
                  <a:srgbClr val="9FB3BE"/>
                </a:solidFill>
              </a:defRPr>
            </a:pPr>
            <a:r>
              <a:rPr sz="1200" b="0">
                <a:solidFill>
                  <a:srgbClr val="9FB3BE"/>
                </a:solidFill>
              </a:rPr>
              <a:t>New-site prediction, categorization, safety tiers.</a:t>
            </a:r>
          </a:p>
        </p:txBody>
      </p:sp>
      <p:sp>
        <p:nvSpPr>
          <p:cNvPr id="20" name="">
            <a:extLst xmlns:a="http://schemas.openxmlformats.org/drawingml/2006/main">
              <a:ext uri="{FF2B5EF4-FFF2-40B4-BE49-F238E27FC236}">
                <a16:creationId xmlns:a16="http://schemas.microsoft.com/office/drawing/2014/main" id="{51B91506-47EC-4B75-992F-08EE6F850802}"/>
              </a:ext>
            </a:extLst>
          </p:cNvPr>
          <p:cNvSpPr>
            <a:spLocks xmlns:a="http://schemas.openxmlformats.org/drawingml/2006/main" noGrp="1"/>
          </p:cNvSpPr>
          <p:nvPr/>
        </p:nvSpPr>
        <p:spPr>
          <a:xfrm xmlns:a="http://schemas.openxmlformats.org/drawingml/2006/main">
            <a:off x="7467600" y="2333625"/>
            <a:ext cx="1981200" cy="2667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1" name="">
            <a:extLst xmlns:a="http://schemas.openxmlformats.org/drawingml/2006/main">
              <a:ext uri="{FF2B5EF4-FFF2-40B4-BE49-F238E27FC236}">
                <a16:creationId xmlns:a16="http://schemas.microsoft.com/office/drawing/2014/main" id="{7FA02284-F125-4BAF-996E-92EB678BE2CA}"/>
              </a:ext>
            </a:extLst>
          </p:cNvPr>
          <p:cNvSpPr>
            <a:spLocks xmlns:a="http://schemas.openxmlformats.org/drawingml/2006/main" noGrp="1"/>
          </p:cNvSpPr>
          <p:nvPr/>
        </p:nvSpPr>
        <p:spPr>
          <a:xfrm xmlns:a="http://schemas.openxmlformats.org/drawingml/2006/main">
            <a:off x="7467600" y="2333625"/>
            <a:ext cx="47625" cy="2667000"/>
          </a:xfrm>
          <a:prstGeom xmlns:a="http://schemas.openxmlformats.org/drawingml/2006/main" prst="rect">
            <a:avLst/>
          </a:prstGeom>
          <a:solidFill xmlns:a="http://schemas.openxmlformats.org/drawingml/2006/main">
            <a:srgbClr val="8B7CF6"/>
          </a:solidFill>
          <a:ln xmlns:a="http://schemas.openxmlformats.org/drawingml/2006/main" w="0">
            <a:solidFill>
              <a:srgbClr val="8B7CF6"/>
            </a:solidFill>
          </a:ln>
        </p:spPr>
      </p:sp>
      <p:sp>
        <p:nvSpPr>
          <p:cNvPr id="22" name="">
            <a:extLst xmlns:a="http://schemas.openxmlformats.org/drawingml/2006/main">
              <a:ext uri="{FF2B5EF4-FFF2-40B4-BE49-F238E27FC236}">
                <a16:creationId xmlns:a16="http://schemas.microsoft.com/office/drawing/2014/main" id="{CAAFA925-3621-4979-BC4B-4BF2AFA799A4}"/>
              </a:ext>
            </a:extLst>
          </p:cNvPr>
          <p:cNvSpPr>
            <a:spLocks xmlns:a="http://schemas.openxmlformats.org/drawingml/2006/main" noGrp="1"/>
          </p:cNvSpPr>
          <p:nvPr/>
        </p:nvSpPr>
        <p:spPr>
          <a:xfrm xmlns:a="http://schemas.openxmlformats.org/drawingml/2006/main">
            <a:off x="7677150" y="2466975"/>
            <a:ext cx="15621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Person 4</a:t>
            </a:r>
          </a:p>
        </p:txBody>
      </p:sp>
      <p:sp>
        <p:nvSpPr>
          <p:cNvPr id="23" name="">
            <a:extLst xmlns:a="http://schemas.openxmlformats.org/drawingml/2006/main">
              <a:ext uri="{FF2B5EF4-FFF2-40B4-BE49-F238E27FC236}">
                <a16:creationId xmlns:a16="http://schemas.microsoft.com/office/drawing/2014/main" id="{707B8E94-FE1C-42EB-B399-651AD4592FCF}"/>
              </a:ext>
            </a:extLst>
          </p:cNvPr>
          <p:cNvSpPr>
            <a:spLocks xmlns:a="http://schemas.openxmlformats.org/drawingml/2006/main" noGrp="1"/>
          </p:cNvSpPr>
          <p:nvPr/>
        </p:nvSpPr>
        <p:spPr>
          <a:xfrm xmlns:a="http://schemas.openxmlformats.org/drawingml/2006/main">
            <a:off x="7677150" y="2790825"/>
            <a:ext cx="1562100" cy="2133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FUTURE Forecasting</a:t>
            </a:r>
          </a:p>
          <a:p xmlns:a="http://schemas.openxmlformats.org/drawingml/2006/main">
            <a:r>
              <a:t/>
            </a:r>
          </a:p>
          <a:p xmlns:a="http://schemas.openxmlformats.org/drawingml/2006/main">
            <a:pPr algn="l">
              <a:defRPr sz="1200" b="0">
                <a:solidFill>
                  <a:srgbClr val="9FB3BE"/>
                </a:solidFill>
              </a:defRPr>
            </a:pPr>
            <a:r>
              <a:rPr sz="1200" b="0">
                <a:solidFill>
                  <a:srgbClr val="9FB3BE"/>
                </a:solidFill>
              </a:rPr>
              <a:t>Forecast horizons, LSTM, RF and rolling challengers.</a:t>
            </a:r>
          </a:p>
        </p:txBody>
      </p:sp>
      <p:sp>
        <p:nvSpPr>
          <p:cNvPr id="24" name="">
            <a:extLst xmlns:a="http://schemas.openxmlformats.org/drawingml/2006/main">
              <a:ext uri="{FF2B5EF4-FFF2-40B4-BE49-F238E27FC236}">
                <a16:creationId xmlns:a16="http://schemas.microsoft.com/office/drawing/2014/main" id="{39DFCF40-1836-4943-81B7-56F8BA59A084}"/>
              </a:ext>
            </a:extLst>
          </p:cNvPr>
          <p:cNvSpPr>
            <a:spLocks xmlns:a="http://schemas.openxmlformats.org/drawingml/2006/main" noGrp="1"/>
          </p:cNvSpPr>
          <p:nvPr/>
        </p:nvSpPr>
        <p:spPr>
          <a:xfrm xmlns:a="http://schemas.openxmlformats.org/drawingml/2006/main">
            <a:off x="9734550" y="2333625"/>
            <a:ext cx="1981200" cy="2667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5" name="">
            <a:extLst xmlns:a="http://schemas.openxmlformats.org/drawingml/2006/main">
              <a:ext uri="{FF2B5EF4-FFF2-40B4-BE49-F238E27FC236}">
                <a16:creationId xmlns:a16="http://schemas.microsoft.com/office/drawing/2014/main" id="{A0906DC1-0567-4BCC-825B-173AB5142E3B}"/>
              </a:ext>
            </a:extLst>
          </p:cNvPr>
          <p:cNvSpPr>
            <a:spLocks xmlns:a="http://schemas.openxmlformats.org/drawingml/2006/main" noGrp="1"/>
          </p:cNvSpPr>
          <p:nvPr/>
        </p:nvSpPr>
        <p:spPr>
          <a:xfrm xmlns:a="http://schemas.openxmlformats.org/drawingml/2006/main">
            <a:off x="9734550" y="2333625"/>
            <a:ext cx="47625" cy="2667000"/>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26" name="">
            <a:extLst xmlns:a="http://schemas.openxmlformats.org/drawingml/2006/main">
              <a:ext uri="{FF2B5EF4-FFF2-40B4-BE49-F238E27FC236}">
                <a16:creationId xmlns:a16="http://schemas.microsoft.com/office/drawing/2014/main" id="{F0ED693D-E20F-414A-B716-8219466ACDB2}"/>
              </a:ext>
            </a:extLst>
          </p:cNvPr>
          <p:cNvSpPr>
            <a:spLocks xmlns:a="http://schemas.openxmlformats.org/drawingml/2006/main" noGrp="1"/>
          </p:cNvSpPr>
          <p:nvPr/>
        </p:nvSpPr>
        <p:spPr>
          <a:xfrm xmlns:a="http://schemas.openxmlformats.org/drawingml/2006/main">
            <a:off x="9944100" y="2466975"/>
            <a:ext cx="15621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Person 5</a:t>
            </a:r>
          </a:p>
        </p:txBody>
      </p:sp>
      <p:sp>
        <p:nvSpPr>
          <p:cNvPr id="27" name="">
            <a:extLst xmlns:a="http://schemas.openxmlformats.org/drawingml/2006/main">
              <a:ext uri="{FF2B5EF4-FFF2-40B4-BE49-F238E27FC236}">
                <a16:creationId xmlns:a16="http://schemas.microsoft.com/office/drawing/2014/main" id="{F25343AC-CDBA-41F8-8359-9A6DB0ADA784}"/>
              </a:ext>
            </a:extLst>
          </p:cNvPr>
          <p:cNvSpPr>
            <a:spLocks xmlns:a="http://schemas.openxmlformats.org/drawingml/2006/main" noGrp="1"/>
          </p:cNvSpPr>
          <p:nvPr/>
        </p:nvSpPr>
        <p:spPr>
          <a:xfrm xmlns:a="http://schemas.openxmlformats.org/drawingml/2006/main">
            <a:off x="9944100" y="2790825"/>
            <a:ext cx="1562100" cy="2133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Prototype &amp; Audit</a:t>
            </a:r>
          </a:p>
          <a:p xmlns:a="http://schemas.openxmlformats.org/drawingml/2006/main">
            <a:r>
              <a:t/>
            </a:r>
          </a:p>
          <a:p xmlns:a="http://schemas.openxmlformats.org/drawingml/2006/main">
            <a:pPr algn="l">
              <a:defRPr sz="1200" b="0">
                <a:solidFill>
                  <a:srgbClr val="9FB3BE"/>
                </a:solidFill>
              </a:defRPr>
            </a:pPr>
            <a:r>
              <a:rPr sz="1200" b="0">
                <a:solidFill>
                  <a:srgbClr val="9FB3BE"/>
                </a:solidFill>
              </a:rPr>
              <a:t>Tool, k=6 rejection, final recommendations.</a:t>
            </a:r>
          </a:p>
        </p:txBody>
      </p:sp>
      <p:sp>
        <p:nvSpPr>
          <p:cNvPr id="28" name="">
            <a:extLst xmlns:a="http://schemas.openxmlformats.org/drawingml/2006/main">
              <a:ext uri="{FF2B5EF4-FFF2-40B4-BE49-F238E27FC236}">
                <a16:creationId xmlns:a16="http://schemas.microsoft.com/office/drawing/2014/main" id="{E60175F8-8D35-4C6D-953F-C041181BA431}"/>
              </a:ext>
            </a:extLst>
          </p:cNvPr>
          <p:cNvSpPr>
            <a:spLocks xmlns:a="http://schemas.openxmlformats.org/drawingml/2006/main" noGrp="1"/>
          </p:cNvSpPr>
          <p:nvPr/>
        </p:nvSpPr>
        <p:spPr>
          <a:xfrm xmlns:a="http://schemas.openxmlformats.org/drawingml/2006/main">
            <a:off x="2000250" y="5715000"/>
            <a:ext cx="8191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E8F0EE"/>
                </a:solidFill>
              </a:defRPr>
            </a:pPr>
            <a:r>
              <a:rPr sz="1575" b="1">
                <a:solidFill>
                  <a:srgbClr val="E8F0EE"/>
                </a:solidFill>
              </a:rPr>
              <a:t>Target: 5 minutes per person · each section ends with one key message</a:t>
            </a:r>
          </a:p>
        </p:txBody>
      </p:sp>
    </p:spTree>
    <p:extLst>
      <p:ext uri="{BB962C8B-B14F-4D97-AF65-F5344CB8AC3E}">
        <p14:creationId xmlns:p14="http://schemas.microsoft.com/office/powerpoint/2010/main" val="1757914542"/>
      </p:ext>
    </p:extLst>
  </p:cSld>
</p:sld>
</file>

<file path=ppt/slides/slide3.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E7140F6E-9526-4F13-8CA1-98DF63DD782B}"/>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84657B07-4E7C-4377-9D3C-675964A2D781}"/>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AA156511-1139-4402-B566-BBA0C0168E37}"/>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22FBE2ED-59D2-49CE-BB2C-D589F287FC52}"/>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1 · Stage 1</a:t>
            </a:r>
          </a:p>
        </p:txBody>
      </p:sp>
      <p:sp>
        <p:nvSpPr>
          <p:cNvPr id="6" name="">
            <a:extLst xmlns:a="http://schemas.openxmlformats.org/drawingml/2006/main">
              <a:ext uri="{FF2B5EF4-FFF2-40B4-BE49-F238E27FC236}">
                <a16:creationId xmlns:a16="http://schemas.microsoft.com/office/drawing/2014/main" id="{3305F031-3379-4003-819A-8D293CC6F350}"/>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Why This Project Exists</a:t>
            </a:r>
          </a:p>
        </p:txBody>
      </p:sp>
      <p:sp>
        <p:nvSpPr>
          <p:cNvPr id="7" name="">
            <a:extLst xmlns:a="http://schemas.openxmlformats.org/drawingml/2006/main">
              <a:ext uri="{FF2B5EF4-FFF2-40B4-BE49-F238E27FC236}">
                <a16:creationId xmlns:a16="http://schemas.microsoft.com/office/drawing/2014/main" id="{A0A31ABF-02FB-4E50-8011-18E1871AF25F}"/>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Kampala needs air-quality insight where sensors are sparse.</a:t>
            </a:r>
          </a:p>
        </p:txBody>
      </p:sp>
      <p:sp>
        <p:nvSpPr>
          <p:cNvPr id="8" name="">
            <a:extLst xmlns:a="http://schemas.openxmlformats.org/drawingml/2006/main">
              <a:ext uri="{FF2B5EF4-FFF2-40B4-BE49-F238E27FC236}">
                <a16:creationId xmlns:a16="http://schemas.microsoft.com/office/drawing/2014/main" id="{66B248F2-3C2A-461C-9835-33394F816029}"/>
              </a:ext>
            </a:extLst>
          </p:cNvPr>
          <p:cNvSpPr>
            <a:spLocks xmlns:a="http://schemas.openxmlformats.org/drawingml/2006/main" noGrp="1"/>
          </p:cNvSpPr>
          <p:nvPr/>
        </p:nvSpPr>
        <p:spPr>
          <a:xfrm xmlns:a="http://schemas.openxmlformats.org/drawingml/2006/main">
            <a:off x="762000" y="2095500"/>
            <a:ext cx="209550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77E607B8-BC15-43DD-B491-30C09FFBA07F}"/>
              </a:ext>
            </a:extLst>
          </p:cNvPr>
          <p:cNvSpPr>
            <a:spLocks xmlns:a="http://schemas.openxmlformats.org/drawingml/2006/main" noGrp="1"/>
          </p:cNvSpPr>
          <p:nvPr/>
        </p:nvSpPr>
        <p:spPr>
          <a:xfrm xmlns:a="http://schemas.openxmlformats.org/drawingml/2006/main">
            <a:off x="876300" y="2238375"/>
            <a:ext cx="18669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14A38B"/>
                </a:solidFill>
              </a:defRPr>
            </a:pPr>
            <a:r>
              <a:rPr sz="2175" b="1">
                <a:solidFill>
                  <a:srgbClr val="14A38B"/>
                </a:solidFill>
              </a:rPr>
              <a:t>PM2.5</a:t>
            </a:r>
          </a:p>
        </p:txBody>
      </p:sp>
      <p:sp>
        <p:nvSpPr>
          <p:cNvPr id="10" name="">
            <a:extLst xmlns:a="http://schemas.openxmlformats.org/drawingml/2006/main">
              <a:ext uri="{FF2B5EF4-FFF2-40B4-BE49-F238E27FC236}">
                <a16:creationId xmlns:a16="http://schemas.microsoft.com/office/drawing/2014/main" id="{9252EC84-00FD-4510-B7D1-CB649261DC25}"/>
              </a:ext>
            </a:extLst>
          </p:cNvPr>
          <p:cNvSpPr>
            <a:spLocks xmlns:a="http://schemas.openxmlformats.org/drawingml/2006/main" noGrp="1"/>
          </p:cNvSpPr>
          <p:nvPr/>
        </p:nvSpPr>
        <p:spPr>
          <a:xfrm xmlns:a="http://schemas.openxmlformats.org/drawingml/2006/main">
            <a:off x="895350" y="2686050"/>
            <a:ext cx="1828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95797"/>
          </a:bodyPr>
          <a:lstStyle xmlns:a="http://schemas.openxmlformats.org/drawingml/2006/main"/>
          <a:p xmlns:a="http://schemas.openxmlformats.org/drawingml/2006/main">
            <a:pPr algn="ctr">
              <a:defRPr sz="1050" b="0">
                <a:solidFill>
                  <a:srgbClr val="9FB3BE"/>
                </a:solidFill>
              </a:defRPr>
            </a:pPr>
            <a:r>
              <a:rPr sz="1050" b="0">
                <a:solidFill>
                  <a:srgbClr val="9FB3BE"/>
                </a:solidFill>
              </a:rPr>
              <a:t>fine particles linked to health risk</a:t>
            </a:r>
          </a:p>
        </p:txBody>
      </p:sp>
      <p:sp>
        <p:nvSpPr>
          <p:cNvPr id="11" name="">
            <a:extLst xmlns:a="http://schemas.openxmlformats.org/drawingml/2006/main">
              <a:ext uri="{FF2B5EF4-FFF2-40B4-BE49-F238E27FC236}">
                <a16:creationId xmlns:a16="http://schemas.microsoft.com/office/drawing/2014/main" id="{22BE6172-C092-43C6-B084-E2C8C7DD6BE7}"/>
              </a:ext>
            </a:extLst>
          </p:cNvPr>
          <p:cNvSpPr>
            <a:spLocks xmlns:a="http://schemas.openxmlformats.org/drawingml/2006/main" noGrp="1"/>
          </p:cNvSpPr>
          <p:nvPr/>
        </p:nvSpPr>
        <p:spPr>
          <a:xfrm xmlns:a="http://schemas.openxmlformats.org/drawingml/2006/main">
            <a:off x="3143250" y="2095500"/>
            <a:ext cx="2190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2" name="">
            <a:extLst xmlns:a="http://schemas.openxmlformats.org/drawingml/2006/main">
              <a:ext uri="{FF2B5EF4-FFF2-40B4-BE49-F238E27FC236}">
                <a16:creationId xmlns:a16="http://schemas.microsoft.com/office/drawing/2014/main" id="{B7E8AFDA-6926-4D9E-B19F-750F1AE8565A}"/>
              </a:ext>
            </a:extLst>
          </p:cNvPr>
          <p:cNvSpPr>
            <a:spLocks xmlns:a="http://schemas.openxmlformats.org/drawingml/2006/main" noGrp="1"/>
          </p:cNvSpPr>
          <p:nvPr/>
        </p:nvSpPr>
        <p:spPr>
          <a:xfrm xmlns:a="http://schemas.openxmlformats.org/drawingml/2006/main">
            <a:off x="3257550" y="2238375"/>
            <a:ext cx="1962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8A020"/>
                </a:solidFill>
              </a:defRPr>
            </a:pPr>
            <a:r>
              <a:rPr sz="2175" b="1">
                <a:solidFill>
                  <a:srgbClr val="E8A020"/>
                </a:solidFill>
              </a:rPr>
              <a:t>15 µg/m³</a:t>
            </a:r>
          </a:p>
        </p:txBody>
      </p:sp>
      <p:sp>
        <p:nvSpPr>
          <p:cNvPr id="13" name="">
            <a:extLst xmlns:a="http://schemas.openxmlformats.org/drawingml/2006/main">
              <a:ext uri="{FF2B5EF4-FFF2-40B4-BE49-F238E27FC236}">
                <a16:creationId xmlns:a16="http://schemas.microsoft.com/office/drawing/2014/main" id="{6C1F8ADC-8024-444D-AE26-993ECABFA601}"/>
              </a:ext>
            </a:extLst>
          </p:cNvPr>
          <p:cNvSpPr>
            <a:spLocks xmlns:a="http://schemas.openxmlformats.org/drawingml/2006/main" noGrp="1"/>
          </p:cNvSpPr>
          <p:nvPr/>
        </p:nvSpPr>
        <p:spPr>
          <a:xfrm xmlns:a="http://schemas.openxmlformats.org/drawingml/2006/main">
            <a:off x="3276600" y="2686050"/>
            <a:ext cx="1924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WHO 24-hour guideline</a:t>
            </a:r>
          </a:p>
        </p:txBody>
      </p:sp>
      <p:sp>
        <p:nvSpPr>
          <p:cNvPr id="14" name="">
            <a:extLst xmlns:a="http://schemas.openxmlformats.org/drawingml/2006/main">
              <a:ext uri="{FF2B5EF4-FFF2-40B4-BE49-F238E27FC236}">
                <a16:creationId xmlns:a16="http://schemas.microsoft.com/office/drawing/2014/main" id="{3435C366-C309-494A-ACD3-B7CEE031707B}"/>
              </a:ext>
            </a:extLst>
          </p:cNvPr>
          <p:cNvSpPr>
            <a:spLocks xmlns:a="http://schemas.openxmlformats.org/drawingml/2006/main" noGrp="1"/>
          </p:cNvSpPr>
          <p:nvPr/>
        </p:nvSpPr>
        <p:spPr>
          <a:xfrm xmlns:a="http://schemas.openxmlformats.org/drawingml/2006/main">
            <a:off x="5619750" y="2095500"/>
            <a:ext cx="2190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5" name="">
            <a:extLst xmlns:a="http://schemas.openxmlformats.org/drawingml/2006/main">
              <a:ext uri="{FF2B5EF4-FFF2-40B4-BE49-F238E27FC236}">
                <a16:creationId xmlns:a16="http://schemas.microsoft.com/office/drawing/2014/main" id="{C99D6B2B-52E6-4E09-8DC9-F0314CA3D31E}"/>
              </a:ext>
            </a:extLst>
          </p:cNvPr>
          <p:cNvSpPr>
            <a:spLocks xmlns:a="http://schemas.openxmlformats.org/drawingml/2006/main" noGrp="1"/>
          </p:cNvSpPr>
          <p:nvPr/>
        </p:nvSpPr>
        <p:spPr>
          <a:xfrm xmlns:a="http://schemas.openxmlformats.org/drawingml/2006/main">
            <a:off x="5734050" y="2238375"/>
            <a:ext cx="1962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C5A4C"/>
                </a:solidFill>
              </a:defRPr>
            </a:pPr>
            <a:r>
              <a:rPr sz="2175" b="1">
                <a:solidFill>
                  <a:srgbClr val="EC5A4C"/>
                </a:solidFill>
              </a:rPr>
              <a:t>~94%</a:t>
            </a:r>
          </a:p>
        </p:txBody>
      </p:sp>
      <p:sp>
        <p:nvSpPr>
          <p:cNvPr id="16" name="">
            <a:extLst xmlns:a="http://schemas.openxmlformats.org/drawingml/2006/main">
              <a:ext uri="{FF2B5EF4-FFF2-40B4-BE49-F238E27FC236}">
                <a16:creationId xmlns:a16="http://schemas.microsoft.com/office/drawing/2014/main" id="{B73C2C03-E857-44E2-A785-828E21D2182C}"/>
              </a:ext>
            </a:extLst>
          </p:cNvPr>
          <p:cNvSpPr>
            <a:spLocks xmlns:a="http://schemas.openxmlformats.org/drawingml/2006/main" noGrp="1"/>
          </p:cNvSpPr>
          <p:nvPr/>
        </p:nvSpPr>
        <p:spPr>
          <a:xfrm xmlns:a="http://schemas.openxmlformats.org/drawingml/2006/main">
            <a:off x="5753100" y="2686050"/>
            <a:ext cx="1924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days above WHO guideline</a:t>
            </a:r>
          </a:p>
        </p:txBody>
      </p:sp>
      <p:sp>
        <p:nvSpPr>
          <p:cNvPr id="17" name="">
            <a:extLst xmlns:a="http://schemas.openxmlformats.org/drawingml/2006/main">
              <a:ext uri="{FF2B5EF4-FFF2-40B4-BE49-F238E27FC236}">
                <a16:creationId xmlns:a16="http://schemas.microsoft.com/office/drawing/2014/main" id="{3FB4211F-C355-4882-AE8C-3467F153C24B}"/>
              </a:ext>
            </a:extLst>
          </p:cNvPr>
          <p:cNvSpPr>
            <a:spLocks xmlns:a="http://schemas.openxmlformats.org/drawingml/2006/main" noGrp="1"/>
          </p:cNvSpPr>
          <p:nvPr/>
        </p:nvSpPr>
        <p:spPr>
          <a:xfrm xmlns:a="http://schemas.openxmlformats.org/drawingml/2006/main">
            <a:off x="8191500" y="1905000"/>
            <a:ext cx="2952750" cy="1809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8" name="">
            <a:extLst xmlns:a="http://schemas.openxmlformats.org/drawingml/2006/main">
              <a:ext uri="{FF2B5EF4-FFF2-40B4-BE49-F238E27FC236}">
                <a16:creationId xmlns:a16="http://schemas.microsoft.com/office/drawing/2014/main" id="{E2592E45-4428-4823-AC84-5774DD15186D}"/>
              </a:ext>
            </a:extLst>
          </p:cNvPr>
          <p:cNvSpPr>
            <a:spLocks xmlns:a="http://schemas.openxmlformats.org/drawingml/2006/main" noGrp="1"/>
          </p:cNvSpPr>
          <p:nvPr/>
        </p:nvSpPr>
        <p:spPr>
          <a:xfrm xmlns:a="http://schemas.openxmlformats.org/drawingml/2006/main">
            <a:off x="8191500" y="1905000"/>
            <a:ext cx="47625" cy="180975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9" name="">
            <a:extLst xmlns:a="http://schemas.openxmlformats.org/drawingml/2006/main">
              <a:ext uri="{FF2B5EF4-FFF2-40B4-BE49-F238E27FC236}">
                <a16:creationId xmlns:a16="http://schemas.microsoft.com/office/drawing/2014/main" id="{2ED5793A-2AEB-4551-9CF3-94307170EB41}"/>
              </a:ext>
            </a:extLst>
          </p:cNvPr>
          <p:cNvSpPr>
            <a:spLocks xmlns:a="http://schemas.openxmlformats.org/drawingml/2006/main" noGrp="1"/>
          </p:cNvSpPr>
          <p:nvPr/>
        </p:nvSpPr>
        <p:spPr>
          <a:xfrm xmlns:a="http://schemas.openxmlformats.org/drawingml/2006/main">
            <a:off x="8401050" y="2038350"/>
            <a:ext cx="25336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Research question</a:t>
            </a:r>
          </a:p>
        </p:txBody>
      </p:sp>
      <p:sp>
        <p:nvSpPr>
          <p:cNvPr id="20" name="">
            <a:extLst xmlns:a="http://schemas.openxmlformats.org/drawingml/2006/main">
              <a:ext uri="{FF2B5EF4-FFF2-40B4-BE49-F238E27FC236}">
                <a16:creationId xmlns:a16="http://schemas.microsoft.com/office/drawing/2014/main" id="{523D2B34-FE4F-4F81-9661-2662974B6B5F}"/>
              </a:ext>
            </a:extLst>
          </p:cNvPr>
          <p:cNvSpPr>
            <a:spLocks xmlns:a="http://schemas.openxmlformats.org/drawingml/2006/main" noGrp="1"/>
          </p:cNvSpPr>
          <p:nvPr/>
        </p:nvSpPr>
        <p:spPr>
          <a:xfrm xmlns:a="http://schemas.openxmlformats.org/drawingml/2006/main">
            <a:off x="8401050" y="2362200"/>
            <a:ext cx="2533650" cy="1276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Can free data give a planner trustworthy PM2.5 where there is no sensor, and a few days ahead?</a:t>
            </a:r>
          </a:p>
        </p:txBody>
      </p:sp>
      <p:sp>
        <p:nvSpPr>
          <p:cNvPr id="21" name="">
            <a:extLst xmlns:a="http://schemas.openxmlformats.org/drawingml/2006/main">
              <a:ext uri="{FF2B5EF4-FFF2-40B4-BE49-F238E27FC236}">
                <a16:creationId xmlns:a16="http://schemas.microsoft.com/office/drawing/2014/main" id="{DB1F2AA9-46A9-4929-8FCA-6842294E7960}"/>
              </a:ext>
            </a:extLst>
          </p:cNvPr>
          <p:cNvSpPr>
            <a:spLocks xmlns:a="http://schemas.openxmlformats.org/drawingml/2006/main" noGrp="1"/>
          </p:cNvSpPr>
          <p:nvPr/>
        </p:nvSpPr>
        <p:spPr>
          <a:xfrm xmlns:a="http://schemas.openxmlformats.org/drawingml/2006/main">
            <a:off x="952500" y="4552950"/>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2" name="">
            <a:extLst xmlns:a="http://schemas.openxmlformats.org/drawingml/2006/main">
              <a:ext uri="{FF2B5EF4-FFF2-40B4-BE49-F238E27FC236}">
                <a16:creationId xmlns:a16="http://schemas.microsoft.com/office/drawing/2014/main" id="{8FFC9512-F06B-4043-917C-A7766479BEDF}"/>
              </a:ext>
            </a:extLst>
          </p:cNvPr>
          <p:cNvSpPr>
            <a:spLocks xmlns:a="http://schemas.openxmlformats.org/drawingml/2006/main" noGrp="1"/>
          </p:cNvSpPr>
          <p:nvPr/>
        </p:nvSpPr>
        <p:spPr>
          <a:xfrm xmlns:a="http://schemas.openxmlformats.org/drawingml/2006/main">
            <a:off x="1162050" y="4429125"/>
            <a:ext cx="8362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Random splits answer gap-filling, not real deployment.</a:t>
            </a:r>
          </a:p>
        </p:txBody>
      </p:sp>
      <p:sp>
        <p:nvSpPr>
          <p:cNvPr id="23" name="">
            <a:extLst xmlns:a="http://schemas.openxmlformats.org/drawingml/2006/main">
              <a:ext uri="{FF2B5EF4-FFF2-40B4-BE49-F238E27FC236}">
                <a16:creationId xmlns:a16="http://schemas.microsoft.com/office/drawing/2014/main" id="{A5DCD1C9-E61E-4F40-8441-3085FFA1339B}"/>
              </a:ext>
            </a:extLst>
          </p:cNvPr>
          <p:cNvSpPr>
            <a:spLocks xmlns:a="http://schemas.openxmlformats.org/drawingml/2006/main" noGrp="1"/>
          </p:cNvSpPr>
          <p:nvPr/>
        </p:nvSpPr>
        <p:spPr>
          <a:xfrm xmlns:a="http://schemas.openxmlformats.org/drawingml/2006/main">
            <a:off x="952500" y="4933950"/>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4" name="">
            <a:extLst xmlns:a="http://schemas.openxmlformats.org/drawingml/2006/main">
              <a:ext uri="{FF2B5EF4-FFF2-40B4-BE49-F238E27FC236}">
                <a16:creationId xmlns:a16="http://schemas.microsoft.com/office/drawing/2014/main" id="{D0C31153-6B63-4C34-8221-705C4B860E0D}"/>
              </a:ext>
            </a:extLst>
          </p:cNvPr>
          <p:cNvSpPr>
            <a:spLocks xmlns:a="http://schemas.openxmlformats.org/drawingml/2006/main" noGrp="1"/>
          </p:cNvSpPr>
          <p:nvPr/>
        </p:nvSpPr>
        <p:spPr>
          <a:xfrm xmlns:a="http://schemas.openxmlformats.org/drawingml/2006/main">
            <a:off x="1162050" y="4810125"/>
            <a:ext cx="8362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The honest NOW test hides whole sensor sites.</a:t>
            </a:r>
          </a:p>
        </p:txBody>
      </p:sp>
      <p:sp>
        <p:nvSpPr>
          <p:cNvPr id="25" name="">
            <a:extLst xmlns:a="http://schemas.openxmlformats.org/drawingml/2006/main">
              <a:ext uri="{FF2B5EF4-FFF2-40B4-BE49-F238E27FC236}">
                <a16:creationId xmlns:a16="http://schemas.microsoft.com/office/drawing/2014/main" id="{E3934C68-5848-4556-AF94-8A72A9219A44}"/>
              </a:ext>
            </a:extLst>
          </p:cNvPr>
          <p:cNvSpPr>
            <a:spLocks xmlns:a="http://schemas.openxmlformats.org/drawingml/2006/main" noGrp="1"/>
          </p:cNvSpPr>
          <p:nvPr/>
        </p:nvSpPr>
        <p:spPr>
          <a:xfrm xmlns:a="http://schemas.openxmlformats.org/drawingml/2006/main">
            <a:off x="952500" y="5314950"/>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6" name="">
            <a:extLst xmlns:a="http://schemas.openxmlformats.org/drawingml/2006/main">
              <a:ext uri="{FF2B5EF4-FFF2-40B4-BE49-F238E27FC236}">
                <a16:creationId xmlns:a16="http://schemas.microsoft.com/office/drawing/2014/main" id="{63EC17C0-EE81-49E3-B089-B2FFFA8B5B52}"/>
              </a:ext>
            </a:extLst>
          </p:cNvPr>
          <p:cNvSpPr>
            <a:spLocks xmlns:a="http://schemas.openxmlformats.org/drawingml/2006/main" noGrp="1"/>
          </p:cNvSpPr>
          <p:nvPr/>
        </p:nvSpPr>
        <p:spPr>
          <a:xfrm xmlns:a="http://schemas.openxmlformats.org/drawingml/2006/main">
            <a:off x="1162050" y="5191125"/>
            <a:ext cx="83629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The honest FUTURE test predicts later dates chronologically.</a:t>
            </a:r>
          </a:p>
        </p:txBody>
      </p:sp>
    </p:spTree>
    <p:extLst>
      <p:ext uri="{BB962C8B-B14F-4D97-AF65-F5344CB8AC3E}">
        <p14:creationId xmlns:p14="http://schemas.microsoft.com/office/powerpoint/2010/main" val="1170524247"/>
      </p:ext>
    </p:extLst>
  </p:cSld>
</p:sld>
</file>

<file path=ppt/slides/slide4.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B9F02034-C997-4B9A-8160-C6F0CDF20131}"/>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568B1FC2-A906-45D7-BCE6-1194F947838F}"/>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78ACF961-5EF9-4143-8872-AAD23E8E99D7}"/>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AA3604A0-A667-4AE0-8B9C-251CA47C523A}"/>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1 · data</a:t>
            </a:r>
          </a:p>
        </p:txBody>
      </p:sp>
      <p:sp>
        <p:nvSpPr>
          <p:cNvPr id="6" name="">
            <a:extLst xmlns:a="http://schemas.openxmlformats.org/drawingml/2006/main">
              <a:ext uri="{FF2B5EF4-FFF2-40B4-BE49-F238E27FC236}">
                <a16:creationId xmlns:a16="http://schemas.microsoft.com/office/drawing/2014/main" id="{8DFDD6C7-23FB-4E2C-BD33-B9CD6EE734D4}"/>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Data Sources and Dataset Shape</a:t>
            </a:r>
          </a:p>
        </p:txBody>
      </p:sp>
      <p:sp>
        <p:nvSpPr>
          <p:cNvPr id="7" name="">
            <a:extLst xmlns:a="http://schemas.openxmlformats.org/drawingml/2006/main">
              <a:ext uri="{FF2B5EF4-FFF2-40B4-BE49-F238E27FC236}">
                <a16:creationId xmlns:a16="http://schemas.microsoft.com/office/drawing/2014/main" id="{C00C23D1-612D-432C-BE65-25969CC65EDD}"/>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One site-day table joins pollution, weather, satellite, and location signals.</a:t>
            </a:r>
          </a:p>
        </p:txBody>
      </p:sp>
      <p:sp>
        <p:nvSpPr>
          <p:cNvPr id="8" name="">
            <a:extLst xmlns:a="http://schemas.openxmlformats.org/drawingml/2006/main">
              <a:ext uri="{FF2B5EF4-FFF2-40B4-BE49-F238E27FC236}">
                <a16:creationId xmlns:a16="http://schemas.microsoft.com/office/drawing/2014/main" id="{3B2FB519-7E19-4EE7-8A29-EA4D65B7E7CC}"/>
              </a:ext>
            </a:extLst>
          </p:cNvPr>
          <p:cNvSpPr>
            <a:spLocks xmlns:a="http://schemas.openxmlformats.org/drawingml/2006/main" noGrp="1"/>
          </p:cNvSpPr>
          <p:nvPr/>
        </p:nvSpPr>
        <p:spPr>
          <a:xfrm xmlns:a="http://schemas.openxmlformats.org/drawingml/2006/main">
            <a:off x="762000" y="2095500"/>
            <a:ext cx="171450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E8A4C137-71BF-45C8-A75A-2314BD2721D6}"/>
              </a:ext>
            </a:extLst>
          </p:cNvPr>
          <p:cNvSpPr>
            <a:spLocks xmlns:a="http://schemas.openxmlformats.org/drawingml/2006/main" noGrp="1"/>
          </p:cNvSpPr>
          <p:nvPr/>
        </p:nvSpPr>
        <p:spPr>
          <a:xfrm xmlns:a="http://schemas.openxmlformats.org/drawingml/2006/main">
            <a:off x="876300" y="2238375"/>
            <a:ext cx="14859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14A38B"/>
                </a:solidFill>
              </a:defRPr>
            </a:pPr>
            <a:r>
              <a:rPr sz="2175" b="1">
                <a:solidFill>
                  <a:srgbClr val="14A38B"/>
                </a:solidFill>
              </a:rPr>
              <a:t>39</a:t>
            </a:r>
          </a:p>
        </p:txBody>
      </p:sp>
      <p:sp>
        <p:nvSpPr>
          <p:cNvPr id="10" name="">
            <a:extLst xmlns:a="http://schemas.openxmlformats.org/drawingml/2006/main">
              <a:ext uri="{FF2B5EF4-FFF2-40B4-BE49-F238E27FC236}">
                <a16:creationId xmlns:a16="http://schemas.microsoft.com/office/drawing/2014/main" id="{CA71EE0F-DE42-4D1E-801F-3F43CC929081}"/>
              </a:ext>
            </a:extLst>
          </p:cNvPr>
          <p:cNvSpPr>
            <a:spLocks xmlns:a="http://schemas.openxmlformats.org/drawingml/2006/main" noGrp="1"/>
          </p:cNvSpPr>
          <p:nvPr/>
        </p:nvSpPr>
        <p:spPr>
          <a:xfrm xmlns:a="http://schemas.openxmlformats.org/drawingml/2006/main">
            <a:off x="895350" y="2686050"/>
            <a:ext cx="1447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AirQo sensor sites</a:t>
            </a:r>
          </a:p>
        </p:txBody>
      </p:sp>
      <p:sp>
        <p:nvSpPr>
          <p:cNvPr id="11" name="">
            <a:extLst xmlns:a="http://schemas.openxmlformats.org/drawingml/2006/main">
              <a:ext uri="{FF2B5EF4-FFF2-40B4-BE49-F238E27FC236}">
                <a16:creationId xmlns:a16="http://schemas.microsoft.com/office/drawing/2014/main" id="{4E00F45A-1186-4FD4-AB55-3AD9B816F7B6}"/>
              </a:ext>
            </a:extLst>
          </p:cNvPr>
          <p:cNvSpPr>
            <a:spLocks xmlns:a="http://schemas.openxmlformats.org/drawingml/2006/main" noGrp="1"/>
          </p:cNvSpPr>
          <p:nvPr/>
        </p:nvSpPr>
        <p:spPr>
          <a:xfrm xmlns:a="http://schemas.openxmlformats.org/drawingml/2006/main">
            <a:off x="2762250" y="2095500"/>
            <a:ext cx="1809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2" name="">
            <a:extLst xmlns:a="http://schemas.openxmlformats.org/drawingml/2006/main">
              <a:ext uri="{FF2B5EF4-FFF2-40B4-BE49-F238E27FC236}">
                <a16:creationId xmlns:a16="http://schemas.microsoft.com/office/drawing/2014/main" id="{DC7E21B4-6B94-4C71-B3ED-725A2C0AF1F7}"/>
              </a:ext>
            </a:extLst>
          </p:cNvPr>
          <p:cNvSpPr>
            <a:spLocks xmlns:a="http://schemas.openxmlformats.org/drawingml/2006/main" noGrp="1"/>
          </p:cNvSpPr>
          <p:nvPr/>
        </p:nvSpPr>
        <p:spPr>
          <a:xfrm xmlns:a="http://schemas.openxmlformats.org/drawingml/2006/main">
            <a:off x="2876550" y="2238375"/>
            <a:ext cx="1581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8A020"/>
                </a:solidFill>
              </a:defRPr>
            </a:pPr>
            <a:r>
              <a:rPr sz="2175" b="1">
                <a:solidFill>
                  <a:srgbClr val="E8A020"/>
                </a:solidFill>
              </a:rPr>
              <a:t>13,944</a:t>
            </a:r>
          </a:p>
        </p:txBody>
      </p:sp>
      <p:sp>
        <p:nvSpPr>
          <p:cNvPr id="13" name="">
            <a:extLst xmlns:a="http://schemas.openxmlformats.org/drawingml/2006/main">
              <a:ext uri="{FF2B5EF4-FFF2-40B4-BE49-F238E27FC236}">
                <a16:creationId xmlns:a16="http://schemas.microsoft.com/office/drawing/2014/main" id="{4BB7CB54-0448-4B48-8EA0-86BE70EB849E}"/>
              </a:ext>
            </a:extLst>
          </p:cNvPr>
          <p:cNvSpPr>
            <a:spLocks xmlns:a="http://schemas.openxmlformats.org/drawingml/2006/main" noGrp="1"/>
          </p:cNvSpPr>
          <p:nvPr/>
        </p:nvSpPr>
        <p:spPr>
          <a:xfrm xmlns:a="http://schemas.openxmlformats.org/drawingml/2006/main">
            <a:off x="2895600" y="2686050"/>
            <a:ext cx="1543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site-days</a:t>
            </a:r>
          </a:p>
        </p:txBody>
      </p:sp>
      <p:sp>
        <p:nvSpPr>
          <p:cNvPr id="14" name="">
            <a:extLst xmlns:a="http://schemas.openxmlformats.org/drawingml/2006/main">
              <a:ext uri="{FF2B5EF4-FFF2-40B4-BE49-F238E27FC236}">
                <a16:creationId xmlns:a16="http://schemas.microsoft.com/office/drawing/2014/main" id="{832BEF68-7DE0-4DC4-AB61-E9DB3FAE74C7}"/>
              </a:ext>
            </a:extLst>
          </p:cNvPr>
          <p:cNvSpPr>
            <a:spLocks xmlns:a="http://schemas.openxmlformats.org/drawingml/2006/main" noGrp="1"/>
          </p:cNvSpPr>
          <p:nvPr/>
        </p:nvSpPr>
        <p:spPr>
          <a:xfrm xmlns:a="http://schemas.openxmlformats.org/drawingml/2006/main">
            <a:off x="4857750" y="2095500"/>
            <a:ext cx="20002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5" name="">
            <a:extLst xmlns:a="http://schemas.openxmlformats.org/drawingml/2006/main">
              <a:ext uri="{FF2B5EF4-FFF2-40B4-BE49-F238E27FC236}">
                <a16:creationId xmlns:a16="http://schemas.microsoft.com/office/drawing/2014/main" id="{7CC1E9D8-415B-4FDE-AB0F-30C3A375721D}"/>
              </a:ext>
            </a:extLst>
          </p:cNvPr>
          <p:cNvSpPr>
            <a:spLocks xmlns:a="http://schemas.openxmlformats.org/drawingml/2006/main" noGrp="1"/>
          </p:cNvSpPr>
          <p:nvPr/>
        </p:nvSpPr>
        <p:spPr>
          <a:xfrm xmlns:a="http://schemas.openxmlformats.org/drawingml/2006/main">
            <a:off x="4972050" y="2238375"/>
            <a:ext cx="17716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38.2</a:t>
            </a:r>
          </a:p>
        </p:txBody>
      </p:sp>
      <p:sp>
        <p:nvSpPr>
          <p:cNvPr id="16" name="">
            <a:extLst xmlns:a="http://schemas.openxmlformats.org/drawingml/2006/main">
              <a:ext uri="{FF2B5EF4-FFF2-40B4-BE49-F238E27FC236}">
                <a16:creationId xmlns:a16="http://schemas.microsoft.com/office/drawing/2014/main" id="{24491527-7BE2-4909-9384-1EDA3F5B9CC2}"/>
              </a:ext>
            </a:extLst>
          </p:cNvPr>
          <p:cNvSpPr>
            <a:spLocks xmlns:a="http://schemas.openxmlformats.org/drawingml/2006/main" noGrp="1"/>
          </p:cNvSpPr>
          <p:nvPr/>
        </p:nvSpPr>
        <p:spPr>
          <a:xfrm xmlns:a="http://schemas.openxmlformats.org/drawingml/2006/main">
            <a:off x="4991100" y="2686050"/>
            <a:ext cx="1733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mean PM2.5 µg/m³</a:t>
            </a:r>
          </a:p>
        </p:txBody>
      </p:sp>
      <p:sp>
        <p:nvSpPr>
          <p:cNvPr id="17" name="">
            <a:extLst xmlns:a="http://schemas.openxmlformats.org/drawingml/2006/main">
              <a:ext uri="{FF2B5EF4-FFF2-40B4-BE49-F238E27FC236}">
                <a16:creationId xmlns:a16="http://schemas.microsoft.com/office/drawing/2014/main" id="{4FA01D01-8EB8-4996-BB63-438B75F05DAB}"/>
              </a:ext>
            </a:extLst>
          </p:cNvPr>
          <p:cNvSpPr>
            <a:spLocks xmlns:a="http://schemas.openxmlformats.org/drawingml/2006/main" noGrp="1"/>
          </p:cNvSpPr>
          <p:nvPr/>
        </p:nvSpPr>
        <p:spPr>
          <a:xfrm xmlns:a="http://schemas.openxmlformats.org/drawingml/2006/main">
            <a:off x="7143750" y="2095500"/>
            <a:ext cx="3333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8" name="">
            <a:extLst xmlns:a="http://schemas.openxmlformats.org/drawingml/2006/main">
              <a:ext uri="{FF2B5EF4-FFF2-40B4-BE49-F238E27FC236}">
                <a16:creationId xmlns:a16="http://schemas.microsoft.com/office/drawing/2014/main" id="{47315D78-79F8-4331-9AF1-0F24CC3CF0C1}"/>
              </a:ext>
            </a:extLst>
          </p:cNvPr>
          <p:cNvSpPr>
            <a:spLocks xmlns:a="http://schemas.openxmlformats.org/drawingml/2006/main" noGrp="1"/>
          </p:cNvSpPr>
          <p:nvPr/>
        </p:nvSpPr>
        <p:spPr>
          <a:xfrm xmlns:a="http://schemas.openxmlformats.org/drawingml/2006/main">
            <a:off x="7258050" y="2238375"/>
            <a:ext cx="3105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93047"/>
          </a:bodyPr>
          <a:lstStyle xmlns:a="http://schemas.openxmlformats.org/drawingml/2006/main"/>
          <a:p xmlns:a="http://schemas.openxmlformats.org/drawingml/2006/main">
            <a:pPr algn="ctr">
              <a:defRPr sz="2175" b="1">
                <a:solidFill>
                  <a:srgbClr val="9FB3BE"/>
                </a:solidFill>
              </a:defRPr>
            </a:pPr>
            <a:r>
              <a:rPr sz="2175" b="1">
                <a:solidFill>
                  <a:srgbClr val="9FB3BE"/>
                </a:solidFill>
              </a:rPr>
              <a:t>2019-05-23 → 2020-12-31</a:t>
            </a:r>
          </a:p>
        </p:txBody>
      </p:sp>
      <p:sp>
        <p:nvSpPr>
          <p:cNvPr id="19" name="">
            <a:extLst xmlns:a="http://schemas.openxmlformats.org/drawingml/2006/main">
              <a:ext uri="{FF2B5EF4-FFF2-40B4-BE49-F238E27FC236}">
                <a16:creationId xmlns:a16="http://schemas.microsoft.com/office/drawing/2014/main" id="{36C190D9-2483-42C0-8585-B0474F9FC665}"/>
              </a:ext>
            </a:extLst>
          </p:cNvPr>
          <p:cNvSpPr>
            <a:spLocks xmlns:a="http://schemas.openxmlformats.org/drawingml/2006/main" noGrp="1"/>
          </p:cNvSpPr>
          <p:nvPr/>
        </p:nvSpPr>
        <p:spPr>
          <a:xfrm xmlns:a="http://schemas.openxmlformats.org/drawingml/2006/main">
            <a:off x="7277100" y="2686050"/>
            <a:ext cx="3067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study period</a:t>
            </a:r>
          </a:p>
        </p:txBody>
      </p:sp>
      <p:sp>
        <p:nvSpPr>
          <p:cNvPr id="20" name="">
            <a:extLst xmlns:a="http://schemas.openxmlformats.org/drawingml/2006/main">
              <a:ext uri="{FF2B5EF4-FFF2-40B4-BE49-F238E27FC236}">
                <a16:creationId xmlns:a16="http://schemas.microsoft.com/office/drawing/2014/main" id="{36941F30-F814-4366-83A9-7C194404FD55}"/>
              </a:ext>
            </a:extLst>
          </p:cNvPr>
          <p:cNvSpPr>
            <a:spLocks xmlns:a="http://schemas.openxmlformats.org/drawingml/2006/main" noGrp="1"/>
          </p:cNvSpPr>
          <p:nvPr/>
        </p:nvSpPr>
        <p:spPr>
          <a:xfrm xmlns:a="http://schemas.openxmlformats.org/drawingml/2006/main">
            <a:off x="857250" y="3857625"/>
            <a:ext cx="2381250"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1" name="">
            <a:extLst xmlns:a="http://schemas.openxmlformats.org/drawingml/2006/main">
              <a:ext uri="{FF2B5EF4-FFF2-40B4-BE49-F238E27FC236}">
                <a16:creationId xmlns:a16="http://schemas.microsoft.com/office/drawing/2014/main" id="{96674694-82EE-4513-863F-A33AE7B0EC8D}"/>
              </a:ext>
            </a:extLst>
          </p:cNvPr>
          <p:cNvSpPr>
            <a:spLocks xmlns:a="http://schemas.openxmlformats.org/drawingml/2006/main" noGrp="1"/>
          </p:cNvSpPr>
          <p:nvPr/>
        </p:nvSpPr>
        <p:spPr>
          <a:xfrm xmlns:a="http://schemas.openxmlformats.org/drawingml/2006/main">
            <a:off x="857250" y="3857625"/>
            <a:ext cx="47625" cy="142875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22" name="">
            <a:extLst xmlns:a="http://schemas.openxmlformats.org/drawingml/2006/main">
              <a:ext uri="{FF2B5EF4-FFF2-40B4-BE49-F238E27FC236}">
                <a16:creationId xmlns:a16="http://schemas.microsoft.com/office/drawing/2014/main" id="{F40713FC-ACB2-4933-BE3F-FA194D065621}"/>
              </a:ext>
            </a:extLst>
          </p:cNvPr>
          <p:cNvSpPr>
            <a:spLocks xmlns:a="http://schemas.openxmlformats.org/drawingml/2006/main" noGrp="1"/>
          </p:cNvSpPr>
          <p:nvPr/>
        </p:nvSpPr>
        <p:spPr>
          <a:xfrm xmlns:a="http://schemas.openxmlformats.org/drawingml/2006/main">
            <a:off x="1066800" y="3990975"/>
            <a:ext cx="1962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AirQo sensors</a:t>
            </a:r>
          </a:p>
        </p:txBody>
      </p:sp>
      <p:sp>
        <p:nvSpPr>
          <p:cNvPr id="23" name="">
            <a:extLst xmlns:a="http://schemas.openxmlformats.org/drawingml/2006/main">
              <a:ext uri="{FF2B5EF4-FFF2-40B4-BE49-F238E27FC236}">
                <a16:creationId xmlns:a16="http://schemas.microsoft.com/office/drawing/2014/main" id="{5F0CEA19-0D7F-4C0B-9D59-2396A43911BF}"/>
              </a:ext>
            </a:extLst>
          </p:cNvPr>
          <p:cNvSpPr>
            <a:spLocks xmlns:a="http://schemas.openxmlformats.org/drawingml/2006/main" noGrp="1"/>
          </p:cNvSpPr>
          <p:nvPr/>
        </p:nvSpPr>
        <p:spPr>
          <a:xfrm xmlns:a="http://schemas.openxmlformats.org/drawingml/2006/main">
            <a:off x="1066800" y="4314825"/>
            <a:ext cx="1962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Ground truth daily PM2.5 readings across 39 Kampala-area sites.</a:t>
            </a:r>
          </a:p>
        </p:txBody>
      </p:sp>
      <p:sp>
        <p:nvSpPr>
          <p:cNvPr id="24" name="">
            <a:extLst xmlns:a="http://schemas.openxmlformats.org/drawingml/2006/main">
              <a:ext uri="{FF2B5EF4-FFF2-40B4-BE49-F238E27FC236}">
                <a16:creationId xmlns:a16="http://schemas.microsoft.com/office/drawing/2014/main" id="{023F6F6F-37AD-4238-977E-9E5C32D1FF8F}"/>
              </a:ext>
            </a:extLst>
          </p:cNvPr>
          <p:cNvSpPr>
            <a:spLocks xmlns:a="http://schemas.openxmlformats.org/drawingml/2006/main" noGrp="1"/>
          </p:cNvSpPr>
          <p:nvPr/>
        </p:nvSpPr>
        <p:spPr>
          <a:xfrm xmlns:a="http://schemas.openxmlformats.org/drawingml/2006/main">
            <a:off x="3524250" y="3857625"/>
            <a:ext cx="2381250"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5" name="">
            <a:extLst xmlns:a="http://schemas.openxmlformats.org/drawingml/2006/main">
              <a:ext uri="{FF2B5EF4-FFF2-40B4-BE49-F238E27FC236}">
                <a16:creationId xmlns:a16="http://schemas.microsoft.com/office/drawing/2014/main" id="{D322D812-3137-4FA8-A309-D1AC4EED0C09}"/>
              </a:ext>
            </a:extLst>
          </p:cNvPr>
          <p:cNvSpPr>
            <a:spLocks xmlns:a="http://schemas.openxmlformats.org/drawingml/2006/main" noGrp="1"/>
          </p:cNvSpPr>
          <p:nvPr/>
        </p:nvSpPr>
        <p:spPr>
          <a:xfrm xmlns:a="http://schemas.openxmlformats.org/drawingml/2006/main">
            <a:off x="3524250" y="3857625"/>
            <a:ext cx="47625" cy="142875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26" name="">
            <a:extLst xmlns:a="http://schemas.openxmlformats.org/drawingml/2006/main">
              <a:ext uri="{FF2B5EF4-FFF2-40B4-BE49-F238E27FC236}">
                <a16:creationId xmlns:a16="http://schemas.microsoft.com/office/drawing/2014/main" id="{863D0A46-AABF-4249-A6D4-6B55E96F03A4}"/>
              </a:ext>
            </a:extLst>
          </p:cNvPr>
          <p:cNvSpPr>
            <a:spLocks xmlns:a="http://schemas.openxmlformats.org/drawingml/2006/main" noGrp="1"/>
          </p:cNvSpPr>
          <p:nvPr/>
        </p:nvSpPr>
        <p:spPr>
          <a:xfrm xmlns:a="http://schemas.openxmlformats.org/drawingml/2006/main">
            <a:off x="3733800" y="3990975"/>
            <a:ext cx="1962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ERA5 weather</a:t>
            </a:r>
          </a:p>
        </p:txBody>
      </p:sp>
      <p:sp>
        <p:nvSpPr>
          <p:cNvPr id="27" name="">
            <a:extLst xmlns:a="http://schemas.openxmlformats.org/drawingml/2006/main">
              <a:ext uri="{FF2B5EF4-FFF2-40B4-BE49-F238E27FC236}">
                <a16:creationId xmlns:a16="http://schemas.microsoft.com/office/drawing/2014/main" id="{43CA24F7-C04D-404C-A27F-5E8F71C4EA64}"/>
              </a:ext>
            </a:extLst>
          </p:cNvPr>
          <p:cNvSpPr>
            <a:spLocks xmlns:a="http://schemas.openxmlformats.org/drawingml/2006/main" noGrp="1"/>
          </p:cNvSpPr>
          <p:nvPr/>
        </p:nvSpPr>
        <p:spPr>
          <a:xfrm xmlns:a="http://schemas.openxmlformats.org/drawingml/2006/main">
            <a:off x="3733800" y="4314825"/>
            <a:ext cx="1962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Temperature, dewpoint, wind, pressure, and precipitation.</a:t>
            </a:r>
          </a:p>
        </p:txBody>
      </p:sp>
      <p:sp>
        <p:nvSpPr>
          <p:cNvPr id="28" name="">
            <a:extLst xmlns:a="http://schemas.openxmlformats.org/drawingml/2006/main">
              <a:ext uri="{FF2B5EF4-FFF2-40B4-BE49-F238E27FC236}">
                <a16:creationId xmlns:a16="http://schemas.microsoft.com/office/drawing/2014/main" id="{981A347E-46D9-48A1-8A9F-BA5C0EFC5165}"/>
              </a:ext>
            </a:extLst>
          </p:cNvPr>
          <p:cNvSpPr>
            <a:spLocks xmlns:a="http://schemas.openxmlformats.org/drawingml/2006/main" noGrp="1"/>
          </p:cNvSpPr>
          <p:nvPr/>
        </p:nvSpPr>
        <p:spPr>
          <a:xfrm xmlns:a="http://schemas.openxmlformats.org/drawingml/2006/main">
            <a:off x="6191250" y="3857625"/>
            <a:ext cx="2381250"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9" name="">
            <a:extLst xmlns:a="http://schemas.openxmlformats.org/drawingml/2006/main">
              <a:ext uri="{FF2B5EF4-FFF2-40B4-BE49-F238E27FC236}">
                <a16:creationId xmlns:a16="http://schemas.microsoft.com/office/drawing/2014/main" id="{B34E6167-5427-4D5A-BBB3-B0124EBA3D0C}"/>
              </a:ext>
            </a:extLst>
          </p:cNvPr>
          <p:cNvSpPr>
            <a:spLocks xmlns:a="http://schemas.openxmlformats.org/drawingml/2006/main" noGrp="1"/>
          </p:cNvSpPr>
          <p:nvPr/>
        </p:nvSpPr>
        <p:spPr>
          <a:xfrm xmlns:a="http://schemas.openxmlformats.org/drawingml/2006/main">
            <a:off x="6191250" y="3857625"/>
            <a:ext cx="47625" cy="1428750"/>
          </a:xfrm>
          <a:prstGeom xmlns:a="http://schemas.openxmlformats.org/drawingml/2006/main" prst="rect">
            <a:avLst/>
          </a:prstGeom>
          <a:solidFill xmlns:a="http://schemas.openxmlformats.org/drawingml/2006/main">
            <a:srgbClr val="8B7CF6"/>
          </a:solidFill>
          <a:ln xmlns:a="http://schemas.openxmlformats.org/drawingml/2006/main" w="0">
            <a:solidFill>
              <a:srgbClr val="8B7CF6"/>
            </a:solidFill>
          </a:ln>
        </p:spPr>
      </p:sp>
      <p:sp>
        <p:nvSpPr>
          <p:cNvPr id="30" name="">
            <a:extLst xmlns:a="http://schemas.openxmlformats.org/drawingml/2006/main">
              <a:ext uri="{FF2B5EF4-FFF2-40B4-BE49-F238E27FC236}">
                <a16:creationId xmlns:a16="http://schemas.microsoft.com/office/drawing/2014/main" id="{34035A03-5D19-450F-97C7-72C0881F74BE}"/>
              </a:ext>
            </a:extLst>
          </p:cNvPr>
          <p:cNvSpPr>
            <a:spLocks xmlns:a="http://schemas.openxmlformats.org/drawingml/2006/main" noGrp="1"/>
          </p:cNvSpPr>
          <p:nvPr/>
        </p:nvSpPr>
        <p:spPr>
          <a:xfrm xmlns:a="http://schemas.openxmlformats.org/drawingml/2006/main">
            <a:off x="6400800" y="3990975"/>
            <a:ext cx="1962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Satellite LST</a:t>
            </a:r>
          </a:p>
        </p:txBody>
      </p:sp>
      <p:sp>
        <p:nvSpPr>
          <p:cNvPr id="31" name="">
            <a:extLst xmlns:a="http://schemas.openxmlformats.org/drawingml/2006/main">
              <a:ext uri="{FF2B5EF4-FFF2-40B4-BE49-F238E27FC236}">
                <a16:creationId xmlns:a16="http://schemas.microsoft.com/office/drawing/2014/main" id="{7FB4E320-8728-4EEF-9E3A-4DB671A9CB76}"/>
              </a:ext>
            </a:extLst>
          </p:cNvPr>
          <p:cNvSpPr>
            <a:spLocks xmlns:a="http://schemas.openxmlformats.org/drawingml/2006/main" noGrp="1"/>
          </p:cNvSpPr>
          <p:nvPr/>
        </p:nvSpPr>
        <p:spPr>
          <a:xfrm xmlns:a="http://schemas.openxmlformats.org/drawingml/2006/main">
            <a:off x="6400800" y="4314825"/>
            <a:ext cx="1962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Land-surface temperature was carried, but cloud gaps and low value limited adoption.</a:t>
            </a:r>
          </a:p>
        </p:txBody>
      </p:sp>
      <p:sp>
        <p:nvSpPr>
          <p:cNvPr id="32" name="">
            <a:extLst xmlns:a="http://schemas.openxmlformats.org/drawingml/2006/main">
              <a:ext uri="{FF2B5EF4-FFF2-40B4-BE49-F238E27FC236}">
                <a16:creationId xmlns:a16="http://schemas.microsoft.com/office/drawing/2014/main" id="{67421DF8-9FB8-4518-A1F4-F3588ECF0E72}"/>
              </a:ext>
            </a:extLst>
          </p:cNvPr>
          <p:cNvSpPr>
            <a:spLocks xmlns:a="http://schemas.openxmlformats.org/drawingml/2006/main" noGrp="1"/>
          </p:cNvSpPr>
          <p:nvPr/>
        </p:nvSpPr>
        <p:spPr>
          <a:xfrm xmlns:a="http://schemas.openxmlformats.org/drawingml/2006/main">
            <a:off x="8858250" y="3857625"/>
            <a:ext cx="2381250"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33" name="">
            <a:extLst xmlns:a="http://schemas.openxmlformats.org/drawingml/2006/main">
              <a:ext uri="{FF2B5EF4-FFF2-40B4-BE49-F238E27FC236}">
                <a16:creationId xmlns:a16="http://schemas.microsoft.com/office/drawing/2014/main" id="{3E5960BA-8935-454C-99BA-D093A8DD1529}"/>
              </a:ext>
            </a:extLst>
          </p:cNvPr>
          <p:cNvSpPr>
            <a:spLocks xmlns:a="http://schemas.openxmlformats.org/drawingml/2006/main" noGrp="1"/>
          </p:cNvSpPr>
          <p:nvPr/>
        </p:nvSpPr>
        <p:spPr>
          <a:xfrm xmlns:a="http://schemas.openxmlformats.org/drawingml/2006/main">
            <a:off x="8858250" y="3857625"/>
            <a:ext cx="47625" cy="1428750"/>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34" name="">
            <a:extLst xmlns:a="http://schemas.openxmlformats.org/drawingml/2006/main">
              <a:ext uri="{FF2B5EF4-FFF2-40B4-BE49-F238E27FC236}">
                <a16:creationId xmlns:a16="http://schemas.microsoft.com/office/drawing/2014/main" id="{A3403013-5881-43DB-ABB0-61E0A3F16BFD}"/>
              </a:ext>
            </a:extLst>
          </p:cNvPr>
          <p:cNvSpPr>
            <a:spLocks xmlns:a="http://schemas.openxmlformats.org/drawingml/2006/main" noGrp="1"/>
          </p:cNvSpPr>
          <p:nvPr/>
        </p:nvSpPr>
        <p:spPr>
          <a:xfrm xmlns:a="http://schemas.openxmlformats.org/drawingml/2006/main">
            <a:off x="9067800" y="3990975"/>
            <a:ext cx="1962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Geospatial data</a:t>
            </a:r>
          </a:p>
        </p:txBody>
      </p:sp>
      <p:sp>
        <p:nvSpPr>
          <p:cNvPr id="35" name="">
            <a:extLst xmlns:a="http://schemas.openxmlformats.org/drawingml/2006/main">
              <a:ext uri="{FF2B5EF4-FFF2-40B4-BE49-F238E27FC236}">
                <a16:creationId xmlns:a16="http://schemas.microsoft.com/office/drawing/2014/main" id="{22B927F3-5EA0-4D3C-910C-893A138EB33A}"/>
              </a:ext>
            </a:extLst>
          </p:cNvPr>
          <p:cNvSpPr>
            <a:spLocks xmlns:a="http://schemas.openxmlformats.org/drawingml/2006/main" noGrp="1"/>
          </p:cNvSpPr>
          <p:nvPr/>
        </p:nvSpPr>
        <p:spPr>
          <a:xfrm xmlns:a="http://schemas.openxmlformats.org/drawingml/2006/main">
            <a:off x="9067800" y="4314825"/>
            <a:ext cx="1962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Road density, distance to major roads, elevation, and building-density experiments.</a:t>
            </a:r>
          </a:p>
        </p:txBody>
      </p:sp>
    </p:spTree>
    <p:extLst>
      <p:ext uri="{BB962C8B-B14F-4D97-AF65-F5344CB8AC3E}">
        <p14:creationId xmlns:p14="http://schemas.microsoft.com/office/powerpoint/2010/main" val="755092735"/>
      </p:ext>
    </p:extLst>
  </p:cSld>
</p:sld>
</file>

<file path=ppt/slides/slide5.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5C956266-E4DC-4B00-A783-D5A153E52B8B}"/>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61D826B3-6D27-4C48-B936-CAC0F8393655}"/>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EF0436AA-D37B-4BF8-812D-82EA4C8E2893}"/>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D1190DDA-140F-4B1A-A6DC-779803A2275C}"/>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1 · explore &amp; frame</a:t>
            </a:r>
          </a:p>
        </p:txBody>
      </p:sp>
      <p:sp>
        <p:nvSpPr>
          <p:cNvPr id="6" name="">
            <a:extLst xmlns:a="http://schemas.openxmlformats.org/drawingml/2006/main">
              <a:ext uri="{FF2B5EF4-FFF2-40B4-BE49-F238E27FC236}">
                <a16:creationId xmlns:a16="http://schemas.microsoft.com/office/drawing/2014/main" id="{2998E823-EC04-4F41-B9BE-273E494B3920}"/>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Stage 1 Findings: Pollution Is Structured but Hard</a:t>
            </a:r>
          </a:p>
        </p:txBody>
      </p:sp>
      <p:sp>
        <p:nvSpPr>
          <p:cNvPr id="7" name="">
            <a:extLst xmlns:a="http://schemas.openxmlformats.org/drawingml/2006/main">
              <a:ext uri="{FF2B5EF4-FFF2-40B4-BE49-F238E27FC236}">
                <a16:creationId xmlns:a16="http://schemas.microsoft.com/office/drawing/2014/main" id="{F5097B06-2D0A-4F95-BFE3-E0A50F983881}"/>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The exploration explains why a naive model fails.</a:t>
            </a:r>
          </a:p>
        </p:txBody>
      </p:sp>
      <p:sp>
        <p:nvSpPr>
          <p:cNvPr id="8" name="">
            <a:extLst xmlns:a="http://schemas.openxmlformats.org/drawingml/2006/main">
              <a:ext uri="{FF2B5EF4-FFF2-40B4-BE49-F238E27FC236}">
                <a16:creationId xmlns:a16="http://schemas.microsoft.com/office/drawing/2014/main" id="{065D2385-DAB5-4911-890A-A39F7A008027}"/>
              </a:ext>
            </a:extLst>
          </p:cNvPr>
          <p:cNvSpPr>
            <a:spLocks xmlns:a="http://schemas.openxmlformats.org/drawingml/2006/main" noGrp="1"/>
          </p:cNvSpPr>
          <p:nvPr/>
        </p:nvSpPr>
        <p:spPr>
          <a:xfrm xmlns:a="http://schemas.openxmlformats.org/drawingml/2006/main">
            <a:off x="762000" y="2047875"/>
            <a:ext cx="20002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D03D4AD7-7AE0-40E1-A892-C042A1C349CA}"/>
              </a:ext>
            </a:extLst>
          </p:cNvPr>
          <p:cNvSpPr>
            <a:spLocks xmlns:a="http://schemas.openxmlformats.org/drawingml/2006/main" noGrp="1"/>
          </p:cNvSpPr>
          <p:nvPr/>
        </p:nvSpPr>
        <p:spPr>
          <a:xfrm xmlns:a="http://schemas.openxmlformats.org/drawingml/2006/main">
            <a:off x="876300" y="2190750"/>
            <a:ext cx="17716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C5A4C"/>
                </a:solidFill>
              </a:defRPr>
            </a:pPr>
            <a:r>
              <a:rPr sz="2175" b="1">
                <a:solidFill>
                  <a:srgbClr val="EC5A4C"/>
                </a:solidFill>
              </a:rPr>
              <a:t>94%</a:t>
            </a:r>
          </a:p>
        </p:txBody>
      </p:sp>
      <p:sp>
        <p:nvSpPr>
          <p:cNvPr id="10" name="">
            <a:extLst xmlns:a="http://schemas.openxmlformats.org/drawingml/2006/main">
              <a:ext uri="{FF2B5EF4-FFF2-40B4-BE49-F238E27FC236}">
                <a16:creationId xmlns:a16="http://schemas.microsoft.com/office/drawing/2014/main" id="{86B7AB30-8310-4C23-9035-2DBBD5127C7D}"/>
              </a:ext>
            </a:extLst>
          </p:cNvPr>
          <p:cNvSpPr>
            <a:spLocks xmlns:a="http://schemas.openxmlformats.org/drawingml/2006/main" noGrp="1"/>
          </p:cNvSpPr>
          <p:nvPr/>
        </p:nvSpPr>
        <p:spPr>
          <a:xfrm xmlns:a="http://schemas.openxmlformats.org/drawingml/2006/main">
            <a:off x="895350" y="2638425"/>
            <a:ext cx="1733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site-days above WHO 15</a:t>
            </a:r>
          </a:p>
        </p:txBody>
      </p:sp>
      <p:sp>
        <p:nvSpPr>
          <p:cNvPr id="11" name="">
            <a:extLst xmlns:a="http://schemas.openxmlformats.org/drawingml/2006/main">
              <a:ext uri="{FF2B5EF4-FFF2-40B4-BE49-F238E27FC236}">
                <a16:creationId xmlns:a16="http://schemas.microsoft.com/office/drawing/2014/main" id="{08E3E7F2-9562-48FD-A44C-1E410A31A370}"/>
              </a:ext>
            </a:extLst>
          </p:cNvPr>
          <p:cNvSpPr>
            <a:spLocks xmlns:a="http://schemas.openxmlformats.org/drawingml/2006/main" noGrp="1"/>
          </p:cNvSpPr>
          <p:nvPr/>
        </p:nvSpPr>
        <p:spPr>
          <a:xfrm xmlns:a="http://schemas.openxmlformats.org/drawingml/2006/main">
            <a:off x="3048000" y="2047875"/>
            <a:ext cx="2190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2" name="">
            <a:extLst xmlns:a="http://schemas.openxmlformats.org/drawingml/2006/main">
              <a:ext uri="{FF2B5EF4-FFF2-40B4-BE49-F238E27FC236}">
                <a16:creationId xmlns:a16="http://schemas.microsoft.com/office/drawing/2014/main" id="{F0A9E139-7AD4-406E-8298-6C55B89D8C90}"/>
              </a:ext>
            </a:extLst>
          </p:cNvPr>
          <p:cNvSpPr>
            <a:spLocks xmlns:a="http://schemas.openxmlformats.org/drawingml/2006/main" noGrp="1"/>
          </p:cNvSpPr>
          <p:nvPr/>
        </p:nvSpPr>
        <p:spPr>
          <a:xfrm xmlns:a="http://schemas.openxmlformats.org/drawingml/2006/main">
            <a:off x="3162300" y="2190750"/>
            <a:ext cx="1962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8A020"/>
                </a:solidFill>
              </a:defRPr>
            </a:pPr>
            <a:r>
              <a:rPr sz="2175" b="1">
                <a:solidFill>
                  <a:srgbClr val="E8A020"/>
                </a:solidFill>
              </a:rPr>
              <a:t>81%</a:t>
            </a:r>
          </a:p>
        </p:txBody>
      </p:sp>
      <p:sp>
        <p:nvSpPr>
          <p:cNvPr id="13" name="">
            <a:extLst xmlns:a="http://schemas.openxmlformats.org/drawingml/2006/main">
              <a:ext uri="{FF2B5EF4-FFF2-40B4-BE49-F238E27FC236}">
                <a16:creationId xmlns:a16="http://schemas.microsoft.com/office/drawing/2014/main" id="{3A74CBAF-9EB8-40BC-BA10-0984BA3A70D8}"/>
              </a:ext>
            </a:extLst>
          </p:cNvPr>
          <p:cNvSpPr>
            <a:spLocks xmlns:a="http://schemas.openxmlformats.org/drawingml/2006/main" noGrp="1"/>
          </p:cNvSpPr>
          <p:nvPr/>
        </p:nvSpPr>
        <p:spPr>
          <a:xfrm xmlns:a="http://schemas.openxmlformats.org/drawingml/2006/main">
            <a:off x="3181350" y="2638425"/>
            <a:ext cx="1924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daytime LST missing/gapped</a:t>
            </a:r>
          </a:p>
        </p:txBody>
      </p:sp>
      <p:sp>
        <p:nvSpPr>
          <p:cNvPr id="14" name="">
            <a:extLst xmlns:a="http://schemas.openxmlformats.org/drawingml/2006/main">
              <a:ext uri="{FF2B5EF4-FFF2-40B4-BE49-F238E27FC236}">
                <a16:creationId xmlns:a16="http://schemas.microsoft.com/office/drawing/2014/main" id="{594ADC44-E442-4F3D-9177-CB2F15FF0F39}"/>
              </a:ext>
            </a:extLst>
          </p:cNvPr>
          <p:cNvSpPr>
            <a:spLocks xmlns:a="http://schemas.openxmlformats.org/drawingml/2006/main" noGrp="1"/>
          </p:cNvSpPr>
          <p:nvPr/>
        </p:nvSpPr>
        <p:spPr>
          <a:xfrm xmlns:a="http://schemas.openxmlformats.org/drawingml/2006/main">
            <a:off x="5524500" y="2047875"/>
            <a:ext cx="2190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5" name="">
            <a:extLst xmlns:a="http://schemas.openxmlformats.org/drawingml/2006/main">
              <a:ext uri="{FF2B5EF4-FFF2-40B4-BE49-F238E27FC236}">
                <a16:creationId xmlns:a16="http://schemas.microsoft.com/office/drawing/2014/main" id="{FC0559A9-A0D5-4FDB-AE84-D5977157A478}"/>
              </a:ext>
            </a:extLst>
          </p:cNvPr>
          <p:cNvSpPr>
            <a:spLocks xmlns:a="http://schemas.openxmlformats.org/drawingml/2006/main" noGrp="1"/>
          </p:cNvSpPr>
          <p:nvPr/>
        </p:nvSpPr>
        <p:spPr>
          <a:xfrm xmlns:a="http://schemas.openxmlformats.org/drawingml/2006/main">
            <a:off x="5638800" y="2190750"/>
            <a:ext cx="1962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8A020"/>
                </a:solidFill>
              </a:defRPr>
            </a:pPr>
            <a:r>
              <a:rPr sz="2175" b="1">
                <a:solidFill>
                  <a:srgbClr val="E8A020"/>
                </a:solidFill>
              </a:rPr>
              <a:t>84%</a:t>
            </a:r>
          </a:p>
        </p:txBody>
      </p:sp>
      <p:sp>
        <p:nvSpPr>
          <p:cNvPr id="16" name="">
            <a:extLst xmlns:a="http://schemas.openxmlformats.org/drawingml/2006/main">
              <a:ext uri="{FF2B5EF4-FFF2-40B4-BE49-F238E27FC236}">
                <a16:creationId xmlns:a16="http://schemas.microsoft.com/office/drawing/2014/main" id="{EBF4D341-0B4E-4FA2-BC7B-236B7CB1AF16}"/>
              </a:ext>
            </a:extLst>
          </p:cNvPr>
          <p:cNvSpPr>
            <a:spLocks xmlns:a="http://schemas.openxmlformats.org/drawingml/2006/main" noGrp="1"/>
          </p:cNvSpPr>
          <p:nvPr/>
        </p:nvSpPr>
        <p:spPr>
          <a:xfrm xmlns:a="http://schemas.openxmlformats.org/drawingml/2006/main">
            <a:off x="5657850" y="2638425"/>
            <a:ext cx="1924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night LST missing/gapped</a:t>
            </a:r>
          </a:p>
        </p:txBody>
      </p:sp>
      <p:sp>
        <p:nvSpPr>
          <p:cNvPr id="17" name="">
            <a:extLst xmlns:a="http://schemas.openxmlformats.org/drawingml/2006/main">
              <a:ext uri="{FF2B5EF4-FFF2-40B4-BE49-F238E27FC236}">
                <a16:creationId xmlns:a16="http://schemas.microsoft.com/office/drawing/2014/main" id="{D5E728DD-7731-4B9F-8530-26952F0681AD}"/>
              </a:ext>
            </a:extLst>
          </p:cNvPr>
          <p:cNvSpPr>
            <a:spLocks xmlns:a="http://schemas.openxmlformats.org/drawingml/2006/main" noGrp="1"/>
          </p:cNvSpPr>
          <p:nvPr/>
        </p:nvSpPr>
        <p:spPr>
          <a:xfrm xmlns:a="http://schemas.openxmlformats.org/drawingml/2006/main">
            <a:off x="8096250" y="1809750"/>
            <a:ext cx="2952750" cy="16192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8" name="">
            <a:extLst xmlns:a="http://schemas.openxmlformats.org/drawingml/2006/main">
              <a:ext uri="{FF2B5EF4-FFF2-40B4-BE49-F238E27FC236}">
                <a16:creationId xmlns:a16="http://schemas.microsoft.com/office/drawing/2014/main" id="{FBE65A64-E8D2-4A51-8F54-1224C48D528B}"/>
              </a:ext>
            </a:extLst>
          </p:cNvPr>
          <p:cNvSpPr>
            <a:spLocks xmlns:a="http://schemas.openxmlformats.org/drawingml/2006/main" noGrp="1"/>
          </p:cNvSpPr>
          <p:nvPr/>
        </p:nvSpPr>
        <p:spPr>
          <a:xfrm xmlns:a="http://schemas.openxmlformats.org/drawingml/2006/main">
            <a:off x="8096250" y="1809750"/>
            <a:ext cx="47625" cy="1619250"/>
          </a:xfrm>
          <a:prstGeom xmlns:a="http://schemas.openxmlformats.org/drawingml/2006/main" prst="rect">
            <a:avLst/>
          </a:prstGeom>
          <a:solidFill xmlns:a="http://schemas.openxmlformats.org/drawingml/2006/main">
            <a:srgbClr val="8B7CF6"/>
          </a:solidFill>
          <a:ln xmlns:a="http://schemas.openxmlformats.org/drawingml/2006/main" w="0">
            <a:solidFill>
              <a:srgbClr val="8B7CF6"/>
            </a:solidFill>
          </a:ln>
        </p:spPr>
      </p:sp>
      <p:sp>
        <p:nvSpPr>
          <p:cNvPr id="19" name="">
            <a:extLst xmlns:a="http://schemas.openxmlformats.org/drawingml/2006/main">
              <a:ext uri="{FF2B5EF4-FFF2-40B4-BE49-F238E27FC236}">
                <a16:creationId xmlns:a16="http://schemas.microsoft.com/office/drawing/2014/main" id="{E1E82B89-96B9-4EC2-A2A4-7B5968B5F56E}"/>
              </a:ext>
            </a:extLst>
          </p:cNvPr>
          <p:cNvSpPr>
            <a:spLocks xmlns:a="http://schemas.openxmlformats.org/drawingml/2006/main" noGrp="1"/>
          </p:cNvSpPr>
          <p:nvPr/>
        </p:nvSpPr>
        <p:spPr>
          <a:xfrm xmlns:a="http://schemas.openxmlformats.org/drawingml/2006/main">
            <a:off x="8305800" y="1943100"/>
            <a:ext cx="25336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MNAR idea</a:t>
            </a:r>
          </a:p>
        </p:txBody>
      </p:sp>
      <p:sp>
        <p:nvSpPr>
          <p:cNvPr id="20" name="">
            <a:extLst xmlns:a="http://schemas.openxmlformats.org/drawingml/2006/main">
              <a:ext uri="{FF2B5EF4-FFF2-40B4-BE49-F238E27FC236}">
                <a16:creationId xmlns:a16="http://schemas.microsoft.com/office/drawing/2014/main" id="{30435C52-4915-4216-9987-E1B19304190D}"/>
              </a:ext>
            </a:extLst>
          </p:cNvPr>
          <p:cNvSpPr>
            <a:spLocks xmlns:a="http://schemas.openxmlformats.org/drawingml/2006/main" noGrp="1"/>
          </p:cNvSpPr>
          <p:nvPr/>
        </p:nvSpPr>
        <p:spPr>
          <a:xfrm xmlns:a="http://schemas.openxmlformats.org/drawingml/2006/main">
            <a:off x="8305800" y="2266950"/>
            <a:ext cx="2533650" cy="1085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LST gaps are not random: clouds hide the surface and also relate to pollution/weather regimes.</a:t>
            </a:r>
          </a:p>
        </p:txBody>
      </p:sp>
      <p:sp>
        <p:nvSpPr>
          <p:cNvPr id="21" name="">
            <a:extLst xmlns:a="http://schemas.openxmlformats.org/drawingml/2006/main">
              <a:ext uri="{FF2B5EF4-FFF2-40B4-BE49-F238E27FC236}">
                <a16:creationId xmlns:a16="http://schemas.microsoft.com/office/drawing/2014/main" id="{57A6429E-0D7C-41E2-ACEE-BE83ECB2CBEA}"/>
              </a:ext>
            </a:extLst>
          </p:cNvPr>
          <p:cNvSpPr>
            <a:spLocks xmlns:a="http://schemas.openxmlformats.org/drawingml/2006/main" noGrp="1"/>
          </p:cNvSpPr>
          <p:nvPr/>
        </p:nvSpPr>
        <p:spPr>
          <a:xfrm xmlns:a="http://schemas.openxmlformats.org/drawingml/2006/main">
            <a:off x="1000125" y="421957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2" name="">
            <a:extLst xmlns:a="http://schemas.openxmlformats.org/drawingml/2006/main">
              <a:ext uri="{FF2B5EF4-FFF2-40B4-BE49-F238E27FC236}">
                <a16:creationId xmlns:a16="http://schemas.microsoft.com/office/drawing/2014/main" id="{82CF09D4-003B-49E0-8CE3-72681BF13A05}"/>
              </a:ext>
            </a:extLst>
          </p:cNvPr>
          <p:cNvSpPr>
            <a:spLocks xmlns:a="http://schemas.openxmlformats.org/drawingml/2006/main" noGrp="1"/>
          </p:cNvSpPr>
          <p:nvPr/>
        </p:nvSpPr>
        <p:spPr>
          <a:xfrm xmlns:a="http://schemas.openxmlformats.org/drawingml/2006/main">
            <a:off x="1209675" y="4095750"/>
            <a:ext cx="92202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PM2.5 distribution is skewed and frequently unsafe.</a:t>
            </a:r>
          </a:p>
        </p:txBody>
      </p:sp>
      <p:sp>
        <p:nvSpPr>
          <p:cNvPr id="23" name="">
            <a:extLst xmlns:a="http://schemas.openxmlformats.org/drawingml/2006/main">
              <a:ext uri="{FF2B5EF4-FFF2-40B4-BE49-F238E27FC236}">
                <a16:creationId xmlns:a16="http://schemas.microsoft.com/office/drawing/2014/main" id="{761F51BB-1926-4116-AA67-6B3F6EE9B5F5}"/>
              </a:ext>
            </a:extLst>
          </p:cNvPr>
          <p:cNvSpPr>
            <a:spLocks xmlns:a="http://schemas.openxmlformats.org/drawingml/2006/main" noGrp="1"/>
          </p:cNvSpPr>
          <p:nvPr/>
        </p:nvSpPr>
        <p:spPr>
          <a:xfrm xmlns:a="http://schemas.openxmlformats.org/drawingml/2006/main">
            <a:off x="1000125" y="461962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4" name="">
            <a:extLst xmlns:a="http://schemas.openxmlformats.org/drawingml/2006/main">
              <a:ext uri="{FF2B5EF4-FFF2-40B4-BE49-F238E27FC236}">
                <a16:creationId xmlns:a16="http://schemas.microsoft.com/office/drawing/2014/main" id="{D697DDD9-B861-4784-8CC2-7FF943B305BB}"/>
              </a:ext>
            </a:extLst>
          </p:cNvPr>
          <p:cNvSpPr>
            <a:spLocks xmlns:a="http://schemas.openxmlformats.org/drawingml/2006/main" noGrp="1"/>
          </p:cNvSpPr>
          <p:nvPr/>
        </p:nvSpPr>
        <p:spPr>
          <a:xfrm xmlns:a="http://schemas.openxmlformats.org/drawingml/2006/main">
            <a:off x="1209675" y="4495800"/>
            <a:ext cx="92202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Seasonality and temporal patterns matter.</a:t>
            </a:r>
          </a:p>
        </p:txBody>
      </p:sp>
      <p:sp>
        <p:nvSpPr>
          <p:cNvPr id="25" name="">
            <a:extLst xmlns:a="http://schemas.openxmlformats.org/drawingml/2006/main">
              <a:ext uri="{FF2B5EF4-FFF2-40B4-BE49-F238E27FC236}">
                <a16:creationId xmlns:a16="http://schemas.microsoft.com/office/drawing/2014/main" id="{3013BC0A-9AD7-482A-BF88-E99C0FC4CE8F}"/>
              </a:ext>
            </a:extLst>
          </p:cNvPr>
          <p:cNvSpPr>
            <a:spLocks xmlns:a="http://schemas.openxmlformats.org/drawingml/2006/main" noGrp="1"/>
          </p:cNvSpPr>
          <p:nvPr/>
        </p:nvSpPr>
        <p:spPr>
          <a:xfrm xmlns:a="http://schemas.openxmlformats.org/drawingml/2006/main">
            <a:off x="1000125" y="501967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6" name="">
            <a:extLst xmlns:a="http://schemas.openxmlformats.org/drawingml/2006/main">
              <a:ext uri="{FF2B5EF4-FFF2-40B4-BE49-F238E27FC236}">
                <a16:creationId xmlns:a16="http://schemas.microsoft.com/office/drawing/2014/main" id="{08776FD9-9D95-4115-ACF6-91F16CA0F1DE}"/>
              </a:ext>
            </a:extLst>
          </p:cNvPr>
          <p:cNvSpPr>
            <a:spLocks xmlns:a="http://schemas.openxmlformats.org/drawingml/2006/main" noGrp="1"/>
          </p:cNvSpPr>
          <p:nvPr/>
        </p:nvSpPr>
        <p:spPr>
          <a:xfrm xmlns:a="http://schemas.openxmlformats.org/drawingml/2006/main">
            <a:off x="1209675" y="4895850"/>
            <a:ext cx="92202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Correlation analysis showed no single easy predictor solves the task.</a:t>
            </a:r>
          </a:p>
        </p:txBody>
      </p:sp>
      <p:sp>
        <p:nvSpPr>
          <p:cNvPr id="27" name="">
            <a:extLst xmlns:a="http://schemas.openxmlformats.org/drawingml/2006/main">
              <a:ext uri="{FF2B5EF4-FFF2-40B4-BE49-F238E27FC236}">
                <a16:creationId xmlns:a16="http://schemas.microsoft.com/office/drawing/2014/main" id="{BEBCDAEC-8863-4999-8828-58A78F98D8AC}"/>
              </a:ext>
            </a:extLst>
          </p:cNvPr>
          <p:cNvSpPr>
            <a:spLocks xmlns:a="http://schemas.openxmlformats.org/drawingml/2006/main" noGrp="1"/>
          </p:cNvSpPr>
          <p:nvPr/>
        </p:nvSpPr>
        <p:spPr>
          <a:xfrm xmlns:a="http://schemas.openxmlformats.org/drawingml/2006/main">
            <a:off x="1000125" y="541972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8" name="">
            <a:extLst xmlns:a="http://schemas.openxmlformats.org/drawingml/2006/main">
              <a:ext uri="{FF2B5EF4-FFF2-40B4-BE49-F238E27FC236}">
                <a16:creationId xmlns:a16="http://schemas.microsoft.com/office/drawing/2014/main" id="{CA8D4EE0-1BF9-4C7B-900C-6D96C8BFDD9D}"/>
              </a:ext>
            </a:extLst>
          </p:cNvPr>
          <p:cNvSpPr>
            <a:spLocks xmlns:a="http://schemas.openxmlformats.org/drawingml/2006/main" noGrp="1"/>
          </p:cNvSpPr>
          <p:nvPr/>
        </p:nvSpPr>
        <p:spPr>
          <a:xfrm xmlns:a="http://schemas.openxmlformats.org/drawingml/2006/main">
            <a:off x="1209675" y="5295900"/>
            <a:ext cx="92202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LST missingness contains information but LST itself was not adopted as a core lever.</a:t>
            </a:r>
          </a:p>
        </p:txBody>
      </p:sp>
      <p:sp>
        <p:nvSpPr>
          <p:cNvPr id="29" name="">
            <a:extLst xmlns:a="http://schemas.openxmlformats.org/drawingml/2006/main">
              <a:ext uri="{FF2B5EF4-FFF2-40B4-BE49-F238E27FC236}">
                <a16:creationId xmlns:a16="http://schemas.microsoft.com/office/drawing/2014/main" id="{25841115-EF00-4293-B7F7-C980CA57B660}"/>
              </a:ext>
            </a:extLst>
          </p:cNvPr>
          <p:cNvSpPr>
            <a:spLocks xmlns:a="http://schemas.openxmlformats.org/drawingml/2006/main" noGrp="1"/>
          </p:cNvSpPr>
          <p:nvPr/>
        </p:nvSpPr>
        <p:spPr>
          <a:xfrm xmlns:a="http://schemas.openxmlformats.org/drawingml/2006/main">
            <a:off x="1143000" y="5810250"/>
            <a:ext cx="9906000" cy="5143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30" name="">
            <a:extLst xmlns:a="http://schemas.openxmlformats.org/drawingml/2006/main">
              <a:ext uri="{FF2B5EF4-FFF2-40B4-BE49-F238E27FC236}">
                <a16:creationId xmlns:a16="http://schemas.microsoft.com/office/drawing/2014/main" id="{FECF7F1E-CEF7-4A36-90C5-F2992F41B347}"/>
              </a:ext>
            </a:extLst>
          </p:cNvPr>
          <p:cNvSpPr>
            <a:spLocks xmlns:a="http://schemas.openxmlformats.org/drawingml/2006/main" noGrp="1"/>
          </p:cNvSpPr>
          <p:nvPr/>
        </p:nvSpPr>
        <p:spPr>
          <a:xfrm xmlns:a="http://schemas.openxmlformats.org/drawingml/2006/main">
            <a:off x="1143000" y="5810250"/>
            <a:ext cx="47625" cy="51435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31" name="">
            <a:extLst xmlns:a="http://schemas.openxmlformats.org/drawingml/2006/main">
              <a:ext uri="{FF2B5EF4-FFF2-40B4-BE49-F238E27FC236}">
                <a16:creationId xmlns:a16="http://schemas.microsoft.com/office/drawing/2014/main" id="{472C89A0-AF4E-4E44-B0C9-F563FE87393E}"/>
              </a:ext>
            </a:extLst>
          </p:cNvPr>
          <p:cNvSpPr>
            <a:spLocks xmlns:a="http://schemas.openxmlformats.org/drawingml/2006/main" noGrp="1"/>
          </p:cNvSpPr>
          <p:nvPr/>
        </p:nvSpPr>
        <p:spPr>
          <a:xfrm xmlns:a="http://schemas.openxmlformats.org/drawingml/2006/main">
            <a:off x="1352550" y="5943600"/>
            <a:ext cx="9486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Key message</a:t>
            </a:r>
          </a:p>
        </p:txBody>
      </p:sp>
      <p:sp>
        <p:nvSpPr>
          <p:cNvPr id="32" name="">
            <a:extLst xmlns:a="http://schemas.openxmlformats.org/drawingml/2006/main">
              <a:ext uri="{FF2B5EF4-FFF2-40B4-BE49-F238E27FC236}">
                <a16:creationId xmlns:a16="http://schemas.microsoft.com/office/drawing/2014/main" id="{5219E0F2-4C6F-4C15-9B9E-EDF620AD3FDC}"/>
              </a:ext>
            </a:extLst>
          </p:cNvPr>
          <p:cNvSpPr>
            <a:spLocks xmlns:a="http://schemas.openxmlformats.org/drawingml/2006/main" noGrp="1"/>
          </p:cNvSpPr>
          <p:nvPr/>
        </p:nvSpPr>
        <p:spPr>
          <a:xfrm xmlns:a="http://schemas.openxmlformats.org/drawingml/2006/main">
            <a:off x="1352550" y="6267450"/>
            <a:ext cx="9486900" cy="-19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
          </a:bodyPr>
          <a:lstStyle xmlns:a="http://schemas.openxmlformats.org/drawingml/2006/main"/>
          <a:p xmlns:a="http://schemas.openxmlformats.org/drawingml/2006/main">
            <a:pPr algn="l">
              <a:defRPr sz="1200" b="0">
                <a:solidFill>
                  <a:srgbClr val="9FB3BE"/>
                </a:solidFill>
              </a:defRPr>
            </a:pPr>
            <a:r>
              <a:rPr sz="1200" b="0">
                <a:solidFill>
                  <a:srgbClr val="9FB3BE"/>
                </a:solidFill>
              </a:rPr>
              <a:t>Before building models, we proved pollution is seasonal, difficult to predict, and that LST missingness carries information.</a:t>
            </a:r>
          </a:p>
        </p:txBody>
      </p:sp>
    </p:spTree>
    <p:extLst>
      <p:ext uri="{BB962C8B-B14F-4D97-AF65-F5344CB8AC3E}">
        <p14:creationId xmlns:p14="http://schemas.microsoft.com/office/powerpoint/2010/main" val="778166156"/>
      </p:ext>
    </p:extLst>
  </p:cSld>
</p:sld>
</file>

<file path=ppt/slides/slide6.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B9847B51-D244-40B1-A13D-2573C47E3E2A}"/>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D7DDCFBD-5664-463D-BF1A-3F3DB4067053}"/>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A23C83CA-4236-4125-AA9C-BCC03D33BB35}"/>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A139D4B9-33E9-461D-9A51-E9F66166393D}"/>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2 · Stage 2</a:t>
            </a:r>
          </a:p>
        </p:txBody>
      </p:sp>
      <p:sp>
        <p:nvSpPr>
          <p:cNvPr id="6" name="">
            <a:extLst xmlns:a="http://schemas.openxmlformats.org/drawingml/2006/main">
              <a:ext uri="{FF2B5EF4-FFF2-40B4-BE49-F238E27FC236}">
                <a16:creationId xmlns:a16="http://schemas.microsoft.com/office/drawing/2014/main" id="{BF2A392F-30EB-41F8-BB19-2C3F13CCB1B4}"/>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From Raw Rows to Model-Ready Features</a:t>
            </a:r>
          </a:p>
        </p:txBody>
      </p:sp>
      <p:sp>
        <p:nvSpPr>
          <p:cNvPr id="7" name="">
            <a:extLst xmlns:a="http://schemas.openxmlformats.org/drawingml/2006/main">
              <a:ext uri="{FF2B5EF4-FFF2-40B4-BE49-F238E27FC236}">
                <a16:creationId xmlns:a16="http://schemas.microsoft.com/office/drawing/2014/main" id="{B50AEDD8-342A-4FF6-B256-7B5428B237E8}"/>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Stage 2 is about the site-day grain and repeatable feature construction.</a:t>
            </a:r>
          </a:p>
        </p:txBody>
      </p:sp>
      <p:sp>
        <p:nvSpPr>
          <p:cNvPr id="8" name="">
            <a:extLst xmlns:a="http://schemas.openxmlformats.org/drawingml/2006/main">
              <a:ext uri="{FF2B5EF4-FFF2-40B4-BE49-F238E27FC236}">
                <a16:creationId xmlns:a16="http://schemas.microsoft.com/office/drawing/2014/main" id="{6C25070D-91B3-4BC4-A858-57287DCB5E09}"/>
              </a:ext>
            </a:extLst>
          </p:cNvPr>
          <p:cNvSpPr>
            <a:spLocks xmlns:a="http://schemas.openxmlformats.org/drawingml/2006/main" noGrp="1"/>
          </p:cNvSpPr>
          <p:nvPr/>
        </p:nvSpPr>
        <p:spPr>
          <a:xfrm xmlns:a="http://schemas.openxmlformats.org/drawingml/2006/main">
            <a:off x="762000" y="2000250"/>
            <a:ext cx="2857500"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A28652BA-AADB-41FC-A512-D85B1B91969D}"/>
              </a:ext>
            </a:extLst>
          </p:cNvPr>
          <p:cNvSpPr>
            <a:spLocks xmlns:a="http://schemas.openxmlformats.org/drawingml/2006/main" noGrp="1"/>
          </p:cNvSpPr>
          <p:nvPr/>
        </p:nvSpPr>
        <p:spPr>
          <a:xfrm xmlns:a="http://schemas.openxmlformats.org/drawingml/2006/main">
            <a:off x="762000" y="2000250"/>
            <a:ext cx="47625" cy="1381125"/>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0" name="">
            <a:extLst xmlns:a="http://schemas.openxmlformats.org/drawingml/2006/main">
              <a:ext uri="{FF2B5EF4-FFF2-40B4-BE49-F238E27FC236}">
                <a16:creationId xmlns:a16="http://schemas.microsoft.com/office/drawing/2014/main" id="{198EA6C1-D3A5-4E11-B807-74E588CD063C}"/>
              </a:ext>
            </a:extLst>
          </p:cNvPr>
          <p:cNvSpPr>
            <a:spLocks xmlns:a="http://schemas.openxmlformats.org/drawingml/2006/main" noGrp="1"/>
          </p:cNvSpPr>
          <p:nvPr/>
        </p:nvSpPr>
        <p:spPr>
          <a:xfrm xmlns:a="http://schemas.openxmlformats.org/drawingml/2006/main">
            <a:off x="971550" y="2133600"/>
            <a:ext cx="2438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Site-day grain</a:t>
            </a:r>
          </a:p>
        </p:txBody>
      </p:sp>
      <p:sp>
        <p:nvSpPr>
          <p:cNvPr id="11" name="">
            <a:extLst xmlns:a="http://schemas.openxmlformats.org/drawingml/2006/main">
              <a:ext uri="{FF2B5EF4-FFF2-40B4-BE49-F238E27FC236}">
                <a16:creationId xmlns:a16="http://schemas.microsoft.com/office/drawing/2014/main" id="{531871E9-B46A-4E33-AE0C-9D5387C10EFE}"/>
              </a:ext>
            </a:extLst>
          </p:cNvPr>
          <p:cNvSpPr>
            <a:spLocks xmlns:a="http://schemas.openxmlformats.org/drawingml/2006/main" noGrp="1"/>
          </p:cNvSpPr>
          <p:nvPr/>
        </p:nvSpPr>
        <p:spPr>
          <a:xfrm xmlns:a="http://schemas.openxmlformats.org/drawingml/2006/main">
            <a:off x="971550" y="2457450"/>
            <a:ext cx="2438400"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Each row is one sensor site on one day. This keeps NOW and FUTURE validation aligned with deployment.</a:t>
            </a:r>
          </a:p>
        </p:txBody>
      </p:sp>
      <p:sp>
        <p:nvSpPr>
          <p:cNvPr id="12" name="">
            <a:extLst xmlns:a="http://schemas.openxmlformats.org/drawingml/2006/main">
              <a:ext uri="{FF2B5EF4-FFF2-40B4-BE49-F238E27FC236}">
                <a16:creationId xmlns:a16="http://schemas.microsoft.com/office/drawing/2014/main" id="{B6C503D2-FF87-4491-8CDD-6D00A01DB680}"/>
              </a:ext>
            </a:extLst>
          </p:cNvPr>
          <p:cNvSpPr>
            <a:spLocks xmlns:a="http://schemas.openxmlformats.org/drawingml/2006/main" noGrp="1"/>
          </p:cNvSpPr>
          <p:nvPr/>
        </p:nvSpPr>
        <p:spPr>
          <a:xfrm xmlns:a="http://schemas.openxmlformats.org/drawingml/2006/main">
            <a:off x="4095750" y="2000250"/>
            <a:ext cx="2857500"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C9E46E1E-F167-4286-92D0-9B5CCF96E54F}"/>
              </a:ext>
            </a:extLst>
          </p:cNvPr>
          <p:cNvSpPr>
            <a:spLocks xmlns:a="http://schemas.openxmlformats.org/drawingml/2006/main" noGrp="1"/>
          </p:cNvSpPr>
          <p:nvPr/>
        </p:nvSpPr>
        <p:spPr>
          <a:xfrm xmlns:a="http://schemas.openxmlformats.org/drawingml/2006/main">
            <a:off x="4095750" y="2000250"/>
            <a:ext cx="47625" cy="1381125"/>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4" name="">
            <a:extLst xmlns:a="http://schemas.openxmlformats.org/drawingml/2006/main">
              <a:ext uri="{FF2B5EF4-FFF2-40B4-BE49-F238E27FC236}">
                <a16:creationId xmlns:a16="http://schemas.microsoft.com/office/drawing/2014/main" id="{7417FF40-B370-41C7-AE62-F74755EB69A8}"/>
              </a:ext>
            </a:extLst>
          </p:cNvPr>
          <p:cNvSpPr>
            <a:spLocks xmlns:a="http://schemas.openxmlformats.org/drawingml/2006/main" noGrp="1"/>
          </p:cNvSpPr>
          <p:nvPr/>
        </p:nvSpPr>
        <p:spPr>
          <a:xfrm xmlns:a="http://schemas.openxmlformats.org/drawingml/2006/main">
            <a:off x="4305300" y="2133600"/>
            <a:ext cx="2438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Shared feature module</a:t>
            </a:r>
          </a:p>
        </p:txBody>
      </p:sp>
      <p:sp>
        <p:nvSpPr>
          <p:cNvPr id="15" name="">
            <a:extLst xmlns:a="http://schemas.openxmlformats.org/drawingml/2006/main">
              <a:ext uri="{FF2B5EF4-FFF2-40B4-BE49-F238E27FC236}">
                <a16:creationId xmlns:a16="http://schemas.microsoft.com/office/drawing/2014/main" id="{93FF61AB-6219-407F-86F4-ED9E15A28497}"/>
              </a:ext>
            </a:extLst>
          </p:cNvPr>
          <p:cNvSpPr>
            <a:spLocks xmlns:a="http://schemas.openxmlformats.org/drawingml/2006/main" noGrp="1"/>
          </p:cNvSpPr>
          <p:nvPr/>
        </p:nvSpPr>
        <p:spPr>
          <a:xfrm xmlns:a="http://schemas.openxmlformats.org/drawingml/2006/main">
            <a:off x="4305300" y="2457450"/>
            <a:ext cx="2438400"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`analysis/features.py` centralizes loading, engineered weather, category assignment, and lag panels.</a:t>
            </a:r>
          </a:p>
        </p:txBody>
      </p:sp>
      <p:sp>
        <p:nvSpPr>
          <p:cNvPr id="16" name="">
            <a:extLst xmlns:a="http://schemas.openxmlformats.org/drawingml/2006/main">
              <a:ext uri="{FF2B5EF4-FFF2-40B4-BE49-F238E27FC236}">
                <a16:creationId xmlns:a16="http://schemas.microsoft.com/office/drawing/2014/main" id="{D3A1EF32-A197-49A6-A9F1-82448F003A38}"/>
              </a:ext>
            </a:extLst>
          </p:cNvPr>
          <p:cNvSpPr>
            <a:spLocks xmlns:a="http://schemas.openxmlformats.org/drawingml/2006/main" noGrp="1"/>
          </p:cNvSpPr>
          <p:nvPr/>
        </p:nvSpPr>
        <p:spPr>
          <a:xfrm xmlns:a="http://schemas.openxmlformats.org/drawingml/2006/main">
            <a:off x="7429500" y="2000250"/>
            <a:ext cx="2857500"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7" name="">
            <a:extLst xmlns:a="http://schemas.openxmlformats.org/drawingml/2006/main">
              <a:ext uri="{FF2B5EF4-FFF2-40B4-BE49-F238E27FC236}">
                <a16:creationId xmlns:a16="http://schemas.microsoft.com/office/drawing/2014/main" id="{6B723541-8096-4BB0-88B4-341B609ACDA7}"/>
              </a:ext>
            </a:extLst>
          </p:cNvPr>
          <p:cNvSpPr>
            <a:spLocks xmlns:a="http://schemas.openxmlformats.org/drawingml/2006/main" noGrp="1"/>
          </p:cNvSpPr>
          <p:nvPr/>
        </p:nvSpPr>
        <p:spPr>
          <a:xfrm xmlns:a="http://schemas.openxmlformats.org/drawingml/2006/main">
            <a:off x="7429500" y="2000250"/>
            <a:ext cx="47625" cy="1381125"/>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8" name="">
            <a:extLst xmlns:a="http://schemas.openxmlformats.org/drawingml/2006/main">
              <a:ext uri="{FF2B5EF4-FFF2-40B4-BE49-F238E27FC236}">
                <a16:creationId xmlns:a16="http://schemas.microsoft.com/office/drawing/2014/main" id="{87E0391F-3803-42D6-8038-C18B3CC8413E}"/>
              </a:ext>
            </a:extLst>
          </p:cNvPr>
          <p:cNvSpPr>
            <a:spLocks xmlns:a="http://schemas.openxmlformats.org/drawingml/2006/main" noGrp="1"/>
          </p:cNvSpPr>
          <p:nvPr/>
        </p:nvSpPr>
        <p:spPr>
          <a:xfrm xmlns:a="http://schemas.openxmlformats.org/drawingml/2006/main">
            <a:off x="7639050" y="2133600"/>
            <a:ext cx="2438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Model-ready table</a:t>
            </a:r>
          </a:p>
        </p:txBody>
      </p:sp>
      <p:sp>
        <p:nvSpPr>
          <p:cNvPr id="19" name="">
            <a:extLst xmlns:a="http://schemas.openxmlformats.org/drawingml/2006/main">
              <a:ext uri="{FF2B5EF4-FFF2-40B4-BE49-F238E27FC236}">
                <a16:creationId xmlns:a16="http://schemas.microsoft.com/office/drawing/2014/main" id="{5E24EA4D-A7BC-44A8-A52C-8A283F9ED222}"/>
              </a:ext>
            </a:extLst>
          </p:cNvPr>
          <p:cNvSpPr>
            <a:spLocks xmlns:a="http://schemas.openxmlformats.org/drawingml/2006/main" noGrp="1"/>
          </p:cNvSpPr>
          <p:nvPr/>
        </p:nvSpPr>
        <p:spPr>
          <a:xfrm xmlns:a="http://schemas.openxmlformats.org/drawingml/2006/main">
            <a:off x="7639050" y="2457450"/>
            <a:ext cx="2438400"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The model sees weather, location, calendar, geodata, and only deployable PM2.5 history when allowed.</a:t>
            </a:r>
          </a:p>
        </p:txBody>
      </p:sp>
      <p:sp>
        <p:nvSpPr>
          <p:cNvPr id="20" name="">
            <a:extLst xmlns:a="http://schemas.openxmlformats.org/drawingml/2006/main">
              <a:ext uri="{FF2B5EF4-FFF2-40B4-BE49-F238E27FC236}">
                <a16:creationId xmlns:a16="http://schemas.microsoft.com/office/drawing/2014/main" id="{0463E482-50FB-47E7-9026-D96391118C86}"/>
              </a:ext>
            </a:extLst>
          </p:cNvPr>
          <p:cNvSpPr>
            <a:spLocks xmlns:a="http://schemas.openxmlformats.org/drawingml/2006/main" noGrp="1"/>
          </p:cNvSpPr>
          <p:nvPr/>
        </p:nvSpPr>
        <p:spPr>
          <a:xfrm xmlns:a="http://schemas.openxmlformats.org/drawingml/2006/main">
            <a:off x="1095375" y="431482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1" name="">
            <a:extLst xmlns:a="http://schemas.openxmlformats.org/drawingml/2006/main">
              <a:ext uri="{FF2B5EF4-FFF2-40B4-BE49-F238E27FC236}">
                <a16:creationId xmlns:a16="http://schemas.microsoft.com/office/drawing/2014/main" id="{EA86320C-CC73-40D6-9C43-EA655494A81E}"/>
              </a:ext>
            </a:extLst>
          </p:cNvPr>
          <p:cNvSpPr>
            <a:spLocks xmlns:a="http://schemas.openxmlformats.org/drawingml/2006/main" noGrp="1"/>
          </p:cNvSpPr>
          <p:nvPr/>
        </p:nvSpPr>
        <p:spPr>
          <a:xfrm xmlns:a="http://schemas.openxmlformats.org/drawingml/2006/main">
            <a:off x="1304925" y="4191000"/>
            <a:ext cx="8172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Temperature and dewpoint support relative humidity.</a:t>
            </a:r>
          </a:p>
        </p:txBody>
      </p:sp>
      <p:sp>
        <p:nvSpPr>
          <p:cNvPr id="22" name="">
            <a:extLst xmlns:a="http://schemas.openxmlformats.org/drawingml/2006/main">
              <a:ext uri="{FF2B5EF4-FFF2-40B4-BE49-F238E27FC236}">
                <a16:creationId xmlns:a16="http://schemas.microsoft.com/office/drawing/2014/main" id="{4C1B71BC-2AF4-4ABE-A768-B569D64A568A}"/>
              </a:ext>
            </a:extLst>
          </p:cNvPr>
          <p:cNvSpPr>
            <a:spLocks xmlns:a="http://schemas.openxmlformats.org/drawingml/2006/main" noGrp="1"/>
          </p:cNvSpPr>
          <p:nvPr/>
        </p:nvSpPr>
        <p:spPr>
          <a:xfrm xmlns:a="http://schemas.openxmlformats.org/drawingml/2006/main">
            <a:off x="1095375" y="469582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3" name="">
            <a:extLst xmlns:a="http://schemas.openxmlformats.org/drawingml/2006/main">
              <a:ext uri="{FF2B5EF4-FFF2-40B4-BE49-F238E27FC236}">
                <a16:creationId xmlns:a16="http://schemas.microsoft.com/office/drawing/2014/main" id="{CD645829-F623-4F5E-9028-4B3F3AB3406F}"/>
              </a:ext>
            </a:extLst>
          </p:cNvPr>
          <p:cNvSpPr>
            <a:spLocks xmlns:a="http://schemas.openxmlformats.org/drawingml/2006/main" noGrp="1"/>
          </p:cNvSpPr>
          <p:nvPr/>
        </p:nvSpPr>
        <p:spPr>
          <a:xfrm xmlns:a="http://schemas.openxmlformats.org/drawingml/2006/main">
            <a:off x="1304925" y="4572000"/>
            <a:ext cx="8172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Wind u/v becomes wind speed, a ventilation signal.</a:t>
            </a:r>
          </a:p>
        </p:txBody>
      </p:sp>
      <p:sp>
        <p:nvSpPr>
          <p:cNvPr id="24" name="">
            <a:extLst xmlns:a="http://schemas.openxmlformats.org/drawingml/2006/main">
              <a:ext uri="{FF2B5EF4-FFF2-40B4-BE49-F238E27FC236}">
                <a16:creationId xmlns:a16="http://schemas.microsoft.com/office/drawing/2014/main" id="{0E2A73C7-E4F6-45DB-8D85-3001AE0D111A}"/>
              </a:ext>
            </a:extLst>
          </p:cNvPr>
          <p:cNvSpPr>
            <a:spLocks xmlns:a="http://schemas.openxmlformats.org/drawingml/2006/main" noGrp="1"/>
          </p:cNvSpPr>
          <p:nvPr/>
        </p:nvSpPr>
        <p:spPr>
          <a:xfrm xmlns:a="http://schemas.openxmlformats.org/drawingml/2006/main">
            <a:off x="1095375" y="507682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5" name="">
            <a:extLst xmlns:a="http://schemas.openxmlformats.org/drawingml/2006/main">
              <a:ext uri="{FF2B5EF4-FFF2-40B4-BE49-F238E27FC236}">
                <a16:creationId xmlns:a16="http://schemas.microsoft.com/office/drawing/2014/main" id="{262035A1-D76C-450A-A15E-1DB914608768}"/>
              </a:ext>
            </a:extLst>
          </p:cNvPr>
          <p:cNvSpPr>
            <a:spLocks xmlns:a="http://schemas.openxmlformats.org/drawingml/2006/main" noGrp="1"/>
          </p:cNvSpPr>
          <p:nvPr/>
        </p:nvSpPr>
        <p:spPr>
          <a:xfrm xmlns:a="http://schemas.openxmlformats.org/drawingml/2006/main">
            <a:off x="1304925" y="4953000"/>
            <a:ext cx="8172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Month and day-of-week capture calendar patterns.</a:t>
            </a:r>
          </a:p>
        </p:txBody>
      </p:sp>
      <p:sp>
        <p:nvSpPr>
          <p:cNvPr id="26" name="">
            <a:extLst xmlns:a="http://schemas.openxmlformats.org/drawingml/2006/main">
              <a:ext uri="{FF2B5EF4-FFF2-40B4-BE49-F238E27FC236}">
                <a16:creationId xmlns:a16="http://schemas.microsoft.com/office/drawing/2014/main" id="{AB5C19DD-A317-4A91-8526-4BEF6A88FAB1}"/>
              </a:ext>
            </a:extLst>
          </p:cNvPr>
          <p:cNvSpPr>
            <a:spLocks xmlns:a="http://schemas.openxmlformats.org/drawingml/2006/main" noGrp="1"/>
          </p:cNvSpPr>
          <p:nvPr/>
        </p:nvSpPr>
        <p:spPr>
          <a:xfrm xmlns:a="http://schemas.openxmlformats.org/drawingml/2006/main">
            <a:off x="1095375" y="545782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7" name="">
            <a:extLst xmlns:a="http://schemas.openxmlformats.org/drawingml/2006/main">
              <a:ext uri="{FF2B5EF4-FFF2-40B4-BE49-F238E27FC236}">
                <a16:creationId xmlns:a16="http://schemas.microsoft.com/office/drawing/2014/main" id="{664217E1-2F7E-40A5-92A7-3719340AAD18}"/>
              </a:ext>
            </a:extLst>
          </p:cNvPr>
          <p:cNvSpPr>
            <a:spLocks xmlns:a="http://schemas.openxmlformats.org/drawingml/2006/main" noGrp="1"/>
          </p:cNvSpPr>
          <p:nvPr/>
        </p:nvSpPr>
        <p:spPr>
          <a:xfrm xmlns:a="http://schemas.openxmlformats.org/drawingml/2006/main">
            <a:off x="1304925" y="5334000"/>
            <a:ext cx="8172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FUTURE uses calendar-aware lags and rolling averages.</a:t>
            </a:r>
          </a:p>
        </p:txBody>
      </p:sp>
    </p:spTree>
    <p:extLst>
      <p:ext uri="{BB962C8B-B14F-4D97-AF65-F5344CB8AC3E}">
        <p14:creationId xmlns:p14="http://schemas.microsoft.com/office/powerpoint/2010/main" val="1458126250"/>
      </p:ext>
    </p:extLst>
  </p:cSld>
</p:sld>
</file>

<file path=ppt/slides/slide7.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8AFCA3B6-FB65-4650-B606-B86F01898537}"/>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10D5DA72-3393-4D86-8025-A8A07715F792}"/>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CA176927-7799-479D-9585-A51D1360DEE3}"/>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AB5A12BC-B10C-4042-922B-F0BD89A62A0D}"/>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2 · features</a:t>
            </a:r>
          </a:p>
        </p:txBody>
      </p:sp>
      <p:sp>
        <p:nvSpPr>
          <p:cNvPr id="6" name="">
            <a:extLst xmlns:a="http://schemas.openxmlformats.org/drawingml/2006/main">
              <a:ext uri="{FF2B5EF4-FFF2-40B4-BE49-F238E27FC236}">
                <a16:creationId xmlns:a16="http://schemas.microsoft.com/office/drawing/2014/main" id="{7D4D4C88-E2EC-44DD-BE63-DDAD251BEF91}"/>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Features Are Also a Deployment Contract</a:t>
            </a:r>
          </a:p>
        </p:txBody>
      </p:sp>
      <p:sp>
        <p:nvSpPr>
          <p:cNvPr id="7" name="">
            <a:extLst xmlns:a="http://schemas.openxmlformats.org/drawingml/2006/main">
              <a:ext uri="{FF2B5EF4-FFF2-40B4-BE49-F238E27FC236}">
                <a16:creationId xmlns:a16="http://schemas.microsoft.com/office/drawing/2014/main" id="{329072E7-169A-487A-BC89-833CEF4C0169}"/>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Every input must be classified by whether a real planner can obtain it.</a:t>
            </a:r>
          </a:p>
        </p:txBody>
      </p:sp>
      <p:sp>
        <p:nvSpPr>
          <p:cNvPr id="8" name="">
            <a:extLst xmlns:a="http://schemas.openxmlformats.org/drawingml/2006/main">
              <a:ext uri="{FF2B5EF4-FFF2-40B4-BE49-F238E27FC236}">
                <a16:creationId xmlns:a16="http://schemas.microsoft.com/office/drawing/2014/main" id="{0E4D876C-8139-4BAD-ABE5-2885747048CA}"/>
              </a:ext>
            </a:extLst>
          </p:cNvPr>
          <p:cNvSpPr>
            <a:spLocks xmlns:a="http://schemas.openxmlformats.org/drawingml/2006/main" noGrp="1"/>
          </p:cNvSpPr>
          <p:nvPr/>
        </p:nvSpPr>
        <p:spPr>
          <a:xfrm xmlns:a="http://schemas.openxmlformats.org/drawingml/2006/main">
            <a:off x="762000" y="2095500"/>
            <a:ext cx="3000375"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B8858647-EC40-4429-9ED6-A158BF841DAD}"/>
              </a:ext>
            </a:extLst>
          </p:cNvPr>
          <p:cNvSpPr>
            <a:spLocks xmlns:a="http://schemas.openxmlformats.org/drawingml/2006/main" noGrp="1"/>
          </p:cNvSpPr>
          <p:nvPr/>
        </p:nvSpPr>
        <p:spPr>
          <a:xfrm xmlns:a="http://schemas.openxmlformats.org/drawingml/2006/main">
            <a:off x="762000" y="2095500"/>
            <a:ext cx="47625" cy="1428750"/>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0" name="">
            <a:extLst xmlns:a="http://schemas.openxmlformats.org/drawingml/2006/main">
              <a:ext uri="{FF2B5EF4-FFF2-40B4-BE49-F238E27FC236}">
                <a16:creationId xmlns:a16="http://schemas.microsoft.com/office/drawing/2014/main" id="{B10F79B4-ED5B-472D-867E-2B8700918724}"/>
              </a:ext>
            </a:extLst>
          </p:cNvPr>
          <p:cNvSpPr>
            <a:spLocks xmlns:a="http://schemas.openxmlformats.org/drawingml/2006/main" noGrp="1"/>
          </p:cNvSpPr>
          <p:nvPr/>
        </p:nvSpPr>
        <p:spPr>
          <a:xfrm xmlns:a="http://schemas.openxmlformats.org/drawingml/2006/main">
            <a:off x="971550" y="2228850"/>
            <a:ext cx="258127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Zero deploy</a:t>
            </a:r>
          </a:p>
        </p:txBody>
      </p:sp>
      <p:sp>
        <p:nvSpPr>
          <p:cNvPr id="11" name="">
            <a:extLst xmlns:a="http://schemas.openxmlformats.org/drawingml/2006/main">
              <a:ext uri="{FF2B5EF4-FFF2-40B4-BE49-F238E27FC236}">
                <a16:creationId xmlns:a16="http://schemas.microsoft.com/office/drawing/2014/main" id="{977AFB1A-BD9B-4053-8C4C-99741B814B8B}"/>
              </a:ext>
            </a:extLst>
          </p:cNvPr>
          <p:cNvSpPr>
            <a:spLocks xmlns:a="http://schemas.openxmlformats.org/drawingml/2006/main" noGrp="1"/>
          </p:cNvSpPr>
          <p:nvPr/>
        </p:nvSpPr>
        <p:spPr>
          <a:xfrm xmlns:a="http://schemas.openxmlformats.org/drawingml/2006/main">
            <a:off x="971550" y="2552700"/>
            <a:ext cx="2581275"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Lat/lon, calendar, ERA5 weather, OSM roads, elevation, and static geodata can be used without a PM2.5 sensor.</a:t>
            </a:r>
          </a:p>
        </p:txBody>
      </p:sp>
      <p:sp>
        <p:nvSpPr>
          <p:cNvPr id="12" name="">
            <a:extLst xmlns:a="http://schemas.openxmlformats.org/drawingml/2006/main">
              <a:ext uri="{FF2B5EF4-FFF2-40B4-BE49-F238E27FC236}">
                <a16:creationId xmlns:a16="http://schemas.microsoft.com/office/drawing/2014/main" id="{75A2875D-7619-44A1-A860-014725D6BBA4}"/>
              </a:ext>
            </a:extLst>
          </p:cNvPr>
          <p:cNvSpPr>
            <a:spLocks xmlns:a="http://schemas.openxmlformats.org/drawingml/2006/main" noGrp="1"/>
          </p:cNvSpPr>
          <p:nvPr/>
        </p:nvSpPr>
        <p:spPr>
          <a:xfrm xmlns:a="http://schemas.openxmlformats.org/drawingml/2006/main">
            <a:off x="4572000" y="2095500"/>
            <a:ext cx="3000375"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83D7761E-1EBA-4D3F-A7C8-E61C5CADB0C5}"/>
              </a:ext>
            </a:extLst>
          </p:cNvPr>
          <p:cNvSpPr>
            <a:spLocks xmlns:a="http://schemas.openxmlformats.org/drawingml/2006/main" noGrp="1"/>
          </p:cNvSpPr>
          <p:nvPr/>
        </p:nvSpPr>
        <p:spPr>
          <a:xfrm xmlns:a="http://schemas.openxmlformats.org/drawingml/2006/main">
            <a:off x="4572000" y="2095500"/>
            <a:ext cx="47625" cy="142875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4" name="">
            <a:extLst xmlns:a="http://schemas.openxmlformats.org/drawingml/2006/main">
              <a:ext uri="{FF2B5EF4-FFF2-40B4-BE49-F238E27FC236}">
                <a16:creationId xmlns:a16="http://schemas.microsoft.com/office/drawing/2014/main" id="{6CB9E49A-60EA-4E77-8A90-D4CD2B6A4B5B}"/>
              </a:ext>
            </a:extLst>
          </p:cNvPr>
          <p:cNvSpPr>
            <a:spLocks xmlns:a="http://schemas.openxmlformats.org/drawingml/2006/main" noGrp="1"/>
          </p:cNvSpPr>
          <p:nvPr/>
        </p:nvSpPr>
        <p:spPr>
          <a:xfrm xmlns:a="http://schemas.openxmlformats.org/drawingml/2006/main">
            <a:off x="4781550" y="2228850"/>
            <a:ext cx="258127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Short deploy</a:t>
            </a:r>
          </a:p>
        </p:txBody>
      </p:sp>
      <p:sp>
        <p:nvSpPr>
          <p:cNvPr id="15" name="">
            <a:extLst xmlns:a="http://schemas.openxmlformats.org/drawingml/2006/main">
              <a:ext uri="{FF2B5EF4-FFF2-40B4-BE49-F238E27FC236}">
                <a16:creationId xmlns:a16="http://schemas.microsoft.com/office/drawing/2014/main" id="{6E0DCDC1-DDBF-4994-A85B-7D75A669C275}"/>
              </a:ext>
            </a:extLst>
          </p:cNvPr>
          <p:cNvSpPr>
            <a:spLocks xmlns:a="http://schemas.openxmlformats.org/drawingml/2006/main" noGrp="1"/>
          </p:cNvSpPr>
          <p:nvPr/>
        </p:nvSpPr>
        <p:spPr>
          <a:xfrm xmlns:a="http://schemas.openxmlformats.org/drawingml/2006/main">
            <a:off x="4781550" y="2552700"/>
            <a:ext cx="2581275"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First N days of PM2.5 history can infer a site category, then evaluation must start after that window.</a:t>
            </a:r>
          </a:p>
        </p:txBody>
      </p:sp>
      <p:sp>
        <p:nvSpPr>
          <p:cNvPr id="16" name="">
            <a:extLst xmlns:a="http://schemas.openxmlformats.org/drawingml/2006/main">
              <a:ext uri="{FF2B5EF4-FFF2-40B4-BE49-F238E27FC236}">
                <a16:creationId xmlns:a16="http://schemas.microsoft.com/office/drawing/2014/main" id="{7B4DAD96-F5E0-47A3-B494-A49DD682A5D6}"/>
              </a:ext>
            </a:extLst>
          </p:cNvPr>
          <p:cNvSpPr>
            <a:spLocks xmlns:a="http://schemas.openxmlformats.org/drawingml/2006/main" noGrp="1"/>
          </p:cNvSpPr>
          <p:nvPr/>
        </p:nvSpPr>
        <p:spPr>
          <a:xfrm xmlns:a="http://schemas.openxmlformats.org/drawingml/2006/main">
            <a:off x="8382000" y="2095500"/>
            <a:ext cx="3000375"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7" name="">
            <a:extLst xmlns:a="http://schemas.openxmlformats.org/drawingml/2006/main">
              <a:ext uri="{FF2B5EF4-FFF2-40B4-BE49-F238E27FC236}">
                <a16:creationId xmlns:a16="http://schemas.microsoft.com/office/drawing/2014/main" id="{D13583B5-5999-4159-A112-61BC4B9F6FE8}"/>
              </a:ext>
            </a:extLst>
          </p:cNvPr>
          <p:cNvSpPr>
            <a:spLocks xmlns:a="http://schemas.openxmlformats.org/drawingml/2006/main" noGrp="1"/>
          </p:cNvSpPr>
          <p:nvPr/>
        </p:nvSpPr>
        <p:spPr>
          <a:xfrm xmlns:a="http://schemas.openxmlformats.org/drawingml/2006/main">
            <a:off x="8382000" y="2095500"/>
            <a:ext cx="47625" cy="1428750"/>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18" name="">
            <a:extLst xmlns:a="http://schemas.openxmlformats.org/drawingml/2006/main">
              <a:ext uri="{FF2B5EF4-FFF2-40B4-BE49-F238E27FC236}">
                <a16:creationId xmlns:a16="http://schemas.microsoft.com/office/drawing/2014/main" id="{1332E104-6531-468E-8CE5-1A29F8C7BCE2}"/>
              </a:ext>
            </a:extLst>
          </p:cNvPr>
          <p:cNvSpPr>
            <a:spLocks xmlns:a="http://schemas.openxmlformats.org/drawingml/2006/main" noGrp="1"/>
          </p:cNvSpPr>
          <p:nvPr/>
        </p:nvSpPr>
        <p:spPr>
          <a:xfrm xmlns:a="http://schemas.openxmlformats.org/drawingml/2006/main">
            <a:off x="8591550" y="2228850"/>
            <a:ext cx="258127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Research only</a:t>
            </a:r>
          </a:p>
        </p:txBody>
      </p:sp>
      <p:sp>
        <p:nvSpPr>
          <p:cNvPr id="19" name="">
            <a:extLst xmlns:a="http://schemas.openxmlformats.org/drawingml/2006/main">
              <a:ext uri="{FF2B5EF4-FFF2-40B4-BE49-F238E27FC236}">
                <a16:creationId xmlns:a16="http://schemas.microsoft.com/office/drawing/2014/main" id="{92EE3E05-785F-4295-870A-55B4672FDD84}"/>
              </a:ext>
            </a:extLst>
          </p:cNvPr>
          <p:cNvSpPr>
            <a:spLocks xmlns:a="http://schemas.openxmlformats.org/drawingml/2006/main" noGrp="1"/>
          </p:cNvSpPr>
          <p:nvPr/>
        </p:nvSpPr>
        <p:spPr>
          <a:xfrm xmlns:a="http://schemas.openxmlformats.org/drawingml/2006/main">
            <a:off x="8591550" y="2552700"/>
            <a:ext cx="2581275"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Full-history category uses the held-out site’s complete PM2.5 behavior and is an oracle upper bound.</a:t>
            </a:r>
          </a:p>
        </p:txBody>
      </p:sp>
      <p:sp>
        <p:nvSpPr>
          <p:cNvPr id="20" name="">
            <a:extLst xmlns:a="http://schemas.openxmlformats.org/drawingml/2006/main">
              <a:ext uri="{FF2B5EF4-FFF2-40B4-BE49-F238E27FC236}">
                <a16:creationId xmlns:a16="http://schemas.microsoft.com/office/drawing/2014/main" id="{F99A29B0-EDE5-4578-B076-C6ACFFA276CE}"/>
              </a:ext>
            </a:extLst>
          </p:cNvPr>
          <p:cNvSpPr>
            <a:spLocks xmlns:a="http://schemas.openxmlformats.org/drawingml/2006/main" noGrp="1"/>
          </p:cNvSpPr>
          <p:nvPr/>
        </p:nvSpPr>
        <p:spPr>
          <a:xfrm xmlns:a="http://schemas.openxmlformats.org/drawingml/2006/main">
            <a:off x="1333500" y="4476750"/>
            <a:ext cx="4381500" cy="109537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1" name="">
            <a:extLst xmlns:a="http://schemas.openxmlformats.org/drawingml/2006/main">
              <a:ext uri="{FF2B5EF4-FFF2-40B4-BE49-F238E27FC236}">
                <a16:creationId xmlns:a16="http://schemas.microsoft.com/office/drawing/2014/main" id="{28C6E895-55AB-4648-8DF9-773BAB6186F5}"/>
              </a:ext>
            </a:extLst>
          </p:cNvPr>
          <p:cNvSpPr>
            <a:spLocks xmlns:a="http://schemas.openxmlformats.org/drawingml/2006/main" noGrp="1"/>
          </p:cNvSpPr>
          <p:nvPr/>
        </p:nvSpPr>
        <p:spPr>
          <a:xfrm xmlns:a="http://schemas.openxmlformats.org/drawingml/2006/main">
            <a:off x="1333500" y="4476750"/>
            <a:ext cx="47625" cy="1095375"/>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22" name="">
            <a:extLst xmlns:a="http://schemas.openxmlformats.org/drawingml/2006/main">
              <a:ext uri="{FF2B5EF4-FFF2-40B4-BE49-F238E27FC236}">
                <a16:creationId xmlns:a16="http://schemas.microsoft.com/office/drawing/2014/main" id="{E7F5B518-B058-43DB-9310-1FF669A49529}"/>
              </a:ext>
            </a:extLst>
          </p:cNvPr>
          <p:cNvSpPr>
            <a:spLocks xmlns:a="http://schemas.openxmlformats.org/drawingml/2006/main" noGrp="1"/>
          </p:cNvSpPr>
          <p:nvPr/>
        </p:nvSpPr>
        <p:spPr>
          <a:xfrm xmlns:a="http://schemas.openxmlformats.org/drawingml/2006/main">
            <a:off x="1543050" y="4610100"/>
            <a:ext cx="3962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Success driver</a:t>
            </a:r>
          </a:p>
        </p:txBody>
      </p:sp>
      <p:sp>
        <p:nvSpPr>
          <p:cNvPr id="23" name="">
            <a:extLst xmlns:a="http://schemas.openxmlformats.org/drawingml/2006/main">
              <a:ext uri="{FF2B5EF4-FFF2-40B4-BE49-F238E27FC236}">
                <a16:creationId xmlns:a16="http://schemas.microsoft.com/office/drawing/2014/main" id="{7EA516B9-29BF-4487-B66A-B1DA9C6E4D24}"/>
              </a:ext>
            </a:extLst>
          </p:cNvPr>
          <p:cNvSpPr>
            <a:spLocks xmlns:a="http://schemas.openxmlformats.org/drawingml/2006/main" noGrp="1"/>
          </p:cNvSpPr>
          <p:nvPr/>
        </p:nvSpPr>
        <p:spPr>
          <a:xfrm xmlns:a="http://schemas.openxmlformats.org/drawingml/2006/main">
            <a:off x="1543050" y="4933950"/>
            <a:ext cx="3962400" cy="5619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The project succeeds because features are engineered and evaluated carefully, not because one fancy learner solves everything.</a:t>
            </a:r>
          </a:p>
        </p:txBody>
      </p:sp>
      <p:sp>
        <p:nvSpPr>
          <p:cNvPr id="24" name="">
            <a:extLst xmlns:a="http://schemas.openxmlformats.org/drawingml/2006/main">
              <a:ext uri="{FF2B5EF4-FFF2-40B4-BE49-F238E27FC236}">
                <a16:creationId xmlns:a16="http://schemas.microsoft.com/office/drawing/2014/main" id="{7AA1D1F5-9794-4452-8913-CBE093508C68}"/>
              </a:ext>
            </a:extLst>
          </p:cNvPr>
          <p:cNvSpPr>
            <a:spLocks xmlns:a="http://schemas.openxmlformats.org/drawingml/2006/main" noGrp="1"/>
          </p:cNvSpPr>
          <p:nvPr/>
        </p:nvSpPr>
        <p:spPr>
          <a:xfrm xmlns:a="http://schemas.openxmlformats.org/drawingml/2006/main">
            <a:off x="6477000" y="4476750"/>
            <a:ext cx="4381500" cy="109537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5" name="">
            <a:extLst xmlns:a="http://schemas.openxmlformats.org/drawingml/2006/main">
              <a:ext uri="{FF2B5EF4-FFF2-40B4-BE49-F238E27FC236}">
                <a16:creationId xmlns:a16="http://schemas.microsoft.com/office/drawing/2014/main" id="{C6F2E1A4-9379-4A7F-9B2F-94B4F48A4C3E}"/>
              </a:ext>
            </a:extLst>
          </p:cNvPr>
          <p:cNvSpPr>
            <a:spLocks xmlns:a="http://schemas.openxmlformats.org/drawingml/2006/main" noGrp="1"/>
          </p:cNvSpPr>
          <p:nvPr/>
        </p:nvSpPr>
        <p:spPr>
          <a:xfrm xmlns:a="http://schemas.openxmlformats.org/drawingml/2006/main">
            <a:off x="6477000" y="4476750"/>
            <a:ext cx="47625" cy="1095375"/>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26" name="">
            <a:extLst xmlns:a="http://schemas.openxmlformats.org/drawingml/2006/main">
              <a:ext uri="{FF2B5EF4-FFF2-40B4-BE49-F238E27FC236}">
                <a16:creationId xmlns:a16="http://schemas.microsoft.com/office/drawing/2014/main" id="{71C18140-2EC9-4134-B1FB-FD5628E17730}"/>
              </a:ext>
            </a:extLst>
          </p:cNvPr>
          <p:cNvSpPr>
            <a:spLocks xmlns:a="http://schemas.openxmlformats.org/drawingml/2006/main" noGrp="1"/>
          </p:cNvSpPr>
          <p:nvPr/>
        </p:nvSpPr>
        <p:spPr>
          <a:xfrm xmlns:a="http://schemas.openxmlformats.org/drawingml/2006/main">
            <a:off x="6686550" y="4610100"/>
            <a:ext cx="3962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Presenter key message</a:t>
            </a:r>
          </a:p>
        </p:txBody>
      </p:sp>
      <p:sp>
        <p:nvSpPr>
          <p:cNvPr id="27" name="">
            <a:extLst xmlns:a="http://schemas.openxmlformats.org/drawingml/2006/main">
              <a:ext uri="{FF2B5EF4-FFF2-40B4-BE49-F238E27FC236}">
                <a16:creationId xmlns:a16="http://schemas.microsoft.com/office/drawing/2014/main" id="{AF74DED5-E332-46F7-9597-EE8FF54E8A28}"/>
              </a:ext>
            </a:extLst>
          </p:cNvPr>
          <p:cNvSpPr>
            <a:spLocks xmlns:a="http://schemas.openxmlformats.org/drawingml/2006/main" noGrp="1"/>
          </p:cNvSpPr>
          <p:nvPr/>
        </p:nvSpPr>
        <p:spPr>
          <a:xfrm xmlns:a="http://schemas.openxmlformats.org/drawingml/2006/main">
            <a:off x="6686550" y="4933950"/>
            <a:ext cx="3962400" cy="5619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Feature engineering and deployability are the scientific backbone of the model claims.</a:t>
            </a:r>
          </a:p>
        </p:txBody>
      </p:sp>
    </p:spTree>
    <p:extLst>
      <p:ext uri="{BB962C8B-B14F-4D97-AF65-F5344CB8AC3E}">
        <p14:creationId xmlns:p14="http://schemas.microsoft.com/office/powerpoint/2010/main" val="2136105998"/>
      </p:ext>
    </p:extLst>
  </p:cSld>
</p:sld>
</file>

<file path=ppt/slides/slide8.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4F2FC686-EDBF-4E46-AF4D-C8C7E9641757}"/>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AB44BE8D-0E78-4140-845F-4FB8644D3474}"/>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DF9F3C14-CEB4-4CD8-8616-638F62ED0B39}"/>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18EFCB51-FB41-49D5-A5D9-C56C4A41489C}"/>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2 · leakage guardrails</a:t>
            </a:r>
          </a:p>
        </p:txBody>
      </p:sp>
      <p:sp>
        <p:nvSpPr>
          <p:cNvPr id="6" name="">
            <a:extLst xmlns:a="http://schemas.openxmlformats.org/drawingml/2006/main">
              <a:ext uri="{FF2B5EF4-FFF2-40B4-BE49-F238E27FC236}">
                <a16:creationId xmlns:a16="http://schemas.microsoft.com/office/drawing/2014/main" id="{B66FDCB6-9C9D-4225-89EC-3F5BDC5B34B0}"/>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Banned Features and Leakage Guardrails</a:t>
            </a:r>
          </a:p>
        </p:txBody>
      </p:sp>
      <p:sp>
        <p:nvSpPr>
          <p:cNvPr id="7" name="">
            <a:extLst xmlns:a="http://schemas.openxmlformats.org/drawingml/2006/main">
              <a:ext uri="{FF2B5EF4-FFF2-40B4-BE49-F238E27FC236}">
                <a16:creationId xmlns:a16="http://schemas.microsoft.com/office/drawing/2014/main" id="{0FFE2A04-371B-483D-8BF5-AF55C91DBA27}"/>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The model is not allowed to use information unavailable at prediction time.</a:t>
            </a:r>
          </a:p>
        </p:txBody>
      </p:sp>
      <p:sp>
        <p:nvSpPr>
          <p:cNvPr id="8" name="">
            <a:extLst xmlns:a="http://schemas.openxmlformats.org/drawingml/2006/main">
              <a:ext uri="{FF2B5EF4-FFF2-40B4-BE49-F238E27FC236}">
                <a16:creationId xmlns:a16="http://schemas.microsoft.com/office/drawing/2014/main" id="{023A9199-F338-419D-BA72-4B52BC89C47B}"/>
              </a:ext>
            </a:extLst>
          </p:cNvPr>
          <p:cNvSpPr>
            <a:spLocks xmlns:a="http://schemas.openxmlformats.org/drawingml/2006/main" noGrp="1"/>
          </p:cNvSpPr>
          <p:nvPr/>
        </p:nvSpPr>
        <p:spPr>
          <a:xfrm xmlns:a="http://schemas.openxmlformats.org/drawingml/2006/main">
            <a:off x="857250" y="2095500"/>
            <a:ext cx="3048000" cy="1524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364D1BAB-00B8-478A-8C6D-4D7712CC4AEB}"/>
              </a:ext>
            </a:extLst>
          </p:cNvPr>
          <p:cNvSpPr>
            <a:spLocks xmlns:a="http://schemas.openxmlformats.org/drawingml/2006/main" noGrp="1"/>
          </p:cNvSpPr>
          <p:nvPr/>
        </p:nvSpPr>
        <p:spPr>
          <a:xfrm xmlns:a="http://schemas.openxmlformats.org/drawingml/2006/main">
            <a:off x="857250" y="2095500"/>
            <a:ext cx="47625" cy="1524000"/>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10" name="">
            <a:extLst xmlns:a="http://schemas.openxmlformats.org/drawingml/2006/main">
              <a:ext uri="{FF2B5EF4-FFF2-40B4-BE49-F238E27FC236}">
                <a16:creationId xmlns:a16="http://schemas.microsoft.com/office/drawing/2014/main" id="{FC466777-6297-45C6-8114-94F89D21A58B}"/>
              </a:ext>
            </a:extLst>
          </p:cNvPr>
          <p:cNvSpPr>
            <a:spLocks xmlns:a="http://schemas.openxmlformats.org/drawingml/2006/main" noGrp="1"/>
          </p:cNvSpPr>
          <p:nvPr/>
        </p:nvSpPr>
        <p:spPr>
          <a:xfrm xmlns:a="http://schemas.openxmlformats.org/drawingml/2006/main">
            <a:off x="1066800" y="2228850"/>
            <a:ext cx="2628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PM10 banned</a:t>
            </a:r>
          </a:p>
        </p:txBody>
      </p:sp>
      <p:sp>
        <p:nvSpPr>
          <p:cNvPr id="11" name="">
            <a:extLst xmlns:a="http://schemas.openxmlformats.org/drawingml/2006/main">
              <a:ext uri="{FF2B5EF4-FFF2-40B4-BE49-F238E27FC236}">
                <a16:creationId xmlns:a16="http://schemas.microsoft.com/office/drawing/2014/main" id="{7169CEF6-141D-422F-B3BC-EA6E2EE77ADB}"/>
              </a:ext>
            </a:extLst>
          </p:cNvPr>
          <p:cNvSpPr>
            <a:spLocks xmlns:a="http://schemas.openxmlformats.org/drawingml/2006/main" noGrp="1"/>
          </p:cNvSpPr>
          <p:nvPr/>
        </p:nvSpPr>
        <p:spPr>
          <a:xfrm xmlns:a="http://schemas.openxmlformats.org/drawingml/2006/main">
            <a:off x="1066800" y="2552700"/>
            <a:ext cx="2628900" cy="990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Same-instrument pollutant and highly target-coupled. It would inflate performance unrealistically.</a:t>
            </a:r>
          </a:p>
        </p:txBody>
      </p:sp>
      <p:sp>
        <p:nvSpPr>
          <p:cNvPr id="12" name="">
            <a:extLst xmlns:a="http://schemas.openxmlformats.org/drawingml/2006/main">
              <a:ext uri="{FF2B5EF4-FFF2-40B4-BE49-F238E27FC236}">
                <a16:creationId xmlns:a16="http://schemas.microsoft.com/office/drawing/2014/main" id="{506F86FB-6BF5-4CC2-9B07-EC5CE3376BC0}"/>
              </a:ext>
            </a:extLst>
          </p:cNvPr>
          <p:cNvSpPr>
            <a:spLocks xmlns:a="http://schemas.openxmlformats.org/drawingml/2006/main" noGrp="1"/>
          </p:cNvSpPr>
          <p:nvPr/>
        </p:nvSpPr>
        <p:spPr>
          <a:xfrm xmlns:a="http://schemas.openxmlformats.org/drawingml/2006/main">
            <a:off x="4572000" y="2095500"/>
            <a:ext cx="3048000" cy="1524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AD7AD0F2-A6D6-4CCD-8C85-E39EA6FD70F8}"/>
              </a:ext>
            </a:extLst>
          </p:cNvPr>
          <p:cNvSpPr>
            <a:spLocks xmlns:a="http://schemas.openxmlformats.org/drawingml/2006/main" noGrp="1"/>
          </p:cNvSpPr>
          <p:nvPr/>
        </p:nvSpPr>
        <p:spPr>
          <a:xfrm xmlns:a="http://schemas.openxmlformats.org/drawingml/2006/main">
            <a:off x="4572000" y="2095500"/>
            <a:ext cx="47625" cy="1524000"/>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14" name="">
            <a:extLst xmlns:a="http://schemas.openxmlformats.org/drawingml/2006/main">
              <a:ext uri="{FF2B5EF4-FFF2-40B4-BE49-F238E27FC236}">
                <a16:creationId xmlns:a16="http://schemas.microsoft.com/office/drawing/2014/main" id="{A7DEE212-5AF3-4AA8-9AE4-078151216988}"/>
              </a:ext>
            </a:extLst>
          </p:cNvPr>
          <p:cNvSpPr>
            <a:spLocks xmlns:a="http://schemas.openxmlformats.org/drawingml/2006/main" noGrp="1"/>
          </p:cNvSpPr>
          <p:nvPr/>
        </p:nvSpPr>
        <p:spPr>
          <a:xfrm xmlns:a="http://schemas.openxmlformats.org/drawingml/2006/main">
            <a:off x="4781550" y="2228850"/>
            <a:ext cx="2628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n_obs banned</a:t>
            </a:r>
          </a:p>
        </p:txBody>
      </p:sp>
      <p:sp>
        <p:nvSpPr>
          <p:cNvPr id="15" name="">
            <a:extLst xmlns:a="http://schemas.openxmlformats.org/drawingml/2006/main">
              <a:ext uri="{FF2B5EF4-FFF2-40B4-BE49-F238E27FC236}">
                <a16:creationId xmlns:a16="http://schemas.microsoft.com/office/drawing/2014/main" id="{D558FD87-5309-4855-B3B9-97A895AAD2EB}"/>
              </a:ext>
            </a:extLst>
          </p:cNvPr>
          <p:cNvSpPr>
            <a:spLocks xmlns:a="http://schemas.openxmlformats.org/drawingml/2006/main" noGrp="1"/>
          </p:cNvSpPr>
          <p:nvPr/>
        </p:nvSpPr>
        <p:spPr>
          <a:xfrm xmlns:a="http://schemas.openxmlformats.org/drawingml/2006/main">
            <a:off x="4781550" y="2552700"/>
            <a:ext cx="2628900" cy="990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A by-product of the daily mean, not an input available at a sensor-less place.</a:t>
            </a:r>
          </a:p>
        </p:txBody>
      </p:sp>
      <p:sp>
        <p:nvSpPr>
          <p:cNvPr id="16" name="">
            <a:extLst xmlns:a="http://schemas.openxmlformats.org/drawingml/2006/main">
              <a:ext uri="{FF2B5EF4-FFF2-40B4-BE49-F238E27FC236}">
                <a16:creationId xmlns:a16="http://schemas.microsoft.com/office/drawing/2014/main" id="{A297BD2F-6248-4432-8019-07CD79DAA5A1}"/>
              </a:ext>
            </a:extLst>
          </p:cNvPr>
          <p:cNvSpPr>
            <a:spLocks xmlns:a="http://schemas.openxmlformats.org/drawingml/2006/main" noGrp="1"/>
          </p:cNvSpPr>
          <p:nvPr/>
        </p:nvSpPr>
        <p:spPr>
          <a:xfrm xmlns:a="http://schemas.openxmlformats.org/drawingml/2006/main">
            <a:off x="8286750" y="2095500"/>
            <a:ext cx="3048000" cy="1524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7" name="">
            <a:extLst xmlns:a="http://schemas.openxmlformats.org/drawingml/2006/main">
              <a:ext uri="{FF2B5EF4-FFF2-40B4-BE49-F238E27FC236}">
                <a16:creationId xmlns:a16="http://schemas.microsoft.com/office/drawing/2014/main" id="{28A5C205-5662-4389-8734-B6A5C1660E19}"/>
              </a:ext>
            </a:extLst>
          </p:cNvPr>
          <p:cNvSpPr>
            <a:spLocks xmlns:a="http://schemas.openxmlformats.org/drawingml/2006/main" noGrp="1"/>
          </p:cNvSpPr>
          <p:nvPr/>
        </p:nvSpPr>
        <p:spPr>
          <a:xfrm xmlns:a="http://schemas.openxmlformats.org/drawingml/2006/main">
            <a:off x="8286750" y="2095500"/>
            <a:ext cx="47625" cy="152400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8" name="">
            <a:extLst xmlns:a="http://schemas.openxmlformats.org/drawingml/2006/main">
              <a:ext uri="{FF2B5EF4-FFF2-40B4-BE49-F238E27FC236}">
                <a16:creationId xmlns:a16="http://schemas.microsoft.com/office/drawing/2014/main" id="{F5E84140-DE00-42DF-B765-2AB64010D356}"/>
              </a:ext>
            </a:extLst>
          </p:cNvPr>
          <p:cNvSpPr>
            <a:spLocks xmlns:a="http://schemas.openxmlformats.org/drawingml/2006/main" noGrp="1"/>
          </p:cNvSpPr>
          <p:nvPr/>
        </p:nvSpPr>
        <p:spPr>
          <a:xfrm xmlns:a="http://schemas.openxmlformats.org/drawingml/2006/main">
            <a:off x="8496300" y="2228850"/>
            <a:ext cx="2628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Category caution</a:t>
            </a:r>
          </a:p>
        </p:txBody>
      </p:sp>
      <p:sp>
        <p:nvSpPr>
          <p:cNvPr id="19" name="">
            <a:extLst xmlns:a="http://schemas.openxmlformats.org/drawingml/2006/main">
              <a:ext uri="{FF2B5EF4-FFF2-40B4-BE49-F238E27FC236}">
                <a16:creationId xmlns:a16="http://schemas.microsoft.com/office/drawing/2014/main" id="{AC4AE926-476F-4FDE-A7F2-F173B13180DA}"/>
              </a:ext>
            </a:extLst>
          </p:cNvPr>
          <p:cNvSpPr>
            <a:spLocks xmlns:a="http://schemas.openxmlformats.org/drawingml/2006/main" noGrp="1"/>
          </p:cNvSpPr>
          <p:nvPr/>
        </p:nvSpPr>
        <p:spPr>
          <a:xfrm xmlns:a="http://schemas.openxmlformats.org/drawingml/2006/main">
            <a:off x="8496300" y="2552700"/>
            <a:ext cx="2628900" cy="990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A PM2.5-derived category is safe only when the deployment setting supplies the PM2.5 history.</a:t>
            </a:r>
          </a:p>
        </p:txBody>
      </p:sp>
      <p:sp>
        <p:nvSpPr>
          <p:cNvPr id="20" name="">
            <a:extLst xmlns:a="http://schemas.openxmlformats.org/drawingml/2006/main">
              <a:ext uri="{FF2B5EF4-FFF2-40B4-BE49-F238E27FC236}">
                <a16:creationId xmlns:a16="http://schemas.microsoft.com/office/drawing/2014/main" id="{CFEA6541-9E02-4F49-BBAA-F8032C1D56CA}"/>
              </a:ext>
            </a:extLst>
          </p:cNvPr>
          <p:cNvSpPr>
            <a:spLocks xmlns:a="http://schemas.openxmlformats.org/drawingml/2006/main" noGrp="1"/>
          </p:cNvSpPr>
          <p:nvPr/>
        </p:nvSpPr>
        <p:spPr>
          <a:xfrm xmlns:a="http://schemas.openxmlformats.org/drawingml/2006/main">
            <a:off x="1143000" y="460057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1" name="">
            <a:extLst xmlns:a="http://schemas.openxmlformats.org/drawingml/2006/main">
              <a:ext uri="{FF2B5EF4-FFF2-40B4-BE49-F238E27FC236}">
                <a16:creationId xmlns:a16="http://schemas.microsoft.com/office/drawing/2014/main" id="{DD6BA67A-58AF-4AE7-BA3F-17F4AFA35068}"/>
              </a:ext>
            </a:extLst>
          </p:cNvPr>
          <p:cNvSpPr>
            <a:spLocks xmlns:a="http://schemas.openxmlformats.org/drawingml/2006/main" noGrp="1"/>
          </p:cNvSpPr>
          <p:nvPr/>
        </p:nvSpPr>
        <p:spPr>
          <a:xfrm xmlns:a="http://schemas.openxmlformats.org/drawingml/2006/main">
            <a:off x="1352550" y="4476750"/>
            <a:ext cx="8934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Train/test splits must hide whole sites for NOW.</a:t>
            </a:r>
          </a:p>
        </p:txBody>
      </p:sp>
      <p:sp>
        <p:nvSpPr>
          <p:cNvPr id="22" name="">
            <a:extLst xmlns:a="http://schemas.openxmlformats.org/drawingml/2006/main">
              <a:ext uri="{FF2B5EF4-FFF2-40B4-BE49-F238E27FC236}">
                <a16:creationId xmlns:a16="http://schemas.microsoft.com/office/drawing/2014/main" id="{2EF9889E-E218-4D21-9356-8E3DACD639CE}"/>
              </a:ext>
            </a:extLst>
          </p:cNvPr>
          <p:cNvSpPr>
            <a:spLocks xmlns:a="http://schemas.openxmlformats.org/drawingml/2006/main" noGrp="1"/>
          </p:cNvSpPr>
          <p:nvPr/>
        </p:nvSpPr>
        <p:spPr>
          <a:xfrm xmlns:a="http://schemas.openxmlformats.org/drawingml/2006/main">
            <a:off x="1143000" y="496252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3" name="">
            <a:extLst xmlns:a="http://schemas.openxmlformats.org/drawingml/2006/main">
              <a:ext uri="{FF2B5EF4-FFF2-40B4-BE49-F238E27FC236}">
                <a16:creationId xmlns:a16="http://schemas.microsoft.com/office/drawing/2014/main" id="{3DF503FA-7C08-4A56-A301-5032F0F36919}"/>
              </a:ext>
            </a:extLst>
          </p:cNvPr>
          <p:cNvSpPr>
            <a:spLocks xmlns:a="http://schemas.openxmlformats.org/drawingml/2006/main" noGrp="1"/>
          </p:cNvSpPr>
          <p:nvPr/>
        </p:nvSpPr>
        <p:spPr>
          <a:xfrm xmlns:a="http://schemas.openxmlformats.org/drawingml/2006/main">
            <a:off x="1352550" y="4838700"/>
            <a:ext cx="8934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Chronological splits must respect forecast target dates for FUTURE.</a:t>
            </a:r>
          </a:p>
        </p:txBody>
      </p:sp>
      <p:sp>
        <p:nvSpPr>
          <p:cNvPr id="24" name="">
            <a:extLst xmlns:a="http://schemas.openxmlformats.org/drawingml/2006/main">
              <a:ext uri="{FF2B5EF4-FFF2-40B4-BE49-F238E27FC236}">
                <a16:creationId xmlns:a16="http://schemas.microsoft.com/office/drawing/2014/main" id="{EF961C6D-6693-4298-9581-2347F9FBEBEB}"/>
              </a:ext>
            </a:extLst>
          </p:cNvPr>
          <p:cNvSpPr>
            <a:spLocks xmlns:a="http://schemas.openxmlformats.org/drawingml/2006/main" noGrp="1"/>
          </p:cNvSpPr>
          <p:nvPr/>
        </p:nvSpPr>
        <p:spPr>
          <a:xfrm xmlns:a="http://schemas.openxmlformats.org/drawingml/2006/main">
            <a:off x="1143000" y="5324475"/>
            <a:ext cx="85725" cy="85725"/>
          </a:xfrm>
          <a:prstGeom xmlns:a="http://schemas.openxmlformats.org/drawingml/2006/main" prst="ellipse">
            <a:avLst/>
          </a:prstGeom>
          <a:solidFill xmlns:a="http://schemas.openxmlformats.org/drawingml/2006/main">
            <a:srgbClr val="14A38B"/>
          </a:solidFill>
          <a:ln xmlns:a="http://schemas.openxmlformats.org/drawingml/2006/main" w="0">
            <a:solidFill>
              <a:srgbClr val="14A38B"/>
            </a:solidFill>
          </a:ln>
        </p:spPr>
      </p:sp>
      <p:sp>
        <p:nvSpPr>
          <p:cNvPr id="25" name="">
            <a:extLst xmlns:a="http://schemas.openxmlformats.org/drawingml/2006/main">
              <a:ext uri="{FF2B5EF4-FFF2-40B4-BE49-F238E27FC236}">
                <a16:creationId xmlns:a16="http://schemas.microsoft.com/office/drawing/2014/main" id="{CB5984A1-EF6A-4CDF-AAF4-862A1C54981C}"/>
              </a:ext>
            </a:extLst>
          </p:cNvPr>
          <p:cNvSpPr>
            <a:spLocks xmlns:a="http://schemas.openxmlformats.org/drawingml/2006/main" noGrp="1"/>
          </p:cNvSpPr>
          <p:nvPr/>
        </p:nvSpPr>
        <p:spPr>
          <a:xfrm xmlns:a="http://schemas.openxmlformats.org/drawingml/2006/main">
            <a:off x="1352550" y="5200650"/>
            <a:ext cx="8934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Category priors must be fit inside folds or rejected.</a:t>
            </a:r>
          </a:p>
        </p:txBody>
      </p:sp>
      <p:sp>
        <p:nvSpPr>
          <p:cNvPr id="26" name="">
            <a:extLst xmlns:a="http://schemas.openxmlformats.org/drawingml/2006/main">
              <a:ext uri="{FF2B5EF4-FFF2-40B4-BE49-F238E27FC236}">
                <a16:creationId xmlns:a16="http://schemas.microsoft.com/office/drawing/2014/main" id="{95FDA8A3-2943-4D00-95FE-20BD2FC058A0}"/>
              </a:ext>
            </a:extLst>
          </p:cNvPr>
          <p:cNvSpPr>
            <a:spLocks xmlns:a="http://schemas.openxmlformats.org/drawingml/2006/main" noGrp="1"/>
          </p:cNvSpPr>
          <p:nvPr/>
        </p:nvSpPr>
        <p:spPr>
          <a:xfrm xmlns:a="http://schemas.openxmlformats.org/drawingml/2006/main">
            <a:off x="1143000" y="5686425"/>
            <a:ext cx="85725" cy="85725"/>
          </a:xfrm>
          <a:prstGeom xmlns:a="http://schemas.openxmlformats.org/drawingml/2006/main" prst="ellipse">
            <a:avLst/>
          </a:prstGeom>
          <a:solidFill xmlns:a="http://schemas.openxmlformats.org/drawingml/2006/main">
            <a:srgbClr val="EC5A4C"/>
          </a:solidFill>
          <a:ln xmlns:a="http://schemas.openxmlformats.org/drawingml/2006/main" w="0">
            <a:solidFill>
              <a:srgbClr val="EC5A4C"/>
            </a:solidFill>
          </a:ln>
        </p:spPr>
      </p:sp>
      <p:sp>
        <p:nvSpPr>
          <p:cNvPr id="27" name="">
            <a:extLst xmlns:a="http://schemas.openxmlformats.org/drawingml/2006/main">
              <a:ext uri="{FF2B5EF4-FFF2-40B4-BE49-F238E27FC236}">
                <a16:creationId xmlns:a16="http://schemas.microsoft.com/office/drawing/2014/main" id="{0105E4D5-2786-443F-BA63-7A3AFE3C6990}"/>
              </a:ext>
            </a:extLst>
          </p:cNvPr>
          <p:cNvSpPr>
            <a:spLocks xmlns:a="http://schemas.openxmlformats.org/drawingml/2006/main" noGrp="1"/>
          </p:cNvSpPr>
          <p:nvPr/>
        </p:nvSpPr>
        <p:spPr>
          <a:xfrm xmlns:a="http://schemas.openxmlformats.org/drawingml/2006/main">
            <a:off x="1352550" y="5562600"/>
            <a:ext cx="89344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Random split numbers are diagnostic only.</a:t>
            </a:r>
          </a:p>
        </p:txBody>
      </p:sp>
    </p:spTree>
    <p:extLst>
      <p:ext uri="{BB962C8B-B14F-4D97-AF65-F5344CB8AC3E}">
        <p14:creationId xmlns:p14="http://schemas.microsoft.com/office/powerpoint/2010/main" val="1919986870"/>
      </p:ext>
    </p:extLst>
  </p:cSld>
</p:sld>
</file>

<file path=ppt/slides/slide9.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CA7E01CD-F8B7-4231-9001-B868D8187C67}"/>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14370CD6-D086-4732-A34A-049E2515D5DB}"/>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D8A72ABD-FAF5-4E05-A515-41E25FCD7BC2}"/>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46FE4B34-D3EF-4538-A48E-4B61F5176E55}"/>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3 · NOW</a:t>
            </a:r>
          </a:p>
        </p:txBody>
      </p:sp>
      <p:sp>
        <p:nvSpPr>
          <p:cNvPr id="6" name="">
            <a:extLst xmlns:a="http://schemas.openxmlformats.org/drawingml/2006/main">
              <a:ext uri="{FF2B5EF4-FFF2-40B4-BE49-F238E27FC236}">
                <a16:creationId xmlns:a16="http://schemas.microsoft.com/office/drawing/2014/main" id="{A2E7A5FE-2EB2-45FB-8977-97AF115504B2}"/>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NOW Prediction: New Locations, Not Random Rows</a:t>
            </a:r>
          </a:p>
        </p:txBody>
      </p:sp>
      <p:sp>
        <p:nvSpPr>
          <p:cNvPr id="7" name="">
            <a:extLst xmlns:a="http://schemas.openxmlformats.org/drawingml/2006/main">
              <a:ext uri="{FF2B5EF4-FFF2-40B4-BE49-F238E27FC236}">
                <a16:creationId xmlns:a16="http://schemas.microsoft.com/office/drawing/2014/main" id="{784C7CB2-02B5-4B7D-A90E-F2B6A3B13F29}"/>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Estimate current PM2.5 where no air-quality sensor exists.</a:t>
            </a:r>
          </a:p>
        </p:txBody>
      </p:sp>
      <p:sp>
        <p:nvSpPr>
          <p:cNvPr id="8" name="">
            <a:extLst xmlns:a="http://schemas.openxmlformats.org/drawingml/2006/main">
              <a:ext uri="{FF2B5EF4-FFF2-40B4-BE49-F238E27FC236}">
                <a16:creationId xmlns:a16="http://schemas.microsoft.com/office/drawing/2014/main" id="{7A76C8E6-77A5-4590-9255-29749273F1F7}"/>
              </a:ext>
            </a:extLst>
          </p:cNvPr>
          <p:cNvSpPr>
            <a:spLocks xmlns:a="http://schemas.openxmlformats.org/drawingml/2006/main" noGrp="1"/>
          </p:cNvSpPr>
          <p:nvPr/>
        </p:nvSpPr>
        <p:spPr>
          <a:xfrm xmlns:a="http://schemas.openxmlformats.org/drawingml/2006/main">
            <a:off x="762000" y="1952625"/>
            <a:ext cx="3286125"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DC19BDFE-2774-44C1-8D1D-309090AA1EED}"/>
              </a:ext>
            </a:extLst>
          </p:cNvPr>
          <p:cNvSpPr>
            <a:spLocks xmlns:a="http://schemas.openxmlformats.org/drawingml/2006/main" noGrp="1"/>
          </p:cNvSpPr>
          <p:nvPr/>
        </p:nvSpPr>
        <p:spPr>
          <a:xfrm xmlns:a="http://schemas.openxmlformats.org/drawingml/2006/main">
            <a:off x="762000" y="1952625"/>
            <a:ext cx="47625" cy="1381125"/>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0" name="">
            <a:extLst xmlns:a="http://schemas.openxmlformats.org/drawingml/2006/main">
              <a:ext uri="{FF2B5EF4-FFF2-40B4-BE49-F238E27FC236}">
                <a16:creationId xmlns:a16="http://schemas.microsoft.com/office/drawing/2014/main" id="{0505D26E-E7E6-482B-A1AE-5C8172263A7A}"/>
              </a:ext>
            </a:extLst>
          </p:cNvPr>
          <p:cNvSpPr>
            <a:spLocks xmlns:a="http://schemas.openxmlformats.org/drawingml/2006/main" noGrp="1"/>
          </p:cNvSpPr>
          <p:nvPr/>
        </p:nvSpPr>
        <p:spPr>
          <a:xfrm xmlns:a="http://schemas.openxmlformats.org/drawingml/2006/main">
            <a:off x="971550" y="2085975"/>
            <a:ext cx="28670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Goal</a:t>
            </a:r>
          </a:p>
        </p:txBody>
      </p:sp>
      <p:sp>
        <p:nvSpPr>
          <p:cNvPr id="11" name="">
            <a:extLst xmlns:a="http://schemas.openxmlformats.org/drawingml/2006/main">
              <a:ext uri="{FF2B5EF4-FFF2-40B4-BE49-F238E27FC236}">
                <a16:creationId xmlns:a16="http://schemas.microsoft.com/office/drawing/2014/main" id="{08F59243-4A11-4850-98A5-8A14A496FD1F}"/>
              </a:ext>
            </a:extLst>
          </p:cNvPr>
          <p:cNvSpPr>
            <a:spLocks xmlns:a="http://schemas.openxmlformats.org/drawingml/2006/main" noGrp="1"/>
          </p:cNvSpPr>
          <p:nvPr/>
        </p:nvSpPr>
        <p:spPr>
          <a:xfrm xmlns:a="http://schemas.openxmlformats.org/drawingml/2006/main">
            <a:off x="971550" y="2409825"/>
            <a:ext cx="2867025"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Predict today’s PM2.5 pollution level at a location without a sensor.</a:t>
            </a:r>
          </a:p>
        </p:txBody>
      </p:sp>
      <p:sp>
        <p:nvSpPr>
          <p:cNvPr id="12" name="">
            <a:extLst xmlns:a="http://schemas.openxmlformats.org/drawingml/2006/main">
              <a:ext uri="{FF2B5EF4-FFF2-40B4-BE49-F238E27FC236}">
                <a16:creationId xmlns:a16="http://schemas.microsoft.com/office/drawing/2014/main" id="{A8B193CE-B690-4517-9CFF-44D7FBB769D0}"/>
              </a:ext>
            </a:extLst>
          </p:cNvPr>
          <p:cNvSpPr>
            <a:spLocks xmlns:a="http://schemas.openxmlformats.org/drawingml/2006/main" noGrp="1"/>
          </p:cNvSpPr>
          <p:nvPr/>
        </p:nvSpPr>
        <p:spPr>
          <a:xfrm xmlns:a="http://schemas.openxmlformats.org/drawingml/2006/main">
            <a:off x="4429125" y="1952625"/>
            <a:ext cx="3286125"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37C7647F-7599-4125-BCD6-8E8569C86E06}"/>
              </a:ext>
            </a:extLst>
          </p:cNvPr>
          <p:cNvSpPr>
            <a:spLocks xmlns:a="http://schemas.openxmlformats.org/drawingml/2006/main" noGrp="1"/>
          </p:cNvSpPr>
          <p:nvPr/>
        </p:nvSpPr>
        <p:spPr>
          <a:xfrm xmlns:a="http://schemas.openxmlformats.org/drawingml/2006/main">
            <a:off x="4429125" y="1952625"/>
            <a:ext cx="47625" cy="1381125"/>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14" name="">
            <a:extLst xmlns:a="http://schemas.openxmlformats.org/drawingml/2006/main">
              <a:ext uri="{FF2B5EF4-FFF2-40B4-BE49-F238E27FC236}">
                <a16:creationId xmlns:a16="http://schemas.microsoft.com/office/drawing/2014/main" id="{AB9C76F3-317D-4F5C-99F7-84F6D029DFC8}"/>
              </a:ext>
            </a:extLst>
          </p:cNvPr>
          <p:cNvSpPr>
            <a:spLocks xmlns:a="http://schemas.openxmlformats.org/drawingml/2006/main" noGrp="1"/>
          </p:cNvSpPr>
          <p:nvPr/>
        </p:nvSpPr>
        <p:spPr>
          <a:xfrm xmlns:a="http://schemas.openxmlformats.org/drawingml/2006/main">
            <a:off x="4638675" y="2085975"/>
            <a:ext cx="28670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Why random split misleads</a:t>
            </a:r>
          </a:p>
        </p:txBody>
      </p:sp>
      <p:sp>
        <p:nvSpPr>
          <p:cNvPr id="15" name="">
            <a:extLst xmlns:a="http://schemas.openxmlformats.org/drawingml/2006/main">
              <a:ext uri="{FF2B5EF4-FFF2-40B4-BE49-F238E27FC236}">
                <a16:creationId xmlns:a16="http://schemas.microsoft.com/office/drawing/2014/main" id="{31AE0519-1A0D-45C5-B3F5-7AA64D1C0055}"/>
              </a:ext>
            </a:extLst>
          </p:cNvPr>
          <p:cNvSpPr>
            <a:spLocks xmlns:a="http://schemas.openxmlformats.org/drawingml/2006/main" noGrp="1"/>
          </p:cNvSpPr>
          <p:nvPr/>
        </p:nvSpPr>
        <p:spPr>
          <a:xfrm xmlns:a="http://schemas.openxmlformats.org/drawingml/2006/main">
            <a:off x="4638675" y="2409825"/>
            <a:ext cx="2867025"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A random split trains and tests on rows from the same monitoring sites, so the model can look better than it will in deployment.</a:t>
            </a:r>
          </a:p>
        </p:txBody>
      </p:sp>
      <p:sp>
        <p:nvSpPr>
          <p:cNvPr id="16" name="">
            <a:extLst xmlns:a="http://schemas.openxmlformats.org/drawingml/2006/main">
              <a:ext uri="{FF2B5EF4-FFF2-40B4-BE49-F238E27FC236}">
                <a16:creationId xmlns:a16="http://schemas.microsoft.com/office/drawing/2014/main" id="{05E3D90F-3114-44CF-82CB-77602856BDDA}"/>
              </a:ext>
            </a:extLst>
          </p:cNvPr>
          <p:cNvSpPr>
            <a:spLocks xmlns:a="http://schemas.openxmlformats.org/drawingml/2006/main" noGrp="1"/>
          </p:cNvSpPr>
          <p:nvPr/>
        </p:nvSpPr>
        <p:spPr>
          <a:xfrm xmlns:a="http://schemas.openxmlformats.org/drawingml/2006/main">
            <a:off x="8096250" y="1952625"/>
            <a:ext cx="3286125"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7" name="">
            <a:extLst xmlns:a="http://schemas.openxmlformats.org/drawingml/2006/main">
              <a:ext uri="{FF2B5EF4-FFF2-40B4-BE49-F238E27FC236}">
                <a16:creationId xmlns:a16="http://schemas.microsoft.com/office/drawing/2014/main" id="{F5F2025F-C3AA-405C-8E99-8B3C8DDFE8B5}"/>
              </a:ext>
            </a:extLst>
          </p:cNvPr>
          <p:cNvSpPr>
            <a:spLocks xmlns:a="http://schemas.openxmlformats.org/drawingml/2006/main" noGrp="1"/>
          </p:cNvSpPr>
          <p:nvPr/>
        </p:nvSpPr>
        <p:spPr>
          <a:xfrm xmlns:a="http://schemas.openxmlformats.org/drawingml/2006/main">
            <a:off x="8096250" y="1952625"/>
            <a:ext cx="47625" cy="1381125"/>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8" name="">
            <a:extLst xmlns:a="http://schemas.openxmlformats.org/drawingml/2006/main">
              <a:ext uri="{FF2B5EF4-FFF2-40B4-BE49-F238E27FC236}">
                <a16:creationId xmlns:a16="http://schemas.microsoft.com/office/drawing/2014/main" id="{F385B435-9B8E-4150-9843-3C390DBB19AF}"/>
              </a:ext>
            </a:extLst>
          </p:cNvPr>
          <p:cNvSpPr>
            <a:spLocks xmlns:a="http://schemas.openxmlformats.org/drawingml/2006/main" noGrp="1"/>
          </p:cNvSpPr>
          <p:nvPr/>
        </p:nvSpPr>
        <p:spPr>
          <a:xfrm xmlns:a="http://schemas.openxmlformats.org/drawingml/2006/main">
            <a:off x="8305800" y="2085975"/>
            <a:ext cx="28670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Honest validation</a:t>
            </a:r>
          </a:p>
        </p:txBody>
      </p:sp>
      <p:sp>
        <p:nvSpPr>
          <p:cNvPr id="19" name="">
            <a:extLst xmlns:a="http://schemas.openxmlformats.org/drawingml/2006/main">
              <a:ext uri="{FF2B5EF4-FFF2-40B4-BE49-F238E27FC236}">
                <a16:creationId xmlns:a16="http://schemas.microsoft.com/office/drawing/2014/main" id="{E4382091-3DFB-47A9-8732-79AE92D6BEFE}"/>
              </a:ext>
            </a:extLst>
          </p:cNvPr>
          <p:cNvSpPr>
            <a:spLocks xmlns:a="http://schemas.openxmlformats.org/drawingml/2006/main" noGrp="1"/>
          </p:cNvSpPr>
          <p:nvPr/>
        </p:nvSpPr>
        <p:spPr>
          <a:xfrm xmlns:a="http://schemas.openxmlformats.org/drawingml/2006/main">
            <a:off x="8305800" y="2409825"/>
            <a:ext cx="2867025"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Leave-Sites-Out removes entire monitoring sites from training and tests on those unseen locations.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914d434606449e4"/>
          <a:stretch xmlns:a="http://schemas.openxmlformats.org/drawingml/2006/main"/>
        </p:blipFill>
        <p:spPr>
          <a:xfrm xmlns:a="http://schemas.openxmlformats.org/drawingml/2006/main">
            <a:off x="1255436" y="3857625"/>
            <a:ext cx="4451902" cy="2047875"/>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F31BF548-17BB-4F3D-B8D8-3BAEA4E0C804}"/>
              </a:ext>
            </a:extLst>
          </p:cNvPr>
          <p:cNvSpPr>
            <a:spLocks xmlns:a="http://schemas.openxmlformats.org/drawingml/2006/main" noGrp="1"/>
          </p:cNvSpPr>
          <p:nvPr/>
        </p:nvSpPr>
        <p:spPr>
          <a:xfrm xmlns:a="http://schemas.openxmlformats.org/drawingml/2006/main">
            <a:off x="6572250" y="3952875"/>
            <a:ext cx="209550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2" name="">
            <a:extLst xmlns:a="http://schemas.openxmlformats.org/drawingml/2006/main">
              <a:ext uri="{FF2B5EF4-FFF2-40B4-BE49-F238E27FC236}">
                <a16:creationId xmlns:a16="http://schemas.microsoft.com/office/drawing/2014/main" id="{372664BD-5E79-4E9B-9463-CE548E74C7DC}"/>
              </a:ext>
            </a:extLst>
          </p:cNvPr>
          <p:cNvSpPr>
            <a:spLocks xmlns:a="http://schemas.openxmlformats.org/drawingml/2006/main" noGrp="1"/>
          </p:cNvSpPr>
          <p:nvPr/>
        </p:nvSpPr>
        <p:spPr>
          <a:xfrm xmlns:a="http://schemas.openxmlformats.org/drawingml/2006/main">
            <a:off x="6686550" y="4095750"/>
            <a:ext cx="18669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C5A4C"/>
                </a:solidFill>
              </a:defRPr>
            </a:pPr>
            <a:r>
              <a:rPr sz="2175" b="1">
                <a:solidFill>
                  <a:srgbClr val="EC5A4C"/>
                </a:solidFill>
              </a:rPr>
              <a:t>~0.32</a:t>
            </a:r>
          </a:p>
        </p:txBody>
      </p:sp>
      <p:sp>
        <p:nvSpPr>
          <p:cNvPr id="23" name="">
            <a:extLst xmlns:a="http://schemas.openxmlformats.org/drawingml/2006/main">
              <a:ext uri="{FF2B5EF4-FFF2-40B4-BE49-F238E27FC236}">
                <a16:creationId xmlns:a16="http://schemas.microsoft.com/office/drawing/2014/main" id="{0C7C0A2B-3782-4B56-9B87-01D742738AA6}"/>
              </a:ext>
            </a:extLst>
          </p:cNvPr>
          <p:cNvSpPr>
            <a:spLocks xmlns:a="http://schemas.openxmlformats.org/drawingml/2006/main" noGrp="1"/>
          </p:cNvSpPr>
          <p:nvPr/>
        </p:nvSpPr>
        <p:spPr>
          <a:xfrm xmlns:a="http://schemas.openxmlformats.org/drawingml/2006/main">
            <a:off x="6705600" y="4543425"/>
            <a:ext cx="1828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blind leave-site-out R²</a:t>
            </a:r>
          </a:p>
        </p:txBody>
      </p:sp>
      <p:sp>
        <p:nvSpPr>
          <p:cNvPr id="24" name="">
            <a:extLst xmlns:a="http://schemas.openxmlformats.org/drawingml/2006/main">
              <a:ext uri="{FF2B5EF4-FFF2-40B4-BE49-F238E27FC236}">
                <a16:creationId xmlns:a16="http://schemas.microsoft.com/office/drawing/2014/main" id="{BA2C8887-C11C-4D55-ABB5-D5923120D1F5}"/>
              </a:ext>
            </a:extLst>
          </p:cNvPr>
          <p:cNvSpPr>
            <a:spLocks xmlns:a="http://schemas.openxmlformats.org/drawingml/2006/main" noGrp="1"/>
          </p:cNvSpPr>
          <p:nvPr/>
        </p:nvSpPr>
        <p:spPr>
          <a:xfrm xmlns:a="http://schemas.openxmlformats.org/drawingml/2006/main">
            <a:off x="8953500" y="3952875"/>
            <a:ext cx="20002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5" name="">
            <a:extLst xmlns:a="http://schemas.openxmlformats.org/drawingml/2006/main">
              <a:ext uri="{FF2B5EF4-FFF2-40B4-BE49-F238E27FC236}">
                <a16:creationId xmlns:a16="http://schemas.microsoft.com/office/drawing/2014/main" id="{0CB5DC27-7892-4841-BD28-7982D590B3FB}"/>
              </a:ext>
            </a:extLst>
          </p:cNvPr>
          <p:cNvSpPr>
            <a:spLocks xmlns:a="http://schemas.openxmlformats.org/drawingml/2006/main" noGrp="1"/>
          </p:cNvSpPr>
          <p:nvPr/>
        </p:nvSpPr>
        <p:spPr>
          <a:xfrm xmlns:a="http://schemas.openxmlformats.org/drawingml/2006/main">
            <a:off x="9067800" y="4095750"/>
            <a:ext cx="17716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8A020"/>
                </a:solidFill>
              </a:defRPr>
            </a:pPr>
            <a:r>
              <a:rPr sz="2175" b="1">
                <a:solidFill>
                  <a:srgbClr val="E8A020"/>
                </a:solidFill>
              </a:rPr>
              <a:t>~0.48</a:t>
            </a:r>
          </a:p>
        </p:txBody>
      </p:sp>
      <p:sp>
        <p:nvSpPr>
          <p:cNvPr id="26" name="">
            <a:extLst xmlns:a="http://schemas.openxmlformats.org/drawingml/2006/main">
              <a:ext uri="{FF2B5EF4-FFF2-40B4-BE49-F238E27FC236}">
                <a16:creationId xmlns:a16="http://schemas.microsoft.com/office/drawing/2014/main" id="{4980DF68-9E64-4A01-97EB-55C76D7D78D0}"/>
              </a:ext>
            </a:extLst>
          </p:cNvPr>
          <p:cNvSpPr>
            <a:spLocks xmlns:a="http://schemas.openxmlformats.org/drawingml/2006/main" noGrp="1"/>
          </p:cNvSpPr>
          <p:nvPr/>
        </p:nvSpPr>
        <p:spPr>
          <a:xfrm xmlns:a="http://schemas.openxmlformats.org/drawingml/2006/main">
            <a:off x="9086850" y="4543425"/>
            <a:ext cx="1733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+category R²</a:t>
            </a:r>
          </a:p>
        </p:txBody>
      </p:sp>
      <p:sp>
        <p:nvSpPr>
          <p:cNvPr id="27" name="">
            <a:extLst xmlns:a="http://schemas.openxmlformats.org/drawingml/2006/main">
              <a:ext uri="{FF2B5EF4-FFF2-40B4-BE49-F238E27FC236}">
                <a16:creationId xmlns:a16="http://schemas.microsoft.com/office/drawing/2014/main" id="{A26F0D7B-5C55-4029-84AD-6CC6B2E1BA75}"/>
              </a:ext>
            </a:extLst>
          </p:cNvPr>
          <p:cNvSpPr>
            <a:spLocks xmlns:a="http://schemas.openxmlformats.org/drawingml/2006/main" noGrp="1"/>
          </p:cNvSpPr>
          <p:nvPr/>
        </p:nvSpPr>
        <p:spPr>
          <a:xfrm xmlns:a="http://schemas.openxmlformats.org/drawingml/2006/main">
            <a:off x="6572250" y="5286375"/>
            <a:ext cx="4381500" cy="666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8" name="">
            <a:extLst xmlns:a="http://schemas.openxmlformats.org/drawingml/2006/main">
              <a:ext uri="{FF2B5EF4-FFF2-40B4-BE49-F238E27FC236}">
                <a16:creationId xmlns:a16="http://schemas.microsoft.com/office/drawing/2014/main" id="{54533725-F669-43CC-9AE7-6CE159BCCBC0}"/>
              </a:ext>
            </a:extLst>
          </p:cNvPr>
          <p:cNvSpPr>
            <a:spLocks xmlns:a="http://schemas.openxmlformats.org/drawingml/2006/main" noGrp="1"/>
          </p:cNvSpPr>
          <p:nvPr/>
        </p:nvSpPr>
        <p:spPr>
          <a:xfrm xmlns:a="http://schemas.openxmlformats.org/drawingml/2006/main">
            <a:off x="6572250" y="5286375"/>
            <a:ext cx="47625" cy="66675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29" name="">
            <a:extLst xmlns:a="http://schemas.openxmlformats.org/drawingml/2006/main">
              <a:ext uri="{FF2B5EF4-FFF2-40B4-BE49-F238E27FC236}">
                <a16:creationId xmlns:a16="http://schemas.microsoft.com/office/drawing/2014/main" id="{7A242C0A-9803-417F-A9D6-D141F8DB346E}"/>
              </a:ext>
            </a:extLst>
          </p:cNvPr>
          <p:cNvSpPr>
            <a:spLocks xmlns:a="http://schemas.openxmlformats.org/drawingml/2006/main" noGrp="1"/>
          </p:cNvSpPr>
          <p:nvPr/>
        </p:nvSpPr>
        <p:spPr>
          <a:xfrm xmlns:a="http://schemas.openxmlformats.org/drawingml/2006/main">
            <a:off x="6781800" y="5419725"/>
            <a:ext cx="3962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Transition</a:t>
            </a:r>
          </a:p>
        </p:txBody>
      </p:sp>
      <p:sp>
        <p:nvSpPr>
          <p:cNvPr id="30" name="">
            <a:extLst xmlns:a="http://schemas.openxmlformats.org/drawingml/2006/main">
              <a:ext uri="{FF2B5EF4-FFF2-40B4-BE49-F238E27FC236}">
                <a16:creationId xmlns:a16="http://schemas.microsoft.com/office/drawing/2014/main" id="{594A39DA-9ADC-4CA7-9281-93DA3F347F38}"/>
              </a:ext>
            </a:extLst>
          </p:cNvPr>
          <p:cNvSpPr>
            <a:spLocks xmlns:a="http://schemas.openxmlformats.org/drawingml/2006/main" noGrp="1"/>
          </p:cNvSpPr>
          <p:nvPr/>
        </p:nvSpPr>
        <p:spPr>
          <a:xfrm xmlns:a="http://schemas.openxmlformats.org/drawingml/2006/main">
            <a:off x="6781800" y="5743575"/>
            <a:ext cx="396240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65853"/>
          </a:bodyPr>
          <a:lstStyle xmlns:a="http://schemas.openxmlformats.org/drawingml/2006/main"/>
          <a:p xmlns:a="http://schemas.openxmlformats.org/drawingml/2006/main">
            <a:pPr algn="l">
              <a:defRPr sz="1200" b="0">
                <a:solidFill>
                  <a:srgbClr val="9FB3BE"/>
                </a:solidFill>
              </a:defRPr>
            </a:pPr>
            <a:r>
              <a:rPr sz="1200" b="0">
                <a:solidFill>
                  <a:srgbClr val="9FB3BE"/>
                </a:solidFill>
              </a:rPr>
              <a:t>The question becomes: how can the model understand what kind of place a new site is?</a:t>
            </a:r>
          </a:p>
        </p:txBody>
      </p:sp>
    </p:spTree>
    <p:extLst>
      <p:ext uri="{BB962C8B-B14F-4D97-AF65-F5344CB8AC3E}">
        <p14:creationId xmlns:p14="http://schemas.microsoft.com/office/powerpoint/2010/main" val="859508091"/>
      </p:ext>
    </p:extLst>
  </p:cSld>
</p:sld>
</file>

<file path=ppt/slides/slide10.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5EB23AB8-F417-40E7-99B8-4FE2A3022F5C}"/>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96309EEA-9EAE-46F2-90AD-71468CBDB003}"/>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5B3C1555-5930-443B-847C-1D39389CA8FB}"/>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EC9FA737-8B06-44A5-91C2-CB6226DCBDC5}"/>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3 · categorization</a:t>
            </a:r>
          </a:p>
        </p:txBody>
      </p:sp>
      <p:sp>
        <p:nvSpPr>
          <p:cNvPr id="6" name="">
            <a:extLst xmlns:a="http://schemas.openxmlformats.org/drawingml/2006/main">
              <a:ext uri="{FF2B5EF4-FFF2-40B4-BE49-F238E27FC236}">
                <a16:creationId xmlns:a16="http://schemas.microsoft.com/office/drawing/2014/main" id="{18FF5B67-EA7C-4065-99A7-920CA06C74D7}"/>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Key Insight: Group Sites by Pollution Regime</a:t>
            </a:r>
          </a:p>
        </p:txBody>
      </p:sp>
      <p:sp>
        <p:nvSpPr>
          <p:cNvPr id="7" name="">
            <a:extLst xmlns:a="http://schemas.openxmlformats.org/drawingml/2006/main">
              <a:ext uri="{FF2B5EF4-FFF2-40B4-BE49-F238E27FC236}">
                <a16:creationId xmlns:a16="http://schemas.microsoft.com/office/drawing/2014/main" id="{BB1354CE-4076-4EC7-BAE0-B4664EFE94AE}"/>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The model improves when it learns that different locations behave differently.</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ba2aca5719ff47d6"/>
          <a:stretch xmlns:a="http://schemas.openxmlformats.org/drawingml/2006/main"/>
        </p:blipFill>
        <p:spPr>
          <a:xfrm xmlns:a="http://schemas.openxmlformats.org/drawingml/2006/main">
            <a:off x="742156" y="1952625"/>
            <a:ext cx="3944938" cy="33813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B9846B0-E52D-4D29-A794-5668FFF9D2D0}"/>
              </a:ext>
            </a:extLst>
          </p:cNvPr>
          <p:cNvSpPr>
            <a:spLocks xmlns:a="http://schemas.openxmlformats.org/drawingml/2006/main" noGrp="1"/>
          </p:cNvSpPr>
          <p:nvPr/>
        </p:nvSpPr>
        <p:spPr>
          <a:xfrm xmlns:a="http://schemas.openxmlformats.org/drawingml/2006/main">
            <a:off x="5143500" y="1952625"/>
            <a:ext cx="2714625" cy="12573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0" name="">
            <a:extLst xmlns:a="http://schemas.openxmlformats.org/drawingml/2006/main">
              <a:ext uri="{FF2B5EF4-FFF2-40B4-BE49-F238E27FC236}">
                <a16:creationId xmlns:a16="http://schemas.microsoft.com/office/drawing/2014/main" id="{5D94D400-D2C6-403E-A007-C1E5A3469926}"/>
              </a:ext>
            </a:extLst>
          </p:cNvPr>
          <p:cNvSpPr>
            <a:spLocks xmlns:a="http://schemas.openxmlformats.org/drawingml/2006/main" noGrp="1"/>
          </p:cNvSpPr>
          <p:nvPr/>
        </p:nvSpPr>
        <p:spPr>
          <a:xfrm xmlns:a="http://schemas.openxmlformats.org/drawingml/2006/main">
            <a:off x="5143500" y="1952625"/>
            <a:ext cx="47625" cy="125730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1" name="">
            <a:extLst xmlns:a="http://schemas.openxmlformats.org/drawingml/2006/main">
              <a:ext uri="{FF2B5EF4-FFF2-40B4-BE49-F238E27FC236}">
                <a16:creationId xmlns:a16="http://schemas.microsoft.com/office/drawing/2014/main" id="{164BCC79-03F3-4362-9D4E-0626B96601BD}"/>
              </a:ext>
            </a:extLst>
          </p:cNvPr>
          <p:cNvSpPr>
            <a:spLocks xmlns:a="http://schemas.openxmlformats.org/drawingml/2006/main" noGrp="1"/>
          </p:cNvSpPr>
          <p:nvPr/>
        </p:nvSpPr>
        <p:spPr>
          <a:xfrm xmlns:a="http://schemas.openxmlformats.org/drawingml/2006/main">
            <a:off x="5353050" y="2085975"/>
            <a:ext cx="2295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Behavioral signature</a:t>
            </a:r>
          </a:p>
        </p:txBody>
      </p:sp>
      <p:sp>
        <p:nvSpPr>
          <p:cNvPr id="12" name="">
            <a:extLst xmlns:a="http://schemas.openxmlformats.org/drawingml/2006/main">
              <a:ext uri="{FF2B5EF4-FFF2-40B4-BE49-F238E27FC236}">
                <a16:creationId xmlns:a16="http://schemas.microsoft.com/office/drawing/2014/main" id="{492F9F78-A4AD-4E2A-BDD2-6664428C4A16}"/>
              </a:ext>
            </a:extLst>
          </p:cNvPr>
          <p:cNvSpPr>
            <a:spLocks xmlns:a="http://schemas.openxmlformats.org/drawingml/2006/main" noGrp="1"/>
          </p:cNvSpPr>
          <p:nvPr/>
        </p:nvSpPr>
        <p:spPr>
          <a:xfrm xmlns:a="http://schemas.openxmlformats.org/drawingml/2006/main">
            <a:off x="5353050" y="2409825"/>
            <a:ext cx="2295525"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Average PM2.5, variability, seasonal behavior, and weather conditions describe each site.</a:t>
            </a:r>
          </a:p>
        </p:txBody>
      </p:sp>
      <p:sp>
        <p:nvSpPr>
          <p:cNvPr id="13" name="">
            <a:extLst xmlns:a="http://schemas.openxmlformats.org/drawingml/2006/main">
              <a:ext uri="{FF2B5EF4-FFF2-40B4-BE49-F238E27FC236}">
                <a16:creationId xmlns:a16="http://schemas.microsoft.com/office/drawing/2014/main" id="{D56F05B6-53D7-4E65-972A-B43FE32910DD}"/>
              </a:ext>
            </a:extLst>
          </p:cNvPr>
          <p:cNvSpPr>
            <a:spLocks xmlns:a="http://schemas.openxmlformats.org/drawingml/2006/main" noGrp="1"/>
          </p:cNvSpPr>
          <p:nvPr/>
        </p:nvSpPr>
        <p:spPr>
          <a:xfrm xmlns:a="http://schemas.openxmlformats.org/drawingml/2006/main">
            <a:off x="8143875" y="1952625"/>
            <a:ext cx="2714625" cy="12573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4" name="">
            <a:extLst xmlns:a="http://schemas.openxmlformats.org/drawingml/2006/main">
              <a:ext uri="{FF2B5EF4-FFF2-40B4-BE49-F238E27FC236}">
                <a16:creationId xmlns:a16="http://schemas.microsoft.com/office/drawing/2014/main" id="{21362576-7670-406C-8D30-027145A97FBC}"/>
              </a:ext>
            </a:extLst>
          </p:cNvPr>
          <p:cNvSpPr>
            <a:spLocks xmlns:a="http://schemas.openxmlformats.org/drawingml/2006/main" noGrp="1"/>
          </p:cNvSpPr>
          <p:nvPr/>
        </p:nvSpPr>
        <p:spPr>
          <a:xfrm xmlns:a="http://schemas.openxmlformats.org/drawingml/2006/main">
            <a:off x="8143875" y="1952625"/>
            <a:ext cx="47625" cy="125730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5" name="">
            <a:extLst xmlns:a="http://schemas.openxmlformats.org/drawingml/2006/main">
              <a:ext uri="{FF2B5EF4-FFF2-40B4-BE49-F238E27FC236}">
                <a16:creationId xmlns:a16="http://schemas.microsoft.com/office/drawing/2014/main" id="{AF8DCA52-40F4-4A6D-8F56-F0B2CD5E4AE1}"/>
              </a:ext>
            </a:extLst>
          </p:cNvPr>
          <p:cNvSpPr>
            <a:spLocks xmlns:a="http://schemas.openxmlformats.org/drawingml/2006/main" noGrp="1"/>
          </p:cNvSpPr>
          <p:nvPr/>
        </p:nvSpPr>
        <p:spPr>
          <a:xfrm xmlns:a="http://schemas.openxmlformats.org/drawingml/2006/main">
            <a:off x="8353425" y="2085975"/>
            <a:ext cx="2295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Pollution regimes</a:t>
            </a:r>
          </a:p>
        </p:txBody>
      </p:sp>
      <p:sp>
        <p:nvSpPr>
          <p:cNvPr id="16" name="">
            <a:extLst xmlns:a="http://schemas.openxmlformats.org/drawingml/2006/main">
              <a:ext uri="{FF2B5EF4-FFF2-40B4-BE49-F238E27FC236}">
                <a16:creationId xmlns:a16="http://schemas.microsoft.com/office/drawing/2014/main" id="{FD392118-4339-437F-A1F9-389A6069585E}"/>
              </a:ext>
            </a:extLst>
          </p:cNvPr>
          <p:cNvSpPr>
            <a:spLocks xmlns:a="http://schemas.openxmlformats.org/drawingml/2006/main" noGrp="1"/>
          </p:cNvSpPr>
          <p:nvPr/>
        </p:nvSpPr>
        <p:spPr>
          <a:xfrm xmlns:a="http://schemas.openxmlformats.org/drawingml/2006/main">
            <a:off x="8353425" y="2409825"/>
            <a:ext cx="2295525"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Some sites are consistently low, some are traffic/urban hotspots, and some fluctuate strongly.</a:t>
            </a:r>
          </a:p>
        </p:txBody>
      </p:sp>
      <p:sp>
        <p:nvSpPr>
          <p:cNvPr id="17" name="">
            <a:extLst xmlns:a="http://schemas.openxmlformats.org/drawingml/2006/main">
              <a:ext uri="{FF2B5EF4-FFF2-40B4-BE49-F238E27FC236}">
                <a16:creationId xmlns:a16="http://schemas.microsoft.com/office/drawing/2014/main" id="{EC2361DC-6007-4639-96B7-FDAE6AFAA1E5}"/>
              </a:ext>
            </a:extLst>
          </p:cNvPr>
          <p:cNvSpPr>
            <a:spLocks xmlns:a="http://schemas.openxmlformats.org/drawingml/2006/main" noGrp="1"/>
          </p:cNvSpPr>
          <p:nvPr/>
        </p:nvSpPr>
        <p:spPr>
          <a:xfrm xmlns:a="http://schemas.openxmlformats.org/drawingml/2006/main">
            <a:off x="5143500" y="3571875"/>
            <a:ext cx="2714625" cy="12573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8" name="">
            <a:extLst xmlns:a="http://schemas.openxmlformats.org/drawingml/2006/main">
              <a:ext uri="{FF2B5EF4-FFF2-40B4-BE49-F238E27FC236}">
                <a16:creationId xmlns:a16="http://schemas.microsoft.com/office/drawing/2014/main" id="{E08E05AF-4BC0-4A91-BFED-28263E7DB198}"/>
              </a:ext>
            </a:extLst>
          </p:cNvPr>
          <p:cNvSpPr>
            <a:spLocks xmlns:a="http://schemas.openxmlformats.org/drawingml/2006/main" noGrp="1"/>
          </p:cNvSpPr>
          <p:nvPr/>
        </p:nvSpPr>
        <p:spPr>
          <a:xfrm xmlns:a="http://schemas.openxmlformats.org/drawingml/2006/main">
            <a:off x="5143500" y="3571875"/>
            <a:ext cx="47625" cy="1257300"/>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9" name="">
            <a:extLst xmlns:a="http://schemas.openxmlformats.org/drawingml/2006/main">
              <a:ext uri="{FF2B5EF4-FFF2-40B4-BE49-F238E27FC236}">
                <a16:creationId xmlns:a16="http://schemas.microsoft.com/office/drawing/2014/main" id="{A356DB68-0787-4410-9D67-E4D09E5886A0}"/>
              </a:ext>
            </a:extLst>
          </p:cNvPr>
          <p:cNvSpPr>
            <a:spLocks xmlns:a="http://schemas.openxmlformats.org/drawingml/2006/main" noGrp="1"/>
          </p:cNvSpPr>
          <p:nvPr/>
        </p:nvSpPr>
        <p:spPr>
          <a:xfrm xmlns:a="http://schemas.openxmlformats.org/drawingml/2006/main">
            <a:off x="5353050" y="3705225"/>
            <a:ext cx="2295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Accepted model: k=4</a:t>
            </a:r>
          </a:p>
        </p:txBody>
      </p:sp>
      <p:sp>
        <p:nvSpPr>
          <p:cNvPr id="20" name="">
            <a:extLst xmlns:a="http://schemas.openxmlformats.org/drawingml/2006/main">
              <a:ext uri="{FF2B5EF4-FFF2-40B4-BE49-F238E27FC236}">
                <a16:creationId xmlns:a16="http://schemas.microsoft.com/office/drawing/2014/main" id="{CE4A7E90-0F52-4F39-92F0-ABDF80FD5997}"/>
              </a:ext>
            </a:extLst>
          </p:cNvPr>
          <p:cNvSpPr>
            <a:spLocks xmlns:a="http://schemas.openxmlformats.org/drawingml/2006/main" noGrp="1"/>
          </p:cNvSpPr>
          <p:nvPr/>
        </p:nvSpPr>
        <p:spPr>
          <a:xfrm xmlns:a="http://schemas.openxmlformats.org/drawingml/2006/main">
            <a:off x="5353050" y="4029075"/>
            <a:ext cx="2295525"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k=4 gives the best balance between performance, robustness, and deployability.</a:t>
            </a:r>
          </a:p>
        </p:txBody>
      </p:sp>
      <p:sp>
        <p:nvSpPr>
          <p:cNvPr id="21" name="">
            <a:extLst xmlns:a="http://schemas.openxmlformats.org/drawingml/2006/main">
              <a:ext uri="{FF2B5EF4-FFF2-40B4-BE49-F238E27FC236}">
                <a16:creationId xmlns:a16="http://schemas.microsoft.com/office/drawing/2014/main" id="{C78B8730-7E34-4E4B-864A-FA98FDAD8D62}"/>
              </a:ext>
            </a:extLst>
          </p:cNvPr>
          <p:cNvSpPr>
            <a:spLocks xmlns:a="http://schemas.openxmlformats.org/drawingml/2006/main" noGrp="1"/>
          </p:cNvSpPr>
          <p:nvPr/>
        </p:nvSpPr>
        <p:spPr>
          <a:xfrm xmlns:a="http://schemas.openxmlformats.org/drawingml/2006/main">
            <a:off x="8143875" y="3571875"/>
            <a:ext cx="2714625" cy="12573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2" name="">
            <a:extLst xmlns:a="http://schemas.openxmlformats.org/drawingml/2006/main">
              <a:ext uri="{FF2B5EF4-FFF2-40B4-BE49-F238E27FC236}">
                <a16:creationId xmlns:a16="http://schemas.microsoft.com/office/drawing/2014/main" id="{63082D37-A6AA-44B4-AE5C-8C3E5E88B950}"/>
              </a:ext>
            </a:extLst>
          </p:cNvPr>
          <p:cNvSpPr>
            <a:spLocks xmlns:a="http://schemas.openxmlformats.org/drawingml/2006/main" noGrp="1"/>
          </p:cNvSpPr>
          <p:nvPr/>
        </p:nvSpPr>
        <p:spPr>
          <a:xfrm xmlns:a="http://schemas.openxmlformats.org/drawingml/2006/main">
            <a:off x="8143875" y="3571875"/>
            <a:ext cx="47625" cy="1257300"/>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23" name="">
            <a:extLst xmlns:a="http://schemas.openxmlformats.org/drawingml/2006/main">
              <a:ext uri="{FF2B5EF4-FFF2-40B4-BE49-F238E27FC236}">
                <a16:creationId xmlns:a16="http://schemas.microsoft.com/office/drawing/2014/main" id="{4D371E7F-960D-4C66-A38D-F7706340F63C}"/>
              </a:ext>
            </a:extLst>
          </p:cNvPr>
          <p:cNvSpPr>
            <a:spLocks xmlns:a="http://schemas.openxmlformats.org/drawingml/2006/main" noGrp="1"/>
          </p:cNvSpPr>
          <p:nvPr/>
        </p:nvSpPr>
        <p:spPr>
          <a:xfrm xmlns:a="http://schemas.openxmlformats.org/drawingml/2006/main">
            <a:off x="8353425" y="3705225"/>
            <a:ext cx="2295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Audit result: k=6</a:t>
            </a:r>
          </a:p>
        </p:txBody>
      </p:sp>
      <p:sp>
        <p:nvSpPr>
          <p:cNvPr id="24" name="">
            <a:extLst xmlns:a="http://schemas.openxmlformats.org/drawingml/2006/main">
              <a:ext uri="{FF2B5EF4-FFF2-40B4-BE49-F238E27FC236}">
                <a16:creationId xmlns:a16="http://schemas.microsoft.com/office/drawing/2014/main" id="{BA3EB879-054B-4907-975F-390345A1707D}"/>
              </a:ext>
            </a:extLst>
          </p:cNvPr>
          <p:cNvSpPr>
            <a:spLocks xmlns:a="http://schemas.openxmlformats.org/drawingml/2006/main" noGrp="1"/>
          </p:cNvSpPr>
          <p:nvPr/>
        </p:nvSpPr>
        <p:spPr>
          <a:xfrm xmlns:a="http://schemas.openxmlformats.org/drawingml/2006/main">
            <a:off x="8353425" y="4029075"/>
            <a:ext cx="2295525"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99540"/>
          </a:bodyPr>
          <a:lstStyle xmlns:a="http://schemas.openxmlformats.org/drawingml/2006/main"/>
          <a:p xmlns:a="http://schemas.openxmlformats.org/drawingml/2006/main">
            <a:pPr algn="l">
              <a:defRPr sz="1200" b="0">
                <a:solidFill>
                  <a:srgbClr val="9FB3BE"/>
                </a:solidFill>
              </a:defRPr>
            </a:pPr>
            <a:r>
              <a:rPr sz="1200" b="0">
                <a:solidFill>
                  <a:srgbClr val="9FB3BE"/>
                </a:solidFill>
              </a:rPr>
              <a:t>k=6 captures meaningful finer regimes, but small groups and full-history assignment make it fragile.</a:t>
            </a:r>
          </a:p>
        </p:txBody>
      </p:sp>
      <p:sp>
        <p:nvSpPr>
          <p:cNvPr id="25" name="">
            <a:extLst xmlns:a="http://schemas.openxmlformats.org/drawingml/2006/main">
              <a:ext uri="{FF2B5EF4-FFF2-40B4-BE49-F238E27FC236}">
                <a16:creationId xmlns:a16="http://schemas.microsoft.com/office/drawing/2014/main" id="{5EC77376-4159-475D-ADEB-E6EFFBE17D47}"/>
              </a:ext>
            </a:extLst>
          </p:cNvPr>
          <p:cNvSpPr>
            <a:spLocks xmlns:a="http://schemas.openxmlformats.org/drawingml/2006/main" noGrp="1"/>
          </p:cNvSpPr>
          <p:nvPr/>
        </p:nvSpPr>
        <p:spPr>
          <a:xfrm xmlns:a="http://schemas.openxmlformats.org/drawingml/2006/main">
            <a:off x="5143500" y="5476875"/>
            <a:ext cx="57150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81900"/>
          </a:bodyPr>
          <a:lstStyle xmlns:a="http://schemas.openxmlformats.org/drawingml/2006/main"/>
          <a:p xmlns:a="http://schemas.openxmlformats.org/drawingml/2006/main">
            <a:pPr algn="ctr">
              <a:defRPr sz="1650" b="1">
                <a:solidFill>
                  <a:srgbClr val="E8F0EE"/>
                </a:solidFill>
              </a:defRPr>
            </a:pPr>
            <a:r>
              <a:rPr sz="1650" b="1">
                <a:solidFill>
                  <a:srgbClr val="E8F0EE"/>
                </a:solidFill>
              </a:rPr>
              <a:t>Bottom line: k=6 remains a research direction; accepted production remains k=4.</a:t>
            </a:r>
          </a:p>
        </p:txBody>
      </p:sp>
    </p:spTree>
    <p:extLst>
      <p:ext uri="{BB962C8B-B14F-4D97-AF65-F5344CB8AC3E}">
        <p14:creationId xmlns:p14="http://schemas.microsoft.com/office/powerpoint/2010/main" val="1053768446"/>
      </p:ext>
    </p:extLst>
  </p:cSld>
</p:sld>
</file>

<file path=ppt/slides/slide11.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94E454C5-CF8A-435E-9DF3-0FA817E12504}"/>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27DF5D86-0176-415A-B510-F74518A4AC63}"/>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3DC88E5C-B40B-4281-8195-970F1731766B}"/>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BC739F71-C69B-4916-AB3E-471FB7DB3176}"/>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3 · pipeline + safety</a:t>
            </a:r>
          </a:p>
        </p:txBody>
      </p:sp>
      <p:sp>
        <p:nvSpPr>
          <p:cNvPr id="6" name="">
            <a:extLst xmlns:a="http://schemas.openxmlformats.org/drawingml/2006/main">
              <a:ext uri="{FF2B5EF4-FFF2-40B4-BE49-F238E27FC236}">
                <a16:creationId xmlns:a16="http://schemas.microsoft.com/office/drawing/2014/main" id="{6A357900-BA5B-4627-B479-AC1ADDB64D29}"/>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Model Pipeline and Safety Tiers</a:t>
            </a:r>
          </a:p>
        </p:txBody>
      </p:sp>
      <p:sp>
        <p:nvSpPr>
          <p:cNvPr id="7" name="">
            <a:extLst xmlns:a="http://schemas.openxmlformats.org/drawingml/2006/main">
              <a:ext uri="{FF2B5EF4-FFF2-40B4-BE49-F238E27FC236}">
                <a16:creationId xmlns:a16="http://schemas.microsoft.com/office/drawing/2014/main" id="{5EA3142D-821A-461A-8B87-5C5585BD298B}"/>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After estimating PM2.5, the output becomes easier to act on.</a:t>
            </a:r>
          </a:p>
        </p:txBody>
      </p:sp>
      <p:sp>
        <p:nvSpPr>
          <p:cNvPr id="8" name="">
            <a:extLst xmlns:a="http://schemas.openxmlformats.org/drawingml/2006/main">
              <a:ext uri="{FF2B5EF4-FFF2-40B4-BE49-F238E27FC236}">
                <a16:creationId xmlns:a16="http://schemas.microsoft.com/office/drawing/2014/main" id="{17427128-4C3F-4EF7-B63A-CB04AD96DC98}"/>
              </a:ext>
            </a:extLst>
          </p:cNvPr>
          <p:cNvSpPr>
            <a:spLocks xmlns:a="http://schemas.openxmlformats.org/drawingml/2006/main" noGrp="1"/>
          </p:cNvSpPr>
          <p:nvPr/>
        </p:nvSpPr>
        <p:spPr>
          <a:xfrm xmlns:a="http://schemas.openxmlformats.org/drawingml/2006/main">
            <a:off x="685800" y="1952625"/>
            <a:ext cx="2333625" cy="12382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FF7258B0-F75C-4167-9058-3EC230015E2E}"/>
              </a:ext>
            </a:extLst>
          </p:cNvPr>
          <p:cNvSpPr>
            <a:spLocks xmlns:a="http://schemas.openxmlformats.org/drawingml/2006/main" noGrp="1"/>
          </p:cNvSpPr>
          <p:nvPr/>
        </p:nvSpPr>
        <p:spPr>
          <a:xfrm xmlns:a="http://schemas.openxmlformats.org/drawingml/2006/main">
            <a:off x="685800" y="1952625"/>
            <a:ext cx="47625" cy="123825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0" name="">
            <a:extLst xmlns:a="http://schemas.openxmlformats.org/drawingml/2006/main">
              <a:ext uri="{FF2B5EF4-FFF2-40B4-BE49-F238E27FC236}">
                <a16:creationId xmlns:a16="http://schemas.microsoft.com/office/drawing/2014/main" id="{E4686D1F-5D4A-4001-B7A2-E755C1385756}"/>
              </a:ext>
            </a:extLst>
          </p:cNvPr>
          <p:cNvSpPr>
            <a:spLocks xmlns:a="http://schemas.openxmlformats.org/drawingml/2006/main" noGrp="1"/>
          </p:cNvSpPr>
          <p:nvPr/>
        </p:nvSpPr>
        <p:spPr>
          <a:xfrm xmlns:a="http://schemas.openxmlformats.org/drawingml/2006/main">
            <a:off x="895350" y="2085975"/>
            <a:ext cx="1914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1 · assign category</a:t>
            </a:r>
          </a:p>
        </p:txBody>
      </p:sp>
      <p:sp>
        <p:nvSpPr>
          <p:cNvPr id="11" name="">
            <a:extLst xmlns:a="http://schemas.openxmlformats.org/drawingml/2006/main">
              <a:ext uri="{FF2B5EF4-FFF2-40B4-BE49-F238E27FC236}">
                <a16:creationId xmlns:a16="http://schemas.microsoft.com/office/drawing/2014/main" id="{BA88C9F5-A54D-4622-AB42-80E5E3F1AEA6}"/>
              </a:ext>
            </a:extLst>
          </p:cNvPr>
          <p:cNvSpPr>
            <a:spLocks xmlns:a="http://schemas.openxmlformats.org/drawingml/2006/main" noGrp="1"/>
          </p:cNvSpPr>
          <p:nvPr/>
        </p:nvSpPr>
        <p:spPr>
          <a:xfrm xmlns:a="http://schemas.openxmlformats.org/drawingml/2006/main">
            <a:off x="895350" y="2409825"/>
            <a:ext cx="1914525"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Use the site’s pollution regime as a model feature.</a:t>
            </a:r>
          </a:p>
        </p:txBody>
      </p:sp>
      <p:sp>
        <p:nvSpPr>
          <p:cNvPr id="12" name="">
            <a:extLst xmlns:a="http://schemas.openxmlformats.org/drawingml/2006/main">
              <a:ext uri="{FF2B5EF4-FFF2-40B4-BE49-F238E27FC236}">
                <a16:creationId xmlns:a16="http://schemas.microsoft.com/office/drawing/2014/main" id="{1DEF2A9B-F3AB-4A9D-A9A8-EE5941B9A6C8}"/>
              </a:ext>
            </a:extLst>
          </p:cNvPr>
          <p:cNvSpPr>
            <a:spLocks xmlns:a="http://schemas.openxmlformats.org/drawingml/2006/main" noGrp="1"/>
          </p:cNvSpPr>
          <p:nvPr/>
        </p:nvSpPr>
        <p:spPr>
          <a:xfrm xmlns:a="http://schemas.openxmlformats.org/drawingml/2006/main">
            <a:off x="3305175" y="1952625"/>
            <a:ext cx="2333625" cy="12382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07AE1261-730A-46E8-8ABB-10F6894DBC99}"/>
              </a:ext>
            </a:extLst>
          </p:cNvPr>
          <p:cNvSpPr>
            <a:spLocks xmlns:a="http://schemas.openxmlformats.org/drawingml/2006/main" noGrp="1"/>
          </p:cNvSpPr>
          <p:nvPr/>
        </p:nvSpPr>
        <p:spPr>
          <a:xfrm xmlns:a="http://schemas.openxmlformats.org/drawingml/2006/main">
            <a:off x="3305175" y="1952625"/>
            <a:ext cx="47625" cy="123825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4" name="">
            <a:extLst xmlns:a="http://schemas.openxmlformats.org/drawingml/2006/main">
              <a:ext uri="{FF2B5EF4-FFF2-40B4-BE49-F238E27FC236}">
                <a16:creationId xmlns:a16="http://schemas.microsoft.com/office/drawing/2014/main" id="{53C1FD15-F3EF-4765-962A-53CA5FAD4606}"/>
              </a:ext>
            </a:extLst>
          </p:cNvPr>
          <p:cNvSpPr>
            <a:spLocks xmlns:a="http://schemas.openxmlformats.org/drawingml/2006/main" noGrp="1"/>
          </p:cNvSpPr>
          <p:nvPr/>
        </p:nvSpPr>
        <p:spPr>
          <a:xfrm xmlns:a="http://schemas.openxmlformats.org/drawingml/2006/main">
            <a:off x="3514725" y="2085975"/>
            <a:ext cx="1914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2 · add features</a:t>
            </a:r>
          </a:p>
        </p:txBody>
      </p:sp>
      <p:sp>
        <p:nvSpPr>
          <p:cNvPr id="15" name="">
            <a:extLst xmlns:a="http://schemas.openxmlformats.org/drawingml/2006/main">
              <a:ext uri="{FF2B5EF4-FFF2-40B4-BE49-F238E27FC236}">
                <a16:creationId xmlns:a16="http://schemas.microsoft.com/office/drawing/2014/main" id="{60D7AA15-6CC4-418C-AD4A-942DA3E2A0CA}"/>
              </a:ext>
            </a:extLst>
          </p:cNvPr>
          <p:cNvSpPr>
            <a:spLocks xmlns:a="http://schemas.openxmlformats.org/drawingml/2006/main" noGrp="1"/>
          </p:cNvSpPr>
          <p:nvPr/>
        </p:nvSpPr>
        <p:spPr>
          <a:xfrm xmlns:a="http://schemas.openxmlformats.org/drawingml/2006/main">
            <a:off x="3514725" y="2409825"/>
            <a:ext cx="1914525"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Weather, location, calendar, and external geospatial features.</a:t>
            </a:r>
          </a:p>
        </p:txBody>
      </p:sp>
      <p:sp>
        <p:nvSpPr>
          <p:cNvPr id="16" name="">
            <a:extLst xmlns:a="http://schemas.openxmlformats.org/drawingml/2006/main">
              <a:ext uri="{FF2B5EF4-FFF2-40B4-BE49-F238E27FC236}">
                <a16:creationId xmlns:a16="http://schemas.microsoft.com/office/drawing/2014/main" id="{AB7B4253-E4EB-4234-A6F1-01B34BBE9887}"/>
              </a:ext>
            </a:extLst>
          </p:cNvPr>
          <p:cNvSpPr>
            <a:spLocks xmlns:a="http://schemas.openxmlformats.org/drawingml/2006/main" noGrp="1"/>
          </p:cNvSpPr>
          <p:nvPr/>
        </p:nvSpPr>
        <p:spPr>
          <a:xfrm xmlns:a="http://schemas.openxmlformats.org/drawingml/2006/main">
            <a:off x="5924550" y="1952625"/>
            <a:ext cx="2333625" cy="12382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7" name="">
            <a:extLst xmlns:a="http://schemas.openxmlformats.org/drawingml/2006/main">
              <a:ext uri="{FF2B5EF4-FFF2-40B4-BE49-F238E27FC236}">
                <a16:creationId xmlns:a16="http://schemas.microsoft.com/office/drawing/2014/main" id="{E3227969-6D1F-4ECF-847B-A82C2C93AFE6}"/>
              </a:ext>
            </a:extLst>
          </p:cNvPr>
          <p:cNvSpPr>
            <a:spLocks xmlns:a="http://schemas.openxmlformats.org/drawingml/2006/main" noGrp="1"/>
          </p:cNvSpPr>
          <p:nvPr/>
        </p:nvSpPr>
        <p:spPr>
          <a:xfrm xmlns:a="http://schemas.openxmlformats.org/drawingml/2006/main">
            <a:off x="5924550" y="1952625"/>
            <a:ext cx="47625" cy="1238250"/>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8" name="">
            <a:extLst xmlns:a="http://schemas.openxmlformats.org/drawingml/2006/main">
              <a:ext uri="{FF2B5EF4-FFF2-40B4-BE49-F238E27FC236}">
                <a16:creationId xmlns:a16="http://schemas.microsoft.com/office/drawing/2014/main" id="{D48F148A-74E7-4636-B28F-FEA83C7A66EB}"/>
              </a:ext>
            </a:extLst>
          </p:cNvPr>
          <p:cNvSpPr>
            <a:spLocks xmlns:a="http://schemas.openxmlformats.org/drawingml/2006/main" noGrp="1"/>
          </p:cNvSpPr>
          <p:nvPr/>
        </p:nvSpPr>
        <p:spPr>
          <a:xfrm xmlns:a="http://schemas.openxmlformats.org/drawingml/2006/main">
            <a:off x="6134100" y="2085975"/>
            <a:ext cx="1914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3 · predict PM2.5</a:t>
            </a:r>
          </a:p>
        </p:txBody>
      </p:sp>
      <p:sp>
        <p:nvSpPr>
          <p:cNvPr id="19" name="">
            <a:extLst xmlns:a="http://schemas.openxmlformats.org/drawingml/2006/main">
              <a:ext uri="{FF2B5EF4-FFF2-40B4-BE49-F238E27FC236}">
                <a16:creationId xmlns:a16="http://schemas.microsoft.com/office/drawing/2014/main" id="{6D8E7065-0A5E-46D2-99F0-BBC1FB5F64EC}"/>
              </a:ext>
            </a:extLst>
          </p:cNvPr>
          <p:cNvSpPr>
            <a:spLocks xmlns:a="http://schemas.openxmlformats.org/drawingml/2006/main" noGrp="1"/>
          </p:cNvSpPr>
          <p:nvPr/>
        </p:nvSpPr>
        <p:spPr>
          <a:xfrm xmlns:a="http://schemas.openxmlformats.org/drawingml/2006/main">
            <a:off x="6134100" y="2409825"/>
            <a:ext cx="1914525"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Tested XGBoost, Random Forest, LightGBM, and CatBoost.</a:t>
            </a:r>
          </a:p>
        </p:txBody>
      </p:sp>
      <p:sp>
        <p:nvSpPr>
          <p:cNvPr id="20" name="">
            <a:extLst xmlns:a="http://schemas.openxmlformats.org/drawingml/2006/main">
              <a:ext uri="{FF2B5EF4-FFF2-40B4-BE49-F238E27FC236}">
                <a16:creationId xmlns:a16="http://schemas.microsoft.com/office/drawing/2014/main" id="{584148D8-20C4-4F64-81AB-E5C5C7986C45}"/>
              </a:ext>
            </a:extLst>
          </p:cNvPr>
          <p:cNvSpPr>
            <a:spLocks xmlns:a="http://schemas.openxmlformats.org/drawingml/2006/main" noGrp="1"/>
          </p:cNvSpPr>
          <p:nvPr/>
        </p:nvSpPr>
        <p:spPr>
          <a:xfrm xmlns:a="http://schemas.openxmlformats.org/drawingml/2006/main">
            <a:off x="8543925" y="1952625"/>
            <a:ext cx="2333625" cy="12382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1" name="">
            <a:extLst xmlns:a="http://schemas.openxmlformats.org/drawingml/2006/main">
              <a:ext uri="{FF2B5EF4-FFF2-40B4-BE49-F238E27FC236}">
                <a16:creationId xmlns:a16="http://schemas.microsoft.com/office/drawing/2014/main" id="{18B55FDC-2375-4ED3-ADE3-04A9AED8B6B6}"/>
              </a:ext>
            </a:extLst>
          </p:cNvPr>
          <p:cNvSpPr>
            <a:spLocks xmlns:a="http://schemas.openxmlformats.org/drawingml/2006/main" noGrp="1"/>
          </p:cNvSpPr>
          <p:nvPr/>
        </p:nvSpPr>
        <p:spPr>
          <a:xfrm xmlns:a="http://schemas.openxmlformats.org/drawingml/2006/main">
            <a:off x="8543925" y="1952625"/>
            <a:ext cx="47625" cy="1238250"/>
          </a:xfrm>
          <a:prstGeom xmlns:a="http://schemas.openxmlformats.org/drawingml/2006/main" prst="rect">
            <a:avLst/>
          </a:prstGeom>
          <a:solidFill xmlns:a="http://schemas.openxmlformats.org/drawingml/2006/main">
            <a:srgbClr val="8B7CF6"/>
          </a:solidFill>
          <a:ln xmlns:a="http://schemas.openxmlformats.org/drawingml/2006/main" w="0">
            <a:solidFill>
              <a:srgbClr val="8B7CF6"/>
            </a:solidFill>
          </a:ln>
        </p:spPr>
      </p:sp>
      <p:sp>
        <p:nvSpPr>
          <p:cNvPr id="22" name="">
            <a:extLst xmlns:a="http://schemas.openxmlformats.org/drawingml/2006/main">
              <a:ext uri="{FF2B5EF4-FFF2-40B4-BE49-F238E27FC236}">
                <a16:creationId xmlns:a16="http://schemas.microsoft.com/office/drawing/2014/main" id="{0F5E0D3A-1F7F-4208-9346-59B591BF050C}"/>
              </a:ext>
            </a:extLst>
          </p:cNvPr>
          <p:cNvSpPr>
            <a:spLocks xmlns:a="http://schemas.openxmlformats.org/drawingml/2006/main" noGrp="1"/>
          </p:cNvSpPr>
          <p:nvPr/>
        </p:nvSpPr>
        <p:spPr>
          <a:xfrm xmlns:a="http://schemas.openxmlformats.org/drawingml/2006/main">
            <a:off x="8753475" y="2085975"/>
            <a:ext cx="1914525"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4 · convert to tier</a:t>
            </a:r>
          </a:p>
        </p:txBody>
      </p:sp>
      <p:sp>
        <p:nvSpPr>
          <p:cNvPr id="23" name="">
            <a:extLst xmlns:a="http://schemas.openxmlformats.org/drawingml/2006/main">
              <a:ext uri="{FF2B5EF4-FFF2-40B4-BE49-F238E27FC236}">
                <a16:creationId xmlns:a16="http://schemas.microsoft.com/office/drawing/2014/main" id="{92801906-76EF-4C45-B9FD-80B10ADA4D19}"/>
              </a:ext>
            </a:extLst>
          </p:cNvPr>
          <p:cNvSpPr>
            <a:spLocks xmlns:a="http://schemas.openxmlformats.org/drawingml/2006/main" noGrp="1"/>
          </p:cNvSpPr>
          <p:nvPr/>
        </p:nvSpPr>
        <p:spPr>
          <a:xfrm xmlns:a="http://schemas.openxmlformats.org/drawingml/2006/main">
            <a:off x="8753475" y="2409825"/>
            <a:ext cx="1914525"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Elevated, High, or Dangerous for planner decisions.</a:t>
            </a:r>
          </a:p>
        </p:txBody>
      </p:sp>
      <p:sp>
        <p:nvSpPr>
          <p:cNvPr id="24" name="">
            <a:extLst xmlns:a="http://schemas.openxmlformats.org/drawingml/2006/main">
              <a:ext uri="{FF2B5EF4-FFF2-40B4-BE49-F238E27FC236}">
                <a16:creationId xmlns:a16="http://schemas.microsoft.com/office/drawing/2014/main" id="{E5E0B3A2-E2B4-42BE-92AA-4AA55694401E}"/>
              </a:ext>
            </a:extLst>
          </p:cNvPr>
          <p:cNvSpPr>
            <a:spLocks xmlns:a="http://schemas.openxmlformats.org/drawingml/2006/main" noGrp="1"/>
          </p:cNvSpPr>
          <p:nvPr/>
        </p:nvSpPr>
        <p:spPr>
          <a:xfrm xmlns:a="http://schemas.openxmlformats.org/drawingml/2006/main">
            <a:off x="876300" y="3857625"/>
            <a:ext cx="2333625"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5" name="">
            <a:extLst xmlns:a="http://schemas.openxmlformats.org/drawingml/2006/main">
              <a:ext uri="{FF2B5EF4-FFF2-40B4-BE49-F238E27FC236}">
                <a16:creationId xmlns:a16="http://schemas.microsoft.com/office/drawing/2014/main" id="{18F9F867-1B44-446A-867A-8B8D394B6C81}"/>
              </a:ext>
            </a:extLst>
          </p:cNvPr>
          <p:cNvSpPr>
            <a:spLocks xmlns:a="http://schemas.openxmlformats.org/drawingml/2006/main" noGrp="1"/>
          </p:cNvSpPr>
          <p:nvPr/>
        </p:nvSpPr>
        <p:spPr>
          <a:xfrm xmlns:a="http://schemas.openxmlformats.org/drawingml/2006/main">
            <a:off x="990600" y="4000500"/>
            <a:ext cx="2105025"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~0.55</a:t>
            </a:r>
          </a:p>
        </p:txBody>
      </p:sp>
      <p:sp>
        <p:nvSpPr>
          <p:cNvPr id="26" name="">
            <a:extLst xmlns:a="http://schemas.openxmlformats.org/drawingml/2006/main">
              <a:ext uri="{FF2B5EF4-FFF2-40B4-BE49-F238E27FC236}">
                <a16:creationId xmlns:a16="http://schemas.microsoft.com/office/drawing/2014/main" id="{4C2C3F52-A4E8-457C-8C7A-8C0F31ED0643}"/>
              </a:ext>
            </a:extLst>
          </p:cNvPr>
          <p:cNvSpPr>
            <a:spLocks xmlns:a="http://schemas.openxmlformats.org/drawingml/2006/main" noGrp="1"/>
          </p:cNvSpPr>
          <p:nvPr/>
        </p:nvSpPr>
        <p:spPr>
          <a:xfrm xmlns:a="http://schemas.openxmlformats.org/drawingml/2006/main">
            <a:off x="1009650" y="4448175"/>
            <a:ext cx="20669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Category + Geodata R²</a:t>
            </a:r>
          </a:p>
        </p:txBody>
      </p:sp>
      <p:sp>
        <p:nvSpPr>
          <p:cNvPr id="27" name="">
            <a:extLst xmlns:a="http://schemas.openxmlformats.org/drawingml/2006/main">
              <a:ext uri="{FF2B5EF4-FFF2-40B4-BE49-F238E27FC236}">
                <a16:creationId xmlns:a16="http://schemas.microsoft.com/office/drawing/2014/main" id="{CA1C7419-5C38-4E9C-B880-A5C2C2A0C2FC}"/>
              </a:ext>
            </a:extLst>
          </p:cNvPr>
          <p:cNvSpPr>
            <a:spLocks xmlns:a="http://schemas.openxmlformats.org/drawingml/2006/main" noGrp="1"/>
          </p:cNvSpPr>
          <p:nvPr/>
        </p:nvSpPr>
        <p:spPr>
          <a:xfrm xmlns:a="http://schemas.openxmlformats.org/drawingml/2006/main">
            <a:off x="3543300" y="3857625"/>
            <a:ext cx="209550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8" name="">
            <a:extLst xmlns:a="http://schemas.openxmlformats.org/drawingml/2006/main">
              <a:ext uri="{FF2B5EF4-FFF2-40B4-BE49-F238E27FC236}">
                <a16:creationId xmlns:a16="http://schemas.microsoft.com/office/drawing/2014/main" id="{D80D9333-F6BF-48C3-A308-B87B7350F4EC}"/>
              </a:ext>
            </a:extLst>
          </p:cNvPr>
          <p:cNvSpPr>
            <a:spLocks xmlns:a="http://schemas.openxmlformats.org/drawingml/2006/main" noGrp="1"/>
          </p:cNvSpPr>
          <p:nvPr/>
        </p:nvSpPr>
        <p:spPr>
          <a:xfrm xmlns:a="http://schemas.openxmlformats.org/drawingml/2006/main">
            <a:off x="3657600" y="4000500"/>
            <a:ext cx="18669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68%</a:t>
            </a:r>
          </a:p>
        </p:txBody>
      </p:sp>
      <p:sp>
        <p:nvSpPr>
          <p:cNvPr id="29" name="">
            <a:extLst xmlns:a="http://schemas.openxmlformats.org/drawingml/2006/main">
              <a:ext uri="{FF2B5EF4-FFF2-40B4-BE49-F238E27FC236}">
                <a16:creationId xmlns:a16="http://schemas.microsoft.com/office/drawing/2014/main" id="{3A9C99D0-192E-4E49-955B-E3A5929DF78B}"/>
              </a:ext>
            </a:extLst>
          </p:cNvPr>
          <p:cNvSpPr>
            <a:spLocks xmlns:a="http://schemas.openxmlformats.org/drawingml/2006/main" noGrp="1"/>
          </p:cNvSpPr>
          <p:nvPr/>
        </p:nvSpPr>
        <p:spPr>
          <a:xfrm xmlns:a="http://schemas.openxmlformats.org/drawingml/2006/main">
            <a:off x="3676650" y="4448175"/>
            <a:ext cx="1828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exact safety tier</a:t>
            </a:r>
          </a:p>
        </p:txBody>
      </p:sp>
      <p:sp>
        <p:nvSpPr>
          <p:cNvPr id="30" name="">
            <a:extLst xmlns:a="http://schemas.openxmlformats.org/drawingml/2006/main">
              <a:ext uri="{FF2B5EF4-FFF2-40B4-BE49-F238E27FC236}">
                <a16:creationId xmlns:a16="http://schemas.microsoft.com/office/drawing/2014/main" id="{D3DD223D-426E-485F-90B7-7AA023C55691}"/>
              </a:ext>
            </a:extLst>
          </p:cNvPr>
          <p:cNvSpPr>
            <a:spLocks xmlns:a="http://schemas.openxmlformats.org/drawingml/2006/main" noGrp="1"/>
          </p:cNvSpPr>
          <p:nvPr/>
        </p:nvSpPr>
        <p:spPr>
          <a:xfrm xmlns:a="http://schemas.openxmlformats.org/drawingml/2006/main">
            <a:off x="5924550" y="3857625"/>
            <a:ext cx="209550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31" name="">
            <a:extLst xmlns:a="http://schemas.openxmlformats.org/drawingml/2006/main">
              <a:ext uri="{FF2B5EF4-FFF2-40B4-BE49-F238E27FC236}">
                <a16:creationId xmlns:a16="http://schemas.microsoft.com/office/drawing/2014/main" id="{146D3421-B8B9-4DAF-967D-A7AB62D6994D}"/>
              </a:ext>
            </a:extLst>
          </p:cNvPr>
          <p:cNvSpPr>
            <a:spLocks xmlns:a="http://schemas.openxmlformats.org/drawingml/2006/main" noGrp="1"/>
          </p:cNvSpPr>
          <p:nvPr/>
        </p:nvSpPr>
        <p:spPr>
          <a:xfrm xmlns:a="http://schemas.openxmlformats.org/drawingml/2006/main">
            <a:off x="6038850" y="4000500"/>
            <a:ext cx="18669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98.5%</a:t>
            </a:r>
          </a:p>
        </p:txBody>
      </p:sp>
      <p:sp>
        <p:nvSpPr>
          <p:cNvPr id="32" name="">
            <a:extLst xmlns:a="http://schemas.openxmlformats.org/drawingml/2006/main">
              <a:ext uri="{FF2B5EF4-FFF2-40B4-BE49-F238E27FC236}">
                <a16:creationId xmlns:a16="http://schemas.microsoft.com/office/drawing/2014/main" id="{CAF25A71-FA4B-4110-895D-B17E108C678E}"/>
              </a:ext>
            </a:extLst>
          </p:cNvPr>
          <p:cNvSpPr>
            <a:spLocks xmlns:a="http://schemas.openxmlformats.org/drawingml/2006/main" noGrp="1"/>
          </p:cNvSpPr>
          <p:nvPr/>
        </p:nvSpPr>
        <p:spPr>
          <a:xfrm xmlns:a="http://schemas.openxmlformats.org/drawingml/2006/main">
            <a:off x="6057900" y="4448175"/>
            <a:ext cx="18288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within one tier</a:t>
            </a:r>
          </a:p>
        </p:txBody>
      </p:sp>
      <p:sp>
        <p:nvSpPr>
          <p:cNvPr id="33" name="">
            <a:extLst xmlns:a="http://schemas.openxmlformats.org/drawingml/2006/main">
              <a:ext uri="{FF2B5EF4-FFF2-40B4-BE49-F238E27FC236}">
                <a16:creationId xmlns:a16="http://schemas.microsoft.com/office/drawing/2014/main" id="{FCBBDA29-32BB-49C4-9C10-639F63C14306}"/>
              </a:ext>
            </a:extLst>
          </p:cNvPr>
          <p:cNvSpPr>
            <a:spLocks xmlns:a="http://schemas.openxmlformats.org/drawingml/2006/main" noGrp="1"/>
          </p:cNvSpPr>
          <p:nvPr/>
        </p:nvSpPr>
        <p:spPr>
          <a:xfrm xmlns:a="http://schemas.openxmlformats.org/drawingml/2006/main">
            <a:off x="8334375" y="3762375"/>
            <a:ext cx="2571750" cy="12382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34" name="">
            <a:extLst xmlns:a="http://schemas.openxmlformats.org/drawingml/2006/main">
              <a:ext uri="{FF2B5EF4-FFF2-40B4-BE49-F238E27FC236}">
                <a16:creationId xmlns:a16="http://schemas.microsoft.com/office/drawing/2014/main" id="{838D1097-F851-447E-968A-69695068C1A4}"/>
              </a:ext>
            </a:extLst>
          </p:cNvPr>
          <p:cNvSpPr>
            <a:spLocks xmlns:a="http://schemas.openxmlformats.org/drawingml/2006/main" noGrp="1"/>
          </p:cNvSpPr>
          <p:nvPr/>
        </p:nvSpPr>
        <p:spPr>
          <a:xfrm xmlns:a="http://schemas.openxmlformats.org/drawingml/2006/main">
            <a:off x="8334375" y="3762375"/>
            <a:ext cx="47625" cy="123825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35" name="">
            <a:extLst xmlns:a="http://schemas.openxmlformats.org/drawingml/2006/main">
              <a:ext uri="{FF2B5EF4-FFF2-40B4-BE49-F238E27FC236}">
                <a16:creationId xmlns:a16="http://schemas.microsoft.com/office/drawing/2014/main" id="{42C661AE-B433-4C76-B815-A0A494DE67A3}"/>
              </a:ext>
            </a:extLst>
          </p:cNvPr>
          <p:cNvSpPr>
            <a:spLocks xmlns:a="http://schemas.openxmlformats.org/drawingml/2006/main" noGrp="1"/>
          </p:cNvSpPr>
          <p:nvPr/>
        </p:nvSpPr>
        <p:spPr>
          <a:xfrm xmlns:a="http://schemas.openxmlformats.org/drawingml/2006/main">
            <a:off x="8543925" y="3895725"/>
            <a:ext cx="21526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Core finding</a:t>
            </a:r>
          </a:p>
        </p:txBody>
      </p:sp>
      <p:sp>
        <p:nvSpPr>
          <p:cNvPr id="36" name="">
            <a:extLst xmlns:a="http://schemas.openxmlformats.org/drawingml/2006/main">
              <a:ext uri="{FF2B5EF4-FFF2-40B4-BE49-F238E27FC236}">
                <a16:creationId xmlns:a16="http://schemas.microsoft.com/office/drawing/2014/main" id="{11144963-235F-46BF-B3E2-434236071B29}"/>
              </a:ext>
            </a:extLst>
          </p:cNvPr>
          <p:cNvSpPr>
            <a:spLocks xmlns:a="http://schemas.openxmlformats.org/drawingml/2006/main" noGrp="1"/>
          </p:cNvSpPr>
          <p:nvPr/>
        </p:nvSpPr>
        <p:spPr>
          <a:xfrm xmlns:a="http://schemas.openxmlformats.org/drawingml/2006/main">
            <a:off x="8543925" y="4219575"/>
            <a:ext cx="21526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96920"/>
          </a:bodyPr>
          <a:lstStyle xmlns:a="http://schemas.openxmlformats.org/drawingml/2006/main"/>
          <a:p xmlns:a="http://schemas.openxmlformats.org/drawingml/2006/main">
            <a:pPr algn="l">
              <a:defRPr sz="1200" b="0">
                <a:solidFill>
                  <a:srgbClr val="9FB3BE"/>
                </a:solidFill>
              </a:defRPr>
            </a:pPr>
            <a:r>
              <a:rPr sz="1200" b="0">
                <a:solidFill>
                  <a:srgbClr val="9FB3BE"/>
                </a:solidFill>
              </a:rPr>
              <a:t>Feature engineering and site categorization mattered more than simply switching algorithms.</a:t>
            </a:r>
          </a:p>
        </p:txBody>
      </p:sp>
      <p:sp>
        <p:nvSpPr>
          <p:cNvPr id="37" name="">
            <a:extLst xmlns:a="http://schemas.openxmlformats.org/drawingml/2006/main">
              <a:ext uri="{FF2B5EF4-FFF2-40B4-BE49-F238E27FC236}">
                <a16:creationId xmlns:a16="http://schemas.microsoft.com/office/drawing/2014/main" id="{47B48005-ABA4-4AFB-8052-8A320C672F8A}"/>
              </a:ext>
            </a:extLst>
          </p:cNvPr>
          <p:cNvSpPr>
            <a:spLocks xmlns:a="http://schemas.openxmlformats.org/drawingml/2006/main" noGrp="1"/>
          </p:cNvSpPr>
          <p:nvPr/>
        </p:nvSpPr>
        <p:spPr>
          <a:xfrm xmlns:a="http://schemas.openxmlformats.org/drawingml/2006/main">
            <a:off x="1200150" y="5476875"/>
            <a:ext cx="8953500" cy="5143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38" name="">
            <a:extLst xmlns:a="http://schemas.openxmlformats.org/drawingml/2006/main">
              <a:ext uri="{FF2B5EF4-FFF2-40B4-BE49-F238E27FC236}">
                <a16:creationId xmlns:a16="http://schemas.microsoft.com/office/drawing/2014/main" id="{53592060-16B1-4902-8AD5-D9834E115C7C}"/>
              </a:ext>
            </a:extLst>
          </p:cNvPr>
          <p:cNvSpPr>
            <a:spLocks xmlns:a="http://schemas.openxmlformats.org/drawingml/2006/main" noGrp="1"/>
          </p:cNvSpPr>
          <p:nvPr/>
        </p:nvSpPr>
        <p:spPr>
          <a:xfrm xmlns:a="http://schemas.openxmlformats.org/drawingml/2006/main">
            <a:off x="1200150" y="5476875"/>
            <a:ext cx="47625" cy="51435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39" name="">
            <a:extLst xmlns:a="http://schemas.openxmlformats.org/drawingml/2006/main">
              <a:ext uri="{FF2B5EF4-FFF2-40B4-BE49-F238E27FC236}">
                <a16:creationId xmlns:a16="http://schemas.microsoft.com/office/drawing/2014/main" id="{F4092C37-DD9B-44F5-B10A-5EF2EAB6EC2F}"/>
              </a:ext>
            </a:extLst>
          </p:cNvPr>
          <p:cNvSpPr>
            <a:spLocks xmlns:a="http://schemas.openxmlformats.org/drawingml/2006/main" noGrp="1"/>
          </p:cNvSpPr>
          <p:nvPr/>
        </p:nvSpPr>
        <p:spPr>
          <a:xfrm xmlns:a="http://schemas.openxmlformats.org/drawingml/2006/main">
            <a:off x="1409700" y="5610225"/>
            <a:ext cx="8534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Conclusion</a:t>
            </a:r>
          </a:p>
        </p:txBody>
      </p:sp>
      <p:sp>
        <p:nvSpPr>
          <p:cNvPr id="40" name="">
            <a:extLst xmlns:a="http://schemas.openxmlformats.org/drawingml/2006/main">
              <a:ext uri="{FF2B5EF4-FFF2-40B4-BE49-F238E27FC236}">
                <a16:creationId xmlns:a16="http://schemas.microsoft.com/office/drawing/2014/main" id="{A6F7EE5D-E09B-4D3F-9D50-CD35E29BB645}"/>
              </a:ext>
            </a:extLst>
          </p:cNvPr>
          <p:cNvSpPr>
            <a:spLocks xmlns:a="http://schemas.openxmlformats.org/drawingml/2006/main" noGrp="1"/>
          </p:cNvSpPr>
          <p:nvPr/>
        </p:nvSpPr>
        <p:spPr>
          <a:xfrm xmlns:a="http://schemas.openxmlformats.org/drawingml/2006/main">
            <a:off x="1409700" y="5934075"/>
            <a:ext cx="8534400" cy="-19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
          </a:bodyPr>
          <a:lstStyle xmlns:a="http://schemas.openxmlformats.org/drawingml/2006/main"/>
          <a:p xmlns:a="http://schemas.openxmlformats.org/drawingml/2006/main">
            <a:pPr algn="l">
              <a:defRPr sz="1200" b="0">
                <a:solidFill>
                  <a:srgbClr val="9FB3BE"/>
                </a:solidFill>
              </a:defRPr>
            </a:pPr>
            <a:r>
              <a:rPr sz="1200" b="0">
                <a:solidFill>
                  <a:srgbClr val="9FB3BE"/>
                </a:solidFill>
              </a:rPr>
              <a:t>NOW prediction estimates pollution at unsensed locations; k=4 categorization remains accepted because it balances performance, robustness, and deployability.</a:t>
            </a:r>
          </a:p>
        </p:txBody>
      </p:sp>
    </p:spTree>
    <p:extLst>
      <p:ext uri="{BB962C8B-B14F-4D97-AF65-F5344CB8AC3E}">
        <p14:creationId xmlns:p14="http://schemas.microsoft.com/office/powerpoint/2010/main" val="559436633"/>
      </p:ext>
    </p:extLst>
  </p:cSld>
</p:sld>
</file>

<file path=ppt/slides/slide12.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B9B82057-66CF-45F6-8552-649082CAE71F}"/>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9C80F05A-857B-47DD-9435-F950E4B217B5}"/>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F0568EFC-7266-4D86-AC51-B0D68BCFCD2E}"/>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CC1CDFA9-0739-4060-969F-0E66056EF55D}"/>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4 · FUTURE</a:t>
            </a:r>
          </a:p>
        </p:txBody>
      </p:sp>
      <p:sp>
        <p:nvSpPr>
          <p:cNvPr id="6" name="">
            <a:extLst xmlns:a="http://schemas.openxmlformats.org/drawingml/2006/main">
              <a:ext uri="{FF2B5EF4-FFF2-40B4-BE49-F238E27FC236}">
                <a16:creationId xmlns:a16="http://schemas.microsoft.com/office/drawing/2014/main" id="{C87A297B-EC2F-4DD0-9CA0-B67F13E6D9FD}"/>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FUTURE: Forecast Several Days Ahead</a:t>
            </a:r>
          </a:p>
        </p:txBody>
      </p:sp>
      <p:sp>
        <p:nvSpPr>
          <p:cNvPr id="7" name="">
            <a:extLst xmlns:a="http://schemas.openxmlformats.org/drawingml/2006/main">
              <a:ext uri="{FF2B5EF4-FFF2-40B4-BE49-F238E27FC236}">
                <a16:creationId xmlns:a16="http://schemas.microsoft.com/office/drawing/2014/main" id="{8C836AB7-88CD-4B4A-9626-DB25237A9884}"/>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This task is known-site forecasting, not zero-deploy new-site prediction.</a:t>
            </a:r>
          </a:p>
        </p:txBody>
      </p:sp>
      <p:sp>
        <p:nvSpPr>
          <p:cNvPr id="8" name="">
            <a:extLst xmlns:a="http://schemas.openxmlformats.org/drawingml/2006/main">
              <a:ext uri="{FF2B5EF4-FFF2-40B4-BE49-F238E27FC236}">
                <a16:creationId xmlns:a16="http://schemas.microsoft.com/office/drawing/2014/main" id="{9B817F0E-9CB6-4177-AB85-2732ABD07269}"/>
              </a:ext>
            </a:extLst>
          </p:cNvPr>
          <p:cNvSpPr>
            <a:spLocks xmlns:a="http://schemas.openxmlformats.org/drawingml/2006/main" noGrp="1"/>
          </p:cNvSpPr>
          <p:nvPr/>
        </p:nvSpPr>
        <p:spPr>
          <a:xfrm xmlns:a="http://schemas.openxmlformats.org/drawingml/2006/main">
            <a:off x="809625" y="2000250"/>
            <a:ext cx="2476500"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4AAFD431-9801-497B-AEC5-514B4D6AD3E6}"/>
              </a:ext>
            </a:extLst>
          </p:cNvPr>
          <p:cNvSpPr>
            <a:spLocks xmlns:a="http://schemas.openxmlformats.org/drawingml/2006/main" noGrp="1"/>
          </p:cNvSpPr>
          <p:nvPr/>
        </p:nvSpPr>
        <p:spPr>
          <a:xfrm xmlns:a="http://schemas.openxmlformats.org/drawingml/2006/main">
            <a:off x="809625" y="2000250"/>
            <a:ext cx="47625" cy="1381125"/>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0" name="">
            <a:extLst xmlns:a="http://schemas.openxmlformats.org/drawingml/2006/main">
              <a:ext uri="{FF2B5EF4-FFF2-40B4-BE49-F238E27FC236}">
                <a16:creationId xmlns:a16="http://schemas.microsoft.com/office/drawing/2014/main" id="{77DE9882-85DF-4F2F-840B-F426BCB62D51}"/>
              </a:ext>
            </a:extLst>
          </p:cNvPr>
          <p:cNvSpPr>
            <a:spLocks xmlns:a="http://schemas.openxmlformats.org/drawingml/2006/main" noGrp="1"/>
          </p:cNvSpPr>
          <p:nvPr/>
        </p:nvSpPr>
        <p:spPr>
          <a:xfrm xmlns:a="http://schemas.openxmlformats.org/drawingml/2006/main">
            <a:off x="1019175" y="2133600"/>
            <a:ext cx="2057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+1, +3, +5, +7 days</a:t>
            </a:r>
          </a:p>
        </p:txBody>
      </p:sp>
      <p:sp>
        <p:nvSpPr>
          <p:cNvPr id="11" name="">
            <a:extLst xmlns:a="http://schemas.openxmlformats.org/drawingml/2006/main">
              <a:ext uri="{FF2B5EF4-FFF2-40B4-BE49-F238E27FC236}">
                <a16:creationId xmlns:a16="http://schemas.microsoft.com/office/drawing/2014/main" id="{BF87F22E-BFFF-4CC9-AB49-B9E726BB0507}"/>
              </a:ext>
            </a:extLst>
          </p:cNvPr>
          <p:cNvSpPr>
            <a:spLocks xmlns:a="http://schemas.openxmlformats.org/drawingml/2006/main" noGrp="1"/>
          </p:cNvSpPr>
          <p:nvPr/>
        </p:nvSpPr>
        <p:spPr>
          <a:xfrm xmlns:a="http://schemas.openxmlformats.org/drawingml/2006/main">
            <a:off x="1019175" y="2457450"/>
            <a:ext cx="2057400"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Forecast horizons are evaluated separately because difficulty changes with time.</a:t>
            </a:r>
          </a:p>
        </p:txBody>
      </p:sp>
      <p:sp>
        <p:nvSpPr>
          <p:cNvPr id="12" name="">
            <a:extLst xmlns:a="http://schemas.openxmlformats.org/drawingml/2006/main">
              <a:ext uri="{FF2B5EF4-FFF2-40B4-BE49-F238E27FC236}">
                <a16:creationId xmlns:a16="http://schemas.microsoft.com/office/drawing/2014/main" id="{B44D389D-5316-47ED-A3F9-60956ADE17A0}"/>
              </a:ext>
            </a:extLst>
          </p:cNvPr>
          <p:cNvSpPr>
            <a:spLocks xmlns:a="http://schemas.openxmlformats.org/drawingml/2006/main" noGrp="1"/>
          </p:cNvSpPr>
          <p:nvPr/>
        </p:nvSpPr>
        <p:spPr>
          <a:xfrm xmlns:a="http://schemas.openxmlformats.org/drawingml/2006/main">
            <a:off x="3667125" y="2000250"/>
            <a:ext cx="2476500"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3" name="">
            <a:extLst xmlns:a="http://schemas.openxmlformats.org/drawingml/2006/main">
              <a:ext uri="{FF2B5EF4-FFF2-40B4-BE49-F238E27FC236}">
                <a16:creationId xmlns:a16="http://schemas.microsoft.com/office/drawing/2014/main" id="{1BB7C89C-89F4-4968-8BC5-0A787809301E}"/>
              </a:ext>
            </a:extLst>
          </p:cNvPr>
          <p:cNvSpPr>
            <a:spLocks xmlns:a="http://schemas.openxmlformats.org/drawingml/2006/main" noGrp="1"/>
          </p:cNvSpPr>
          <p:nvPr/>
        </p:nvSpPr>
        <p:spPr>
          <a:xfrm xmlns:a="http://schemas.openxmlformats.org/drawingml/2006/main">
            <a:off x="3667125" y="2000250"/>
            <a:ext cx="47625" cy="1381125"/>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4" name="">
            <a:extLst xmlns:a="http://schemas.openxmlformats.org/drawingml/2006/main">
              <a:ext uri="{FF2B5EF4-FFF2-40B4-BE49-F238E27FC236}">
                <a16:creationId xmlns:a16="http://schemas.microsoft.com/office/drawing/2014/main" id="{2647DBAF-7069-4327-8635-92255D30D83F}"/>
              </a:ext>
            </a:extLst>
          </p:cNvPr>
          <p:cNvSpPr>
            <a:spLocks xmlns:a="http://schemas.openxmlformats.org/drawingml/2006/main" noGrp="1"/>
          </p:cNvSpPr>
          <p:nvPr/>
        </p:nvSpPr>
        <p:spPr>
          <a:xfrm xmlns:a="http://schemas.openxmlformats.org/drawingml/2006/main">
            <a:off x="3876675" y="2133600"/>
            <a:ext cx="2057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Lag features</a:t>
            </a:r>
          </a:p>
        </p:txBody>
      </p:sp>
      <p:sp>
        <p:nvSpPr>
          <p:cNvPr id="15" name="">
            <a:extLst xmlns:a="http://schemas.openxmlformats.org/drawingml/2006/main">
              <a:ext uri="{FF2B5EF4-FFF2-40B4-BE49-F238E27FC236}">
                <a16:creationId xmlns:a16="http://schemas.microsoft.com/office/drawing/2014/main" id="{C6F64B4F-81E1-4788-BADE-176A9CC4C8DB}"/>
              </a:ext>
            </a:extLst>
          </p:cNvPr>
          <p:cNvSpPr>
            <a:spLocks xmlns:a="http://schemas.openxmlformats.org/drawingml/2006/main" noGrp="1"/>
          </p:cNvSpPr>
          <p:nvPr/>
        </p:nvSpPr>
        <p:spPr>
          <a:xfrm xmlns:a="http://schemas.openxmlformats.org/drawingml/2006/main">
            <a:off x="3876675" y="2457450"/>
            <a:ext cx="2057400"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PM2.5 lag 1/2/3/7 and rolling means carry recent pollution memory.</a:t>
            </a:r>
          </a:p>
        </p:txBody>
      </p:sp>
      <p:sp>
        <p:nvSpPr>
          <p:cNvPr id="16" name="">
            <a:extLst xmlns:a="http://schemas.openxmlformats.org/drawingml/2006/main">
              <a:ext uri="{FF2B5EF4-FFF2-40B4-BE49-F238E27FC236}">
                <a16:creationId xmlns:a16="http://schemas.microsoft.com/office/drawing/2014/main" id="{5C9E93E5-8556-4335-AFF4-4F4F0CA5FF0A}"/>
              </a:ext>
            </a:extLst>
          </p:cNvPr>
          <p:cNvSpPr>
            <a:spLocks xmlns:a="http://schemas.openxmlformats.org/drawingml/2006/main" noGrp="1"/>
          </p:cNvSpPr>
          <p:nvPr/>
        </p:nvSpPr>
        <p:spPr>
          <a:xfrm xmlns:a="http://schemas.openxmlformats.org/drawingml/2006/main">
            <a:off x="6524625" y="2000250"/>
            <a:ext cx="2476500"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7" name="">
            <a:extLst xmlns:a="http://schemas.openxmlformats.org/drawingml/2006/main">
              <a:ext uri="{FF2B5EF4-FFF2-40B4-BE49-F238E27FC236}">
                <a16:creationId xmlns:a16="http://schemas.microsoft.com/office/drawing/2014/main" id="{F20D130D-7156-4878-A916-237F1B9C5007}"/>
              </a:ext>
            </a:extLst>
          </p:cNvPr>
          <p:cNvSpPr>
            <a:spLocks xmlns:a="http://schemas.openxmlformats.org/drawingml/2006/main" noGrp="1"/>
          </p:cNvSpPr>
          <p:nvPr/>
        </p:nvSpPr>
        <p:spPr>
          <a:xfrm xmlns:a="http://schemas.openxmlformats.org/drawingml/2006/main">
            <a:off x="6524625" y="2000250"/>
            <a:ext cx="47625" cy="1381125"/>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18" name="">
            <a:extLst xmlns:a="http://schemas.openxmlformats.org/drawingml/2006/main">
              <a:ext uri="{FF2B5EF4-FFF2-40B4-BE49-F238E27FC236}">
                <a16:creationId xmlns:a16="http://schemas.microsoft.com/office/drawing/2014/main" id="{8EEE93E0-4545-42EF-ACEA-489051A4719D}"/>
              </a:ext>
            </a:extLst>
          </p:cNvPr>
          <p:cNvSpPr>
            <a:spLocks xmlns:a="http://schemas.openxmlformats.org/drawingml/2006/main" noGrp="1"/>
          </p:cNvSpPr>
          <p:nvPr/>
        </p:nvSpPr>
        <p:spPr>
          <a:xfrm xmlns:a="http://schemas.openxmlformats.org/drawingml/2006/main">
            <a:off x="6734175" y="2133600"/>
            <a:ext cx="20574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Persistence baseline</a:t>
            </a:r>
          </a:p>
        </p:txBody>
      </p:sp>
      <p:sp>
        <p:nvSpPr>
          <p:cNvPr id="19" name="">
            <a:extLst xmlns:a="http://schemas.openxmlformats.org/drawingml/2006/main">
              <a:ext uri="{FF2B5EF4-FFF2-40B4-BE49-F238E27FC236}">
                <a16:creationId xmlns:a16="http://schemas.microsoft.com/office/drawing/2014/main" id="{DFE3C3E3-4ED4-4274-B3C7-B43826471C4E}"/>
              </a:ext>
            </a:extLst>
          </p:cNvPr>
          <p:cNvSpPr>
            <a:spLocks xmlns:a="http://schemas.openxmlformats.org/drawingml/2006/main" noGrp="1"/>
          </p:cNvSpPr>
          <p:nvPr/>
        </p:nvSpPr>
        <p:spPr>
          <a:xfrm xmlns:a="http://schemas.openxmlformats.org/drawingml/2006/main">
            <a:off x="6734175" y="2457450"/>
            <a:ext cx="2057400"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The model must beat “same as yesterday” and rolling-window baselines.</a:t>
            </a:r>
          </a:p>
        </p:txBody>
      </p:sp>
      <p:sp>
        <p:nvSpPr>
          <p:cNvPr id="20" name="">
            <a:extLst xmlns:a="http://schemas.openxmlformats.org/drawingml/2006/main">
              <a:ext uri="{FF2B5EF4-FFF2-40B4-BE49-F238E27FC236}">
                <a16:creationId xmlns:a16="http://schemas.microsoft.com/office/drawing/2014/main" id="{198670D8-C9DF-4F79-882A-CB943C00C8C1}"/>
              </a:ext>
            </a:extLst>
          </p:cNvPr>
          <p:cNvSpPr>
            <a:spLocks xmlns:a="http://schemas.openxmlformats.org/drawingml/2006/main" noGrp="1"/>
          </p:cNvSpPr>
          <p:nvPr/>
        </p:nvSpPr>
        <p:spPr>
          <a:xfrm xmlns:a="http://schemas.openxmlformats.org/drawingml/2006/main">
            <a:off x="9382125" y="2000250"/>
            <a:ext cx="2000250" cy="1381125"/>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1" name="">
            <a:extLst xmlns:a="http://schemas.openxmlformats.org/drawingml/2006/main">
              <a:ext uri="{FF2B5EF4-FFF2-40B4-BE49-F238E27FC236}">
                <a16:creationId xmlns:a16="http://schemas.microsoft.com/office/drawing/2014/main" id="{9FF44308-21CF-4E48-9137-133CFA820D3D}"/>
              </a:ext>
            </a:extLst>
          </p:cNvPr>
          <p:cNvSpPr>
            <a:spLocks xmlns:a="http://schemas.openxmlformats.org/drawingml/2006/main" noGrp="1"/>
          </p:cNvSpPr>
          <p:nvPr/>
        </p:nvSpPr>
        <p:spPr>
          <a:xfrm xmlns:a="http://schemas.openxmlformats.org/drawingml/2006/main">
            <a:off x="9382125" y="2000250"/>
            <a:ext cx="47625" cy="1381125"/>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22" name="">
            <a:extLst xmlns:a="http://schemas.openxmlformats.org/drawingml/2006/main">
              <a:ext uri="{FF2B5EF4-FFF2-40B4-BE49-F238E27FC236}">
                <a16:creationId xmlns:a16="http://schemas.microsoft.com/office/drawing/2014/main" id="{6C0B54C3-5B81-4707-ADDC-CDA439574490}"/>
              </a:ext>
            </a:extLst>
          </p:cNvPr>
          <p:cNvSpPr>
            <a:spLocks xmlns:a="http://schemas.openxmlformats.org/drawingml/2006/main" noGrp="1"/>
          </p:cNvSpPr>
          <p:nvPr/>
        </p:nvSpPr>
        <p:spPr>
          <a:xfrm xmlns:a="http://schemas.openxmlformats.org/drawingml/2006/main">
            <a:off x="9591675" y="2133600"/>
            <a:ext cx="1581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Learners</a:t>
            </a:r>
          </a:p>
        </p:txBody>
      </p:sp>
      <p:sp>
        <p:nvSpPr>
          <p:cNvPr id="23" name="">
            <a:extLst xmlns:a="http://schemas.openxmlformats.org/drawingml/2006/main">
              <a:ext uri="{FF2B5EF4-FFF2-40B4-BE49-F238E27FC236}">
                <a16:creationId xmlns:a16="http://schemas.microsoft.com/office/drawing/2014/main" id="{9381E2ED-D2AC-412A-B102-4E5668BA7265}"/>
              </a:ext>
            </a:extLst>
          </p:cNvPr>
          <p:cNvSpPr>
            <a:spLocks xmlns:a="http://schemas.openxmlformats.org/drawingml/2006/main" noGrp="1"/>
          </p:cNvSpPr>
          <p:nvPr/>
        </p:nvSpPr>
        <p:spPr>
          <a:xfrm xmlns:a="http://schemas.openxmlformats.org/drawingml/2006/main">
            <a:off x="9591675" y="2457450"/>
            <a:ext cx="1581150" cy="8477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XGBoost, LightGBM, LSTM, RF challenger.</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38460df61244fc7"/>
          <a:stretch xmlns:a="http://schemas.openxmlformats.org/drawingml/2006/main"/>
        </p:blipFill>
        <p:spPr>
          <a:xfrm xmlns:a="http://schemas.openxmlformats.org/drawingml/2006/main">
            <a:off x="4166152" y="3857625"/>
            <a:ext cx="3478696" cy="2000250"/>
          </a:xfrm>
          <a:prstGeom xmlns:a="http://schemas.openxmlformats.org/drawingml/2006/main" prst="rect">
            <a:avLst/>
          </a:prstGeom>
        </p:spPr>
      </p:pic>
    </p:spTree>
    <p:extLst>
      <p:ext uri="{BB962C8B-B14F-4D97-AF65-F5344CB8AC3E}">
        <p14:creationId xmlns:p14="http://schemas.microsoft.com/office/powerpoint/2010/main" val="2004815056"/>
      </p:ext>
    </p:extLst>
  </p:cSld>
</p:sld>
</file>

<file path=ppt/slides/slide13.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A65D9590-916E-4D98-878C-7989A68BA3E6}"/>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0E550A76-E641-43F1-9EC1-6DA9F9B003B2}"/>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D4E11C48-5A7B-488C-9AC9-0AB99A6E8108}"/>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842A7E90-396D-42F6-B085-06AF38BE1647}"/>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4 · challengers</a:t>
            </a:r>
          </a:p>
        </p:txBody>
      </p:sp>
      <p:sp>
        <p:nvSpPr>
          <p:cNvPr id="6" name="">
            <a:extLst xmlns:a="http://schemas.openxmlformats.org/drawingml/2006/main">
              <a:ext uri="{FF2B5EF4-FFF2-40B4-BE49-F238E27FC236}">
                <a16:creationId xmlns:a16="http://schemas.microsoft.com/office/drawing/2014/main" id="{0D88A3FE-B23C-48BE-9BD5-FE35DC463594}"/>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LSTM Remains Headline, Challengers Matter</a:t>
            </a:r>
          </a:p>
        </p:txBody>
      </p:sp>
      <p:sp>
        <p:nvSpPr>
          <p:cNvPr id="7" name="">
            <a:extLst xmlns:a="http://schemas.openxmlformats.org/drawingml/2006/main">
              <a:ext uri="{FF2B5EF4-FFF2-40B4-BE49-F238E27FC236}">
                <a16:creationId xmlns:a16="http://schemas.microsoft.com/office/drawing/2014/main" id="{AD0A35A9-A223-4797-8361-0904A03ACEF5}"/>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The latest fair benchmark keeps the claim honest.</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b104426905b4886"/>
          <a:stretch xmlns:a="http://schemas.openxmlformats.org/drawingml/2006/main"/>
        </p:blipFill>
        <p:spPr>
          <a:xfrm xmlns:a="http://schemas.openxmlformats.org/drawingml/2006/main">
            <a:off x="666750" y="1993106"/>
            <a:ext cx="5905500" cy="339566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4CF52BE-26ED-4A0E-ADBA-BF8FD692BC51}"/>
              </a:ext>
            </a:extLst>
          </p:cNvPr>
          <p:cNvSpPr>
            <a:spLocks xmlns:a="http://schemas.openxmlformats.org/drawingml/2006/main" noGrp="1"/>
          </p:cNvSpPr>
          <p:nvPr/>
        </p:nvSpPr>
        <p:spPr>
          <a:xfrm xmlns:a="http://schemas.openxmlformats.org/drawingml/2006/main">
            <a:off x="7000875" y="1952625"/>
            <a:ext cx="3810000" cy="1143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0" name="">
            <a:extLst xmlns:a="http://schemas.openxmlformats.org/drawingml/2006/main">
              <a:ext uri="{FF2B5EF4-FFF2-40B4-BE49-F238E27FC236}">
                <a16:creationId xmlns:a16="http://schemas.microsoft.com/office/drawing/2014/main" id="{16C551EA-FED9-4CDA-B9C3-E3755FEC2626}"/>
              </a:ext>
            </a:extLst>
          </p:cNvPr>
          <p:cNvSpPr>
            <a:spLocks xmlns:a="http://schemas.openxmlformats.org/drawingml/2006/main" noGrp="1"/>
          </p:cNvSpPr>
          <p:nvPr/>
        </p:nvSpPr>
        <p:spPr>
          <a:xfrm xmlns:a="http://schemas.openxmlformats.org/drawingml/2006/main">
            <a:off x="7000875" y="1952625"/>
            <a:ext cx="47625" cy="1143000"/>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1" name="">
            <a:extLst xmlns:a="http://schemas.openxmlformats.org/drawingml/2006/main">
              <a:ext uri="{FF2B5EF4-FFF2-40B4-BE49-F238E27FC236}">
                <a16:creationId xmlns:a16="http://schemas.microsoft.com/office/drawing/2014/main" id="{3FE7C9A7-8725-4303-9C0C-0179FB62F304}"/>
              </a:ext>
            </a:extLst>
          </p:cNvPr>
          <p:cNvSpPr>
            <a:spLocks xmlns:a="http://schemas.openxmlformats.org/drawingml/2006/main" noGrp="1"/>
          </p:cNvSpPr>
          <p:nvPr/>
        </p:nvSpPr>
        <p:spPr>
          <a:xfrm xmlns:a="http://schemas.openxmlformats.org/drawingml/2006/main">
            <a:off x="7210425" y="2085975"/>
            <a:ext cx="3390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Accepted headline</a:t>
            </a:r>
          </a:p>
        </p:txBody>
      </p:sp>
      <p:sp>
        <p:nvSpPr>
          <p:cNvPr id="12" name="">
            <a:extLst xmlns:a="http://schemas.openxmlformats.org/drawingml/2006/main">
              <a:ext uri="{FF2B5EF4-FFF2-40B4-BE49-F238E27FC236}">
                <a16:creationId xmlns:a16="http://schemas.microsoft.com/office/drawing/2014/main" id="{02A5ECB2-E583-4AB7-ABDB-A7BD815EFD4A}"/>
              </a:ext>
            </a:extLst>
          </p:cNvPr>
          <p:cNvSpPr>
            <a:spLocks xmlns:a="http://schemas.openxmlformats.org/drawingml/2006/main" noGrp="1"/>
          </p:cNvSpPr>
          <p:nvPr/>
        </p:nvSpPr>
        <p:spPr>
          <a:xfrm xmlns:a="http://schemas.openxmlformats.org/drawingml/2006/main">
            <a:off x="7210425" y="2409825"/>
            <a:ext cx="33909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LSTM remains strongest overall and is the accepted FUTURE model for the capstone.</a:t>
            </a:r>
          </a:p>
        </p:txBody>
      </p:sp>
      <p:sp>
        <p:nvSpPr>
          <p:cNvPr id="13" name="">
            <a:extLst xmlns:a="http://schemas.openxmlformats.org/drawingml/2006/main">
              <a:ext uri="{FF2B5EF4-FFF2-40B4-BE49-F238E27FC236}">
                <a16:creationId xmlns:a16="http://schemas.microsoft.com/office/drawing/2014/main" id="{19D47DF3-F33A-4E96-B329-35DE019396C9}"/>
              </a:ext>
            </a:extLst>
          </p:cNvPr>
          <p:cNvSpPr>
            <a:spLocks xmlns:a="http://schemas.openxmlformats.org/drawingml/2006/main" noGrp="1"/>
          </p:cNvSpPr>
          <p:nvPr/>
        </p:nvSpPr>
        <p:spPr>
          <a:xfrm xmlns:a="http://schemas.openxmlformats.org/drawingml/2006/main">
            <a:off x="7000875" y="3381375"/>
            <a:ext cx="3810000" cy="11430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4" name="">
            <a:extLst xmlns:a="http://schemas.openxmlformats.org/drawingml/2006/main">
              <a:ext uri="{FF2B5EF4-FFF2-40B4-BE49-F238E27FC236}">
                <a16:creationId xmlns:a16="http://schemas.microsoft.com/office/drawing/2014/main" id="{407005E4-B3FE-4BBE-B831-172D5F8F8182}"/>
              </a:ext>
            </a:extLst>
          </p:cNvPr>
          <p:cNvSpPr>
            <a:spLocks xmlns:a="http://schemas.openxmlformats.org/drawingml/2006/main" noGrp="1"/>
          </p:cNvSpPr>
          <p:nvPr/>
        </p:nvSpPr>
        <p:spPr>
          <a:xfrm xmlns:a="http://schemas.openxmlformats.org/drawingml/2006/main">
            <a:off x="7000875" y="3381375"/>
            <a:ext cx="47625" cy="114300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5" name="">
            <a:extLst xmlns:a="http://schemas.openxmlformats.org/drawingml/2006/main">
              <a:ext uri="{FF2B5EF4-FFF2-40B4-BE49-F238E27FC236}">
                <a16:creationId xmlns:a16="http://schemas.microsoft.com/office/drawing/2014/main" id="{B645C9D8-F40A-4585-B6E7-D8487613EDA7}"/>
              </a:ext>
            </a:extLst>
          </p:cNvPr>
          <p:cNvSpPr>
            <a:spLocks xmlns:a="http://schemas.openxmlformats.org/drawingml/2006/main" noGrp="1"/>
          </p:cNvSpPr>
          <p:nvPr/>
        </p:nvSpPr>
        <p:spPr>
          <a:xfrm xmlns:a="http://schemas.openxmlformats.org/drawingml/2006/main">
            <a:off x="7210425" y="3514725"/>
            <a:ext cx="3390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Latest audit</a:t>
            </a:r>
          </a:p>
        </p:txBody>
      </p:sp>
      <p:sp>
        <p:nvSpPr>
          <p:cNvPr id="16" name="">
            <a:extLst xmlns:a="http://schemas.openxmlformats.org/drawingml/2006/main">
              <a:ext uri="{FF2B5EF4-FFF2-40B4-BE49-F238E27FC236}">
                <a16:creationId xmlns:a16="http://schemas.microsoft.com/office/drawing/2014/main" id="{53DB1EED-1E68-4803-906E-C7CCD971B4F2}"/>
              </a:ext>
            </a:extLst>
          </p:cNvPr>
          <p:cNvSpPr>
            <a:spLocks xmlns:a="http://schemas.openxmlformats.org/drawingml/2006/main" noGrp="1"/>
          </p:cNvSpPr>
          <p:nvPr/>
        </p:nvSpPr>
        <p:spPr>
          <a:xfrm xmlns:a="http://schemas.openxmlformats.org/drawingml/2006/main">
            <a:off x="7210425" y="3838575"/>
            <a:ext cx="33909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Random Forest and rolling-7 are competitive at some horizons, especially longer ones.</a:t>
            </a:r>
          </a:p>
        </p:txBody>
      </p:sp>
      <p:sp>
        <p:nvSpPr>
          <p:cNvPr id="17" name="">
            <a:extLst xmlns:a="http://schemas.openxmlformats.org/drawingml/2006/main">
              <a:ext uri="{FF2B5EF4-FFF2-40B4-BE49-F238E27FC236}">
                <a16:creationId xmlns:a16="http://schemas.microsoft.com/office/drawing/2014/main" id="{96920C88-5F71-4DFD-AE9D-B6419DFBC131}"/>
              </a:ext>
            </a:extLst>
          </p:cNvPr>
          <p:cNvSpPr>
            <a:spLocks xmlns:a="http://schemas.openxmlformats.org/drawingml/2006/main" noGrp="1"/>
          </p:cNvSpPr>
          <p:nvPr/>
        </p:nvSpPr>
        <p:spPr>
          <a:xfrm xmlns:a="http://schemas.openxmlformats.org/drawingml/2006/main">
            <a:off x="7000875" y="4810125"/>
            <a:ext cx="3810000" cy="8572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8" name="">
            <a:extLst xmlns:a="http://schemas.openxmlformats.org/drawingml/2006/main">
              <a:ext uri="{FF2B5EF4-FFF2-40B4-BE49-F238E27FC236}">
                <a16:creationId xmlns:a16="http://schemas.microsoft.com/office/drawing/2014/main" id="{D0997903-1359-43F5-B6E1-F38934831178}"/>
              </a:ext>
            </a:extLst>
          </p:cNvPr>
          <p:cNvSpPr>
            <a:spLocks xmlns:a="http://schemas.openxmlformats.org/drawingml/2006/main" noGrp="1"/>
          </p:cNvSpPr>
          <p:nvPr/>
        </p:nvSpPr>
        <p:spPr>
          <a:xfrm xmlns:a="http://schemas.openxmlformats.org/drawingml/2006/main">
            <a:off x="7000875" y="4810125"/>
            <a:ext cx="47625" cy="857250"/>
          </a:xfrm>
          <a:prstGeom xmlns:a="http://schemas.openxmlformats.org/drawingml/2006/main" prst="rect">
            <a:avLst/>
          </a:prstGeom>
          <a:solidFill xmlns:a="http://schemas.openxmlformats.org/drawingml/2006/main">
            <a:srgbClr val="EC5A4C"/>
          </a:solidFill>
          <a:ln xmlns:a="http://schemas.openxmlformats.org/drawingml/2006/main" w="0">
            <a:solidFill>
              <a:srgbClr val="EC5A4C"/>
            </a:solidFill>
          </a:ln>
        </p:spPr>
      </p:sp>
      <p:sp>
        <p:nvSpPr>
          <p:cNvPr id="19" name="">
            <a:extLst xmlns:a="http://schemas.openxmlformats.org/drawingml/2006/main">
              <a:ext uri="{FF2B5EF4-FFF2-40B4-BE49-F238E27FC236}">
                <a16:creationId xmlns:a16="http://schemas.microsoft.com/office/drawing/2014/main" id="{77E64552-0F12-4872-A282-66ABFD53B849}"/>
              </a:ext>
            </a:extLst>
          </p:cNvPr>
          <p:cNvSpPr>
            <a:spLocks xmlns:a="http://schemas.openxmlformats.org/drawingml/2006/main" noGrp="1"/>
          </p:cNvSpPr>
          <p:nvPr/>
        </p:nvSpPr>
        <p:spPr>
          <a:xfrm xmlns:a="http://schemas.openxmlformats.org/drawingml/2006/main">
            <a:off x="7210425" y="4943475"/>
            <a:ext cx="3390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What not to say</a:t>
            </a:r>
          </a:p>
        </p:txBody>
      </p:sp>
      <p:sp>
        <p:nvSpPr>
          <p:cNvPr id="20" name="">
            <a:extLst xmlns:a="http://schemas.openxmlformats.org/drawingml/2006/main">
              <a:ext uri="{FF2B5EF4-FFF2-40B4-BE49-F238E27FC236}">
                <a16:creationId xmlns:a16="http://schemas.microsoft.com/office/drawing/2014/main" id="{AA561082-772D-456A-AD5B-C8D40DB50E54}"/>
              </a:ext>
            </a:extLst>
          </p:cNvPr>
          <p:cNvSpPr>
            <a:spLocks xmlns:a="http://schemas.openxmlformats.org/drawingml/2006/main" noGrp="1"/>
          </p:cNvSpPr>
          <p:nvPr/>
        </p:nvSpPr>
        <p:spPr>
          <a:xfrm xmlns:a="http://schemas.openxmlformats.org/drawingml/2006/main">
            <a:off x="7210425" y="5267325"/>
            <a:ext cx="33909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89062"/>
          </a:bodyPr>
          <a:lstStyle xmlns:a="http://schemas.openxmlformats.org/drawingml/2006/main"/>
          <a:p xmlns:a="http://schemas.openxmlformats.org/drawingml/2006/main">
            <a:pPr algn="l">
              <a:defRPr sz="1200" b="0">
                <a:solidFill>
                  <a:srgbClr val="9FB3BE"/>
                </a:solidFill>
              </a:defRPr>
            </a:pPr>
            <a:r>
              <a:rPr sz="1200" b="0">
                <a:solidFill>
                  <a:srgbClr val="9FB3BE"/>
                </a:solidFill>
              </a:rPr>
              <a:t>Do not claim RF beats LSTM overall. It is a challenger baseline.</a:t>
            </a:r>
          </a:p>
        </p:txBody>
      </p:sp>
    </p:spTree>
    <p:extLst>
      <p:ext uri="{BB962C8B-B14F-4D97-AF65-F5344CB8AC3E}">
        <p14:creationId xmlns:p14="http://schemas.microsoft.com/office/powerpoint/2010/main" val="1210588219"/>
      </p:ext>
    </p:extLst>
  </p:cSld>
</p:sld>
</file>

<file path=ppt/slides/slide14.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DD169748-0A27-42F3-BE93-A4E50D5A97E8}"/>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B84ED101-75E8-4C7A-909E-BBF668F7FF80}"/>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5889BC05-7A6B-4DDA-B847-F2A3028EFE17}"/>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4C8A8657-906C-4EBF-9F8A-16A61091D867}"/>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5 · prototype</a:t>
            </a:r>
          </a:p>
        </p:txBody>
      </p:sp>
      <p:sp>
        <p:nvSpPr>
          <p:cNvPr id="6" name="">
            <a:extLst xmlns:a="http://schemas.openxmlformats.org/drawingml/2006/main">
              <a:ext uri="{FF2B5EF4-FFF2-40B4-BE49-F238E27FC236}">
                <a16:creationId xmlns:a16="http://schemas.microsoft.com/office/drawing/2014/main" id="{8C5231B4-69B1-4EDD-A9DA-D554A47BAC24}"/>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Interactive Prototype: The Planner View</a:t>
            </a:r>
          </a:p>
        </p:txBody>
      </p:sp>
      <p:sp>
        <p:nvSpPr>
          <p:cNvPr id="7" name="">
            <a:extLst xmlns:a="http://schemas.openxmlformats.org/drawingml/2006/main">
              <a:ext uri="{FF2B5EF4-FFF2-40B4-BE49-F238E27FC236}">
                <a16:creationId xmlns:a16="http://schemas.microsoft.com/office/drawing/2014/main" id="{FCECEAE6-1A20-4D50-B00D-217161C4E55B}"/>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The project is packaged as browser-facing evidence, not only scripts.</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005938250bc4d39"/>
          <a:stretch xmlns:a="http://schemas.openxmlformats.org/drawingml/2006/main"/>
        </p:blipFill>
        <p:spPr>
          <a:xfrm xmlns:a="http://schemas.openxmlformats.org/drawingml/2006/main">
            <a:off x="619125" y="2844781"/>
            <a:ext cx="5095875" cy="145418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7735863-E661-499E-A607-028BCB080C31}"/>
              </a:ext>
            </a:extLst>
          </p:cNvPr>
          <p:cNvSpPr>
            <a:spLocks xmlns:a="http://schemas.openxmlformats.org/drawingml/2006/main" noGrp="1"/>
          </p:cNvSpPr>
          <p:nvPr/>
        </p:nvSpPr>
        <p:spPr>
          <a:xfrm xmlns:a="http://schemas.openxmlformats.org/drawingml/2006/main">
            <a:off x="6191250" y="1857375"/>
            <a:ext cx="4572000" cy="9525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0" name="">
            <a:extLst xmlns:a="http://schemas.openxmlformats.org/drawingml/2006/main">
              <a:ext uri="{FF2B5EF4-FFF2-40B4-BE49-F238E27FC236}">
                <a16:creationId xmlns:a16="http://schemas.microsoft.com/office/drawing/2014/main" id="{1469DDCF-CB90-4628-B6D1-6F074EBC3D87}"/>
              </a:ext>
            </a:extLst>
          </p:cNvPr>
          <p:cNvSpPr>
            <a:spLocks xmlns:a="http://schemas.openxmlformats.org/drawingml/2006/main" noGrp="1"/>
          </p:cNvSpPr>
          <p:nvPr/>
        </p:nvSpPr>
        <p:spPr>
          <a:xfrm xmlns:a="http://schemas.openxmlformats.org/drawingml/2006/main">
            <a:off x="6191250" y="1857375"/>
            <a:ext cx="47625" cy="95250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11" name="">
            <a:extLst xmlns:a="http://schemas.openxmlformats.org/drawingml/2006/main">
              <a:ext uri="{FF2B5EF4-FFF2-40B4-BE49-F238E27FC236}">
                <a16:creationId xmlns:a16="http://schemas.microsoft.com/office/drawing/2014/main" id="{77155CB5-0934-41C9-9536-81263DAB5AA5}"/>
              </a:ext>
            </a:extLst>
          </p:cNvPr>
          <p:cNvSpPr>
            <a:spLocks xmlns:a="http://schemas.openxmlformats.org/drawingml/2006/main" noGrp="1"/>
          </p:cNvSpPr>
          <p:nvPr/>
        </p:nvSpPr>
        <p:spPr>
          <a:xfrm xmlns:a="http://schemas.openxmlformats.org/drawingml/2006/main">
            <a:off x="6400800" y="1990725"/>
            <a:ext cx="4152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Safety map</a:t>
            </a:r>
          </a:p>
        </p:txBody>
      </p:sp>
      <p:sp>
        <p:nvSpPr>
          <p:cNvPr id="12" name="">
            <a:extLst xmlns:a="http://schemas.openxmlformats.org/drawingml/2006/main">
              <a:ext uri="{FF2B5EF4-FFF2-40B4-BE49-F238E27FC236}">
                <a16:creationId xmlns:a16="http://schemas.microsoft.com/office/drawing/2014/main" id="{CAB2405C-2BE9-4536-BB70-D763493CDDBC}"/>
              </a:ext>
            </a:extLst>
          </p:cNvPr>
          <p:cNvSpPr>
            <a:spLocks xmlns:a="http://schemas.openxmlformats.org/drawingml/2006/main" noGrp="1"/>
          </p:cNvSpPr>
          <p:nvPr/>
        </p:nvSpPr>
        <p:spPr>
          <a:xfrm xmlns:a="http://schemas.openxmlformats.org/drawingml/2006/main">
            <a:off x="6400800" y="2314575"/>
            <a:ext cx="41529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Coverage cells show predicted EPA tier for monitored areas and forecast views.</a:t>
            </a:r>
          </a:p>
        </p:txBody>
      </p:sp>
      <p:sp>
        <p:nvSpPr>
          <p:cNvPr id="13" name="">
            <a:extLst xmlns:a="http://schemas.openxmlformats.org/drawingml/2006/main">
              <a:ext uri="{FF2B5EF4-FFF2-40B4-BE49-F238E27FC236}">
                <a16:creationId xmlns:a16="http://schemas.microsoft.com/office/drawing/2014/main" id="{156936CC-B6DC-41A6-8723-52CEC40230E7}"/>
              </a:ext>
            </a:extLst>
          </p:cNvPr>
          <p:cNvSpPr>
            <a:spLocks xmlns:a="http://schemas.openxmlformats.org/drawingml/2006/main" noGrp="1"/>
          </p:cNvSpPr>
          <p:nvPr/>
        </p:nvSpPr>
        <p:spPr>
          <a:xfrm xmlns:a="http://schemas.openxmlformats.org/drawingml/2006/main">
            <a:off x="6191250" y="3095625"/>
            <a:ext cx="4572000" cy="9525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4" name="">
            <a:extLst xmlns:a="http://schemas.openxmlformats.org/drawingml/2006/main">
              <a:ext uri="{FF2B5EF4-FFF2-40B4-BE49-F238E27FC236}">
                <a16:creationId xmlns:a16="http://schemas.microsoft.com/office/drawing/2014/main" id="{E1EB3BBF-61A2-4CD3-8992-7EA4EA460F47}"/>
              </a:ext>
            </a:extLst>
          </p:cNvPr>
          <p:cNvSpPr>
            <a:spLocks xmlns:a="http://schemas.openxmlformats.org/drawingml/2006/main" noGrp="1"/>
          </p:cNvSpPr>
          <p:nvPr/>
        </p:nvSpPr>
        <p:spPr>
          <a:xfrm xmlns:a="http://schemas.openxmlformats.org/drawingml/2006/main">
            <a:off x="6191250" y="3095625"/>
            <a:ext cx="47625" cy="95250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15" name="">
            <a:extLst xmlns:a="http://schemas.openxmlformats.org/drawingml/2006/main">
              <a:ext uri="{FF2B5EF4-FFF2-40B4-BE49-F238E27FC236}">
                <a16:creationId xmlns:a16="http://schemas.microsoft.com/office/drawing/2014/main" id="{8A27529C-26FE-4F11-95DD-0CA6185889BC}"/>
              </a:ext>
            </a:extLst>
          </p:cNvPr>
          <p:cNvSpPr>
            <a:spLocks xmlns:a="http://schemas.openxmlformats.org/drawingml/2006/main" noGrp="1"/>
          </p:cNvSpPr>
          <p:nvPr/>
        </p:nvSpPr>
        <p:spPr>
          <a:xfrm xmlns:a="http://schemas.openxmlformats.org/drawingml/2006/main">
            <a:off x="6400800" y="3228975"/>
            <a:ext cx="4152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Predict location</a:t>
            </a:r>
          </a:p>
        </p:txBody>
      </p:sp>
      <p:sp>
        <p:nvSpPr>
          <p:cNvPr id="16" name="">
            <a:extLst xmlns:a="http://schemas.openxmlformats.org/drawingml/2006/main">
              <a:ext uri="{FF2B5EF4-FFF2-40B4-BE49-F238E27FC236}">
                <a16:creationId xmlns:a16="http://schemas.microsoft.com/office/drawing/2014/main" id="{7A3DA475-AD6C-4A92-94C8-38FD5FEF22C8}"/>
              </a:ext>
            </a:extLst>
          </p:cNvPr>
          <p:cNvSpPr>
            <a:spLocks xmlns:a="http://schemas.openxmlformats.org/drawingml/2006/main" noGrp="1"/>
          </p:cNvSpPr>
          <p:nvPr/>
        </p:nvSpPr>
        <p:spPr>
          <a:xfrm xmlns:a="http://schemas.openxmlformats.org/drawingml/2006/main">
            <a:off x="6400800" y="3552825"/>
            <a:ext cx="41529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A planner can enter a location and see predicted tier, PM2.5 estimate, uncertainty, and alert logic.</a:t>
            </a:r>
          </a:p>
        </p:txBody>
      </p:sp>
      <p:sp>
        <p:nvSpPr>
          <p:cNvPr id="17" name="">
            <a:extLst xmlns:a="http://schemas.openxmlformats.org/drawingml/2006/main">
              <a:ext uri="{FF2B5EF4-FFF2-40B4-BE49-F238E27FC236}">
                <a16:creationId xmlns:a16="http://schemas.microsoft.com/office/drawing/2014/main" id="{47E66CDC-1B58-4376-BA0D-6B03413770A2}"/>
              </a:ext>
            </a:extLst>
          </p:cNvPr>
          <p:cNvSpPr>
            <a:spLocks xmlns:a="http://schemas.openxmlformats.org/drawingml/2006/main" noGrp="1"/>
          </p:cNvSpPr>
          <p:nvPr/>
        </p:nvSpPr>
        <p:spPr>
          <a:xfrm xmlns:a="http://schemas.openxmlformats.org/drawingml/2006/main">
            <a:off x="6191250" y="4333875"/>
            <a:ext cx="4572000" cy="9525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8" name="">
            <a:extLst xmlns:a="http://schemas.openxmlformats.org/drawingml/2006/main">
              <a:ext uri="{FF2B5EF4-FFF2-40B4-BE49-F238E27FC236}">
                <a16:creationId xmlns:a16="http://schemas.microsoft.com/office/drawing/2014/main" id="{CB4CEBB3-5EF9-4C82-8E14-42D17351BBCC}"/>
              </a:ext>
            </a:extLst>
          </p:cNvPr>
          <p:cNvSpPr>
            <a:spLocks xmlns:a="http://schemas.openxmlformats.org/drawingml/2006/main" noGrp="1"/>
          </p:cNvSpPr>
          <p:nvPr/>
        </p:nvSpPr>
        <p:spPr>
          <a:xfrm xmlns:a="http://schemas.openxmlformats.org/drawingml/2006/main">
            <a:off x="6191250" y="4333875"/>
            <a:ext cx="47625" cy="952500"/>
          </a:xfrm>
          <a:prstGeom xmlns:a="http://schemas.openxmlformats.org/drawingml/2006/main" prst="rect">
            <a:avLst/>
          </a:prstGeom>
          <a:solidFill xmlns:a="http://schemas.openxmlformats.org/drawingml/2006/main">
            <a:srgbClr val="46C98A"/>
          </a:solidFill>
          <a:ln xmlns:a="http://schemas.openxmlformats.org/drawingml/2006/main" w="0">
            <a:solidFill>
              <a:srgbClr val="46C98A"/>
            </a:solidFill>
          </a:ln>
        </p:spPr>
      </p:sp>
      <p:sp>
        <p:nvSpPr>
          <p:cNvPr id="19" name="">
            <a:extLst xmlns:a="http://schemas.openxmlformats.org/drawingml/2006/main">
              <a:ext uri="{FF2B5EF4-FFF2-40B4-BE49-F238E27FC236}">
                <a16:creationId xmlns:a16="http://schemas.microsoft.com/office/drawing/2014/main" id="{2ED3FAA0-4BBB-4E46-88C4-DF892A32F814}"/>
              </a:ext>
            </a:extLst>
          </p:cNvPr>
          <p:cNvSpPr>
            <a:spLocks xmlns:a="http://schemas.openxmlformats.org/drawingml/2006/main" noGrp="1"/>
          </p:cNvSpPr>
          <p:nvPr/>
        </p:nvSpPr>
        <p:spPr>
          <a:xfrm xmlns:a="http://schemas.openxmlformats.org/drawingml/2006/main">
            <a:off x="6400800" y="4467225"/>
            <a:ext cx="4152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Uncertainty</a:t>
            </a:r>
          </a:p>
        </p:txBody>
      </p:sp>
      <p:sp>
        <p:nvSpPr>
          <p:cNvPr id="20" name="">
            <a:extLst xmlns:a="http://schemas.openxmlformats.org/drawingml/2006/main">
              <a:ext uri="{FF2B5EF4-FFF2-40B4-BE49-F238E27FC236}">
                <a16:creationId xmlns:a16="http://schemas.microsoft.com/office/drawing/2014/main" id="{4426CED9-8C42-4B49-9658-1FF78CDC6FDF}"/>
              </a:ext>
            </a:extLst>
          </p:cNvPr>
          <p:cNvSpPr>
            <a:spLocks xmlns:a="http://schemas.openxmlformats.org/drawingml/2006/main" noGrp="1"/>
          </p:cNvSpPr>
          <p:nvPr/>
        </p:nvSpPr>
        <p:spPr>
          <a:xfrm xmlns:a="http://schemas.openxmlformats.org/drawingml/2006/main">
            <a:off x="6400800" y="4791075"/>
            <a:ext cx="41529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Conformal-style bands communicate that new-site prediction is harder than seen-site prediction.</a:t>
            </a:r>
          </a:p>
        </p:txBody>
      </p:sp>
      <p:sp>
        <p:nvSpPr>
          <p:cNvPr id="21" name="">
            <a:extLst xmlns:a="http://schemas.openxmlformats.org/drawingml/2006/main">
              <a:ext uri="{FF2B5EF4-FFF2-40B4-BE49-F238E27FC236}">
                <a16:creationId xmlns:a16="http://schemas.microsoft.com/office/drawing/2014/main" id="{B1F1C650-80E8-4C80-977E-628EBA3352D2}"/>
              </a:ext>
            </a:extLst>
          </p:cNvPr>
          <p:cNvSpPr>
            <a:spLocks xmlns:a="http://schemas.openxmlformats.org/drawingml/2006/main" noGrp="1"/>
          </p:cNvSpPr>
          <p:nvPr/>
        </p:nvSpPr>
        <p:spPr>
          <a:xfrm xmlns:a="http://schemas.openxmlformats.org/drawingml/2006/main">
            <a:off x="6191250" y="5715000"/>
            <a:ext cx="4572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0">
                <a:solidFill>
                  <a:srgbClr val="9FB3BE"/>
                </a:solidFill>
              </a:defRPr>
            </a:pPr>
            <a:r>
              <a:rPr sz="1275" b="0">
                <a:solidFill>
                  <a:srgbClr val="9FB3BE"/>
                </a:solidFill>
              </a:rPr>
              <a:t>Important page: pages/kampala_planner_prototype.html</a:t>
            </a:r>
          </a:p>
        </p:txBody>
      </p:sp>
    </p:spTree>
    <p:extLst>
      <p:ext uri="{BB962C8B-B14F-4D97-AF65-F5344CB8AC3E}">
        <p14:creationId xmlns:p14="http://schemas.microsoft.com/office/powerpoint/2010/main" val="1502190541"/>
      </p:ext>
    </p:extLst>
  </p:cSld>
</p:sld>
</file>

<file path=ppt/slides/slide15.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C918E388-860F-4F82-9374-E82070A9017C}"/>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2AB0110F-79E4-4490-AFD8-AA8314D2801E}"/>
              </a:ext>
            </a:extLst>
          </p:cNvPr>
          <p:cNvSpPr>
            <a:spLocks xmlns:a="http://schemas.openxmlformats.org/drawingml/2006/main" noGrp="1"/>
          </p:cNvSpPr>
          <p:nvPr/>
        </p:nvSpPr>
        <p:spPr>
          <a:xfrm xmlns:a="http://schemas.openxmlformats.org/drawingml/2006/main">
            <a:off x="0" y="0"/>
            <a:ext cx="12192000" cy="533400"/>
          </a:xfrm>
          <a:prstGeom xmlns:a="http://schemas.openxmlformats.org/drawingml/2006/main" prst="rect">
            <a:avLst/>
          </a:prstGeom>
          <a:solidFill xmlns:a="http://schemas.openxmlformats.org/drawingml/2006/main">
            <a:srgbClr val="0B1825"/>
          </a:solidFill>
          <a:ln xmlns:a="http://schemas.openxmlformats.org/drawingml/2006/main" w="0">
            <a:solidFill>
              <a:srgbClr val="0B1825"/>
            </a:solidFill>
          </a:ln>
        </p:spPr>
      </p:sp>
      <p:sp>
        <p:nvSpPr>
          <p:cNvPr id="3" name="">
            <a:extLst xmlns:a="http://schemas.openxmlformats.org/drawingml/2006/main">
              <a:ext uri="{FF2B5EF4-FFF2-40B4-BE49-F238E27FC236}">
                <a16:creationId xmlns:a16="http://schemas.microsoft.com/office/drawing/2014/main" id="{A95E8FCD-1A61-47D6-98D6-729DE9DD0253}"/>
              </a:ext>
            </a:extLst>
          </p:cNvPr>
          <p:cNvSpPr>
            <a:spLocks xmlns:a="http://schemas.openxmlformats.org/drawingml/2006/main" noGrp="1"/>
          </p:cNvSpPr>
          <p:nvPr/>
        </p:nvSpPr>
        <p:spPr>
          <a:xfrm xmlns:a="http://schemas.openxmlformats.org/drawingml/2006/main">
            <a:off x="0" y="523875"/>
            <a:ext cx="12192000" cy="9525"/>
          </a:xfrm>
          <a:prstGeom xmlns:a="http://schemas.openxmlformats.org/drawingml/2006/main" prst="rect">
            <a:avLst/>
          </a:prstGeom>
          <a:solidFill xmlns:a="http://schemas.openxmlformats.org/drawingml/2006/main">
            <a:srgbClr val="243244"/>
          </a:solidFill>
          <a:ln xmlns:a="http://schemas.openxmlformats.org/drawingml/2006/main" w="0">
            <a:solidFill>
              <a:srgbClr val="243244"/>
            </a:solidFill>
          </a:ln>
        </p:spPr>
      </p:sp>
      <p:sp>
        <p:nvSpPr>
          <p:cNvPr id="4" name="">
            <a:extLst xmlns:a="http://schemas.openxmlformats.org/drawingml/2006/main">
              <a:ext uri="{FF2B5EF4-FFF2-40B4-BE49-F238E27FC236}">
                <a16:creationId xmlns:a16="http://schemas.microsoft.com/office/drawing/2014/main" id="{723CB5D2-06F5-4D0A-A08D-C06CF2954965}"/>
              </a:ext>
            </a:extLst>
          </p:cNvPr>
          <p:cNvSpPr>
            <a:spLocks xmlns:a="http://schemas.openxmlformats.org/drawingml/2006/main" noGrp="1"/>
          </p:cNvSpPr>
          <p:nvPr/>
        </p:nvSpPr>
        <p:spPr>
          <a:xfrm xmlns:a="http://schemas.openxmlformats.org/drawingml/2006/main">
            <a:off x="381000" y="171450"/>
            <a:ext cx="485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9FB3BE"/>
                </a:solidFill>
              </a:defRPr>
            </a:pPr>
            <a:r>
              <a:rPr sz="1200" b="1">
                <a:solidFill>
                  <a:srgbClr val="9FB3BE"/>
                </a:solidFill>
              </a:rPr>
              <a:t>Kampala PM2.5 · Smart City Capstone</a:t>
            </a:r>
          </a:p>
        </p:txBody>
      </p:sp>
      <p:sp>
        <p:nvSpPr>
          <p:cNvPr id="5" name="">
            <a:extLst xmlns:a="http://schemas.openxmlformats.org/drawingml/2006/main">
              <a:ext uri="{FF2B5EF4-FFF2-40B4-BE49-F238E27FC236}">
                <a16:creationId xmlns:a16="http://schemas.microsoft.com/office/drawing/2014/main" id="{D258D66F-1C6C-403D-84B9-5210B5909E3A}"/>
              </a:ext>
            </a:extLst>
          </p:cNvPr>
          <p:cNvSpPr>
            <a:spLocks xmlns:a="http://schemas.openxmlformats.org/drawingml/2006/main" noGrp="1"/>
          </p:cNvSpPr>
          <p:nvPr/>
        </p:nvSpPr>
        <p:spPr>
          <a:xfrm xmlns:a="http://schemas.openxmlformats.org/drawingml/2006/main">
            <a:off x="9048750" y="171450"/>
            <a:ext cx="2762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14A38B"/>
                </a:solidFill>
              </a:defRPr>
            </a:pPr>
            <a:r>
              <a:rPr sz="1050" b="1">
                <a:solidFill>
                  <a:srgbClr val="14A38B"/>
                </a:solidFill>
              </a:rPr>
              <a:t>Person 5 · final audit</a:t>
            </a:r>
          </a:p>
        </p:txBody>
      </p:sp>
      <p:sp>
        <p:nvSpPr>
          <p:cNvPr id="6" name="">
            <a:extLst xmlns:a="http://schemas.openxmlformats.org/drawingml/2006/main">
              <a:ext uri="{FF2B5EF4-FFF2-40B4-BE49-F238E27FC236}">
                <a16:creationId xmlns:a16="http://schemas.microsoft.com/office/drawing/2014/main" id="{12F02611-AC27-4DAB-92E0-1766E7931F15}"/>
              </a:ext>
            </a:extLst>
          </p:cNvPr>
          <p:cNvSpPr>
            <a:spLocks xmlns:a="http://schemas.openxmlformats.org/drawingml/2006/main" noGrp="1"/>
          </p:cNvSpPr>
          <p:nvPr/>
        </p:nvSpPr>
        <p:spPr>
          <a:xfrm xmlns:a="http://schemas.openxmlformats.org/drawingml/2006/main">
            <a:off x="609600" y="8191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E8F0EE"/>
                </a:solidFill>
              </a:defRPr>
            </a:pPr>
            <a:r>
              <a:rPr sz="2700" b="1">
                <a:solidFill>
                  <a:srgbClr val="E8F0EE"/>
                </a:solidFill>
              </a:rPr>
              <a:t>Final Audit: The Honest Recommendation</a:t>
            </a:r>
          </a:p>
        </p:txBody>
      </p:sp>
      <p:sp>
        <p:nvSpPr>
          <p:cNvPr id="7" name="">
            <a:extLst xmlns:a="http://schemas.openxmlformats.org/drawingml/2006/main">
              <a:ext uri="{FF2B5EF4-FFF2-40B4-BE49-F238E27FC236}">
                <a16:creationId xmlns:a16="http://schemas.microsoft.com/office/drawing/2014/main" id="{47D783E9-98C4-4CE1-8A2D-AA570FDB1B09}"/>
              </a:ext>
            </a:extLst>
          </p:cNvPr>
          <p:cNvSpPr>
            <a:spLocks xmlns:a="http://schemas.openxmlformats.org/drawingml/2006/main" noGrp="1"/>
          </p:cNvSpPr>
          <p:nvPr/>
        </p:nvSpPr>
        <p:spPr>
          <a:xfrm xmlns:a="http://schemas.openxmlformats.org/drawingml/2006/main">
            <a:off x="628650" y="1390650"/>
            <a:ext cx="8572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9FB3BE"/>
                </a:solidFill>
              </a:defRPr>
            </a:pPr>
            <a:r>
              <a:rPr sz="1500" b="0">
                <a:solidFill>
                  <a:srgbClr val="9FB3BE"/>
                </a:solidFill>
              </a:rPr>
              <a:t>The strongest contribution is rejecting improvements that cannot realistically deploy.</a:t>
            </a:r>
          </a:p>
        </p:txBody>
      </p:sp>
      <p:sp>
        <p:nvSpPr>
          <p:cNvPr id="8" name="">
            <a:extLst xmlns:a="http://schemas.openxmlformats.org/drawingml/2006/main">
              <a:ext uri="{FF2B5EF4-FFF2-40B4-BE49-F238E27FC236}">
                <a16:creationId xmlns:a16="http://schemas.microsoft.com/office/drawing/2014/main" id="{6C0118F5-0FF8-4C59-9D51-1E71F1135AD9}"/>
              </a:ext>
            </a:extLst>
          </p:cNvPr>
          <p:cNvSpPr>
            <a:spLocks xmlns:a="http://schemas.openxmlformats.org/drawingml/2006/main" noGrp="1"/>
          </p:cNvSpPr>
          <p:nvPr/>
        </p:nvSpPr>
        <p:spPr>
          <a:xfrm xmlns:a="http://schemas.openxmlformats.org/drawingml/2006/main">
            <a:off x="809625" y="2095500"/>
            <a:ext cx="2571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9" name="">
            <a:extLst xmlns:a="http://schemas.openxmlformats.org/drawingml/2006/main">
              <a:ext uri="{FF2B5EF4-FFF2-40B4-BE49-F238E27FC236}">
                <a16:creationId xmlns:a16="http://schemas.microsoft.com/office/drawing/2014/main" id="{9F98AB0C-9F61-44C3-A149-1019CE0AE60E}"/>
              </a:ext>
            </a:extLst>
          </p:cNvPr>
          <p:cNvSpPr>
            <a:spLocks xmlns:a="http://schemas.openxmlformats.org/drawingml/2006/main" noGrp="1"/>
          </p:cNvSpPr>
          <p:nvPr/>
        </p:nvSpPr>
        <p:spPr>
          <a:xfrm xmlns:a="http://schemas.openxmlformats.org/drawingml/2006/main">
            <a:off x="923925" y="2238375"/>
            <a:ext cx="2343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C5A4C"/>
                </a:solidFill>
              </a:defRPr>
            </a:pPr>
            <a:r>
              <a:rPr sz="2175" b="1">
                <a:solidFill>
                  <a:srgbClr val="EC5A4C"/>
                </a:solidFill>
              </a:rPr>
              <a:t>≈0.58</a:t>
            </a:r>
          </a:p>
        </p:txBody>
      </p:sp>
      <p:sp>
        <p:nvSpPr>
          <p:cNvPr id="10" name="">
            <a:extLst xmlns:a="http://schemas.openxmlformats.org/drawingml/2006/main">
              <a:ext uri="{FF2B5EF4-FFF2-40B4-BE49-F238E27FC236}">
                <a16:creationId xmlns:a16="http://schemas.microsoft.com/office/drawing/2014/main" id="{92ACD8D4-97AE-4E4E-8E17-CCF284CF20D9}"/>
              </a:ext>
            </a:extLst>
          </p:cNvPr>
          <p:cNvSpPr>
            <a:spLocks xmlns:a="http://schemas.openxmlformats.org/drawingml/2006/main" noGrp="1"/>
          </p:cNvSpPr>
          <p:nvPr/>
        </p:nvSpPr>
        <p:spPr>
          <a:xfrm xmlns:a="http://schemas.openxmlformats.org/drawingml/2006/main">
            <a:off x="942975" y="2686050"/>
            <a:ext cx="2305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k=6 full-history upper bound</a:t>
            </a:r>
          </a:p>
        </p:txBody>
      </p:sp>
      <p:sp>
        <p:nvSpPr>
          <p:cNvPr id="11" name="">
            <a:extLst xmlns:a="http://schemas.openxmlformats.org/drawingml/2006/main">
              <a:ext uri="{FF2B5EF4-FFF2-40B4-BE49-F238E27FC236}">
                <a16:creationId xmlns:a16="http://schemas.microsoft.com/office/drawing/2014/main" id="{7A7141AD-DA79-4FC9-AF8F-E10AC85E918D}"/>
              </a:ext>
            </a:extLst>
          </p:cNvPr>
          <p:cNvSpPr>
            <a:spLocks xmlns:a="http://schemas.openxmlformats.org/drawingml/2006/main" noGrp="1"/>
          </p:cNvSpPr>
          <p:nvPr/>
        </p:nvSpPr>
        <p:spPr>
          <a:xfrm xmlns:a="http://schemas.openxmlformats.org/drawingml/2006/main">
            <a:off x="3762375" y="2095500"/>
            <a:ext cx="23812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2" name="">
            <a:extLst xmlns:a="http://schemas.openxmlformats.org/drawingml/2006/main">
              <a:ext uri="{FF2B5EF4-FFF2-40B4-BE49-F238E27FC236}">
                <a16:creationId xmlns:a16="http://schemas.microsoft.com/office/drawing/2014/main" id="{A46E9D87-3C8C-4C16-9929-527D63F76006}"/>
              </a:ext>
            </a:extLst>
          </p:cNvPr>
          <p:cNvSpPr>
            <a:spLocks xmlns:a="http://schemas.openxmlformats.org/drawingml/2006/main" noGrp="1"/>
          </p:cNvSpPr>
          <p:nvPr/>
        </p:nvSpPr>
        <p:spPr>
          <a:xfrm xmlns:a="http://schemas.openxmlformats.org/drawingml/2006/main">
            <a:off x="3876675" y="2238375"/>
            <a:ext cx="21526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E8A020"/>
                </a:solidFill>
              </a:defRPr>
            </a:pPr>
            <a:r>
              <a:rPr sz="2175" b="1">
                <a:solidFill>
                  <a:srgbClr val="E8A020"/>
                </a:solidFill>
              </a:rPr>
              <a:t>≈0.51</a:t>
            </a:r>
          </a:p>
        </p:txBody>
      </p:sp>
      <p:sp>
        <p:nvSpPr>
          <p:cNvPr id="13" name="">
            <a:extLst xmlns:a="http://schemas.openxmlformats.org/drawingml/2006/main">
              <a:ext uri="{FF2B5EF4-FFF2-40B4-BE49-F238E27FC236}">
                <a16:creationId xmlns:a16="http://schemas.microsoft.com/office/drawing/2014/main" id="{744D1B68-CB4A-48D2-B62C-B1EEFCE5FC84}"/>
              </a:ext>
            </a:extLst>
          </p:cNvPr>
          <p:cNvSpPr>
            <a:spLocks xmlns:a="http://schemas.openxmlformats.org/drawingml/2006/main" noGrp="1"/>
          </p:cNvSpPr>
          <p:nvPr/>
        </p:nvSpPr>
        <p:spPr>
          <a:xfrm xmlns:a="http://schemas.openxmlformats.org/drawingml/2006/main">
            <a:off x="3895725" y="2686050"/>
            <a:ext cx="2114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best deployable k=6</a:t>
            </a:r>
          </a:p>
        </p:txBody>
      </p:sp>
      <p:sp>
        <p:nvSpPr>
          <p:cNvPr id="14" name="">
            <a:extLst xmlns:a="http://schemas.openxmlformats.org/drawingml/2006/main">
              <a:ext uri="{FF2B5EF4-FFF2-40B4-BE49-F238E27FC236}">
                <a16:creationId xmlns:a16="http://schemas.microsoft.com/office/drawing/2014/main" id="{D4B52490-FCA1-4B63-97F0-3D2F4002F383}"/>
              </a:ext>
            </a:extLst>
          </p:cNvPr>
          <p:cNvSpPr>
            <a:spLocks xmlns:a="http://schemas.openxmlformats.org/drawingml/2006/main" noGrp="1"/>
          </p:cNvSpPr>
          <p:nvPr/>
        </p:nvSpPr>
        <p:spPr>
          <a:xfrm xmlns:a="http://schemas.openxmlformats.org/drawingml/2006/main">
            <a:off x="6524625" y="2095500"/>
            <a:ext cx="2190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5" name="">
            <a:extLst xmlns:a="http://schemas.openxmlformats.org/drawingml/2006/main">
              <a:ext uri="{FF2B5EF4-FFF2-40B4-BE49-F238E27FC236}">
                <a16:creationId xmlns:a16="http://schemas.microsoft.com/office/drawing/2014/main" id="{D5631BA2-0CEA-4464-AA11-B1D0575BEAFB}"/>
              </a:ext>
            </a:extLst>
          </p:cNvPr>
          <p:cNvSpPr>
            <a:spLocks xmlns:a="http://schemas.openxmlformats.org/drawingml/2006/main" noGrp="1"/>
          </p:cNvSpPr>
          <p:nvPr/>
        </p:nvSpPr>
        <p:spPr>
          <a:xfrm xmlns:a="http://schemas.openxmlformats.org/drawingml/2006/main">
            <a:off x="6638925" y="2238375"/>
            <a:ext cx="1962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≈0.56</a:t>
            </a:r>
          </a:p>
        </p:txBody>
      </p:sp>
      <p:sp>
        <p:nvSpPr>
          <p:cNvPr id="16" name="">
            <a:extLst xmlns:a="http://schemas.openxmlformats.org/drawingml/2006/main">
              <a:ext uri="{FF2B5EF4-FFF2-40B4-BE49-F238E27FC236}">
                <a16:creationId xmlns:a16="http://schemas.microsoft.com/office/drawing/2014/main" id="{E9638552-5BA7-46D6-B9F7-029EB3EFEED2}"/>
              </a:ext>
            </a:extLst>
          </p:cNvPr>
          <p:cNvSpPr>
            <a:spLocks xmlns:a="http://schemas.openxmlformats.org/drawingml/2006/main" noGrp="1"/>
          </p:cNvSpPr>
          <p:nvPr/>
        </p:nvSpPr>
        <p:spPr>
          <a:xfrm xmlns:a="http://schemas.openxmlformats.org/drawingml/2006/main">
            <a:off x="6657975" y="2686050"/>
            <a:ext cx="1924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accepted k=4</a:t>
            </a:r>
          </a:p>
        </p:txBody>
      </p:sp>
      <p:sp>
        <p:nvSpPr>
          <p:cNvPr id="17" name="">
            <a:extLst xmlns:a="http://schemas.openxmlformats.org/drawingml/2006/main">
              <a:ext uri="{FF2B5EF4-FFF2-40B4-BE49-F238E27FC236}">
                <a16:creationId xmlns:a16="http://schemas.microsoft.com/office/drawing/2014/main" id="{342256A0-7A22-4D32-8CCC-F81C8369D47D}"/>
              </a:ext>
            </a:extLst>
          </p:cNvPr>
          <p:cNvSpPr>
            <a:spLocks xmlns:a="http://schemas.openxmlformats.org/drawingml/2006/main" noGrp="1"/>
          </p:cNvSpPr>
          <p:nvPr/>
        </p:nvSpPr>
        <p:spPr>
          <a:xfrm xmlns:a="http://schemas.openxmlformats.org/drawingml/2006/main">
            <a:off x="9096375" y="2095500"/>
            <a:ext cx="2190750" cy="102870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18" name="">
            <a:extLst xmlns:a="http://schemas.openxmlformats.org/drawingml/2006/main">
              <a:ext uri="{FF2B5EF4-FFF2-40B4-BE49-F238E27FC236}">
                <a16:creationId xmlns:a16="http://schemas.microsoft.com/office/drawing/2014/main" id="{87B66229-89F3-4EEE-9431-D53FBB8C7F34}"/>
              </a:ext>
            </a:extLst>
          </p:cNvPr>
          <p:cNvSpPr>
            <a:spLocks xmlns:a="http://schemas.openxmlformats.org/drawingml/2006/main" noGrp="1"/>
          </p:cNvSpPr>
          <p:nvPr/>
        </p:nvSpPr>
        <p:spPr>
          <a:xfrm xmlns:a="http://schemas.openxmlformats.org/drawingml/2006/main">
            <a:off x="9210675" y="2238375"/>
            <a:ext cx="1962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75" b="1">
                <a:solidFill>
                  <a:srgbClr val="46C98A"/>
                </a:solidFill>
              </a:defRPr>
            </a:pPr>
            <a:r>
              <a:rPr sz="2175" b="1">
                <a:solidFill>
                  <a:srgbClr val="46C98A"/>
                </a:solidFill>
              </a:rPr>
              <a:t>LSTM</a:t>
            </a:r>
          </a:p>
        </p:txBody>
      </p:sp>
      <p:sp>
        <p:nvSpPr>
          <p:cNvPr id="19" name="">
            <a:extLst xmlns:a="http://schemas.openxmlformats.org/drawingml/2006/main">
              <a:ext uri="{FF2B5EF4-FFF2-40B4-BE49-F238E27FC236}">
                <a16:creationId xmlns:a16="http://schemas.microsoft.com/office/drawing/2014/main" id="{AAC5916F-6218-4706-A2BC-19A30F7AD0D9}"/>
              </a:ext>
            </a:extLst>
          </p:cNvPr>
          <p:cNvSpPr>
            <a:spLocks xmlns:a="http://schemas.openxmlformats.org/drawingml/2006/main" noGrp="1"/>
          </p:cNvSpPr>
          <p:nvPr/>
        </p:nvSpPr>
        <p:spPr>
          <a:xfrm xmlns:a="http://schemas.openxmlformats.org/drawingml/2006/main">
            <a:off x="9229725" y="2686050"/>
            <a:ext cx="1924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0">
                <a:solidFill>
                  <a:srgbClr val="9FB3BE"/>
                </a:solidFill>
              </a:defRPr>
            </a:pPr>
            <a:r>
              <a:rPr sz="1050" b="0">
                <a:solidFill>
                  <a:srgbClr val="9FB3BE"/>
                </a:solidFill>
              </a:rPr>
              <a:t>accepted FUTURE headline</a:t>
            </a:r>
          </a:p>
        </p:txBody>
      </p:sp>
      <p:sp>
        <p:nvSpPr>
          <p:cNvPr id="20" name="">
            <a:extLst xmlns:a="http://schemas.openxmlformats.org/drawingml/2006/main">
              <a:ext uri="{FF2B5EF4-FFF2-40B4-BE49-F238E27FC236}">
                <a16:creationId xmlns:a16="http://schemas.microsoft.com/office/drawing/2014/main" id="{9117365C-0E6D-4C96-8174-390A36259701}"/>
              </a:ext>
            </a:extLst>
          </p:cNvPr>
          <p:cNvSpPr>
            <a:spLocks xmlns:a="http://schemas.openxmlformats.org/drawingml/2006/main" noGrp="1"/>
          </p:cNvSpPr>
          <p:nvPr/>
        </p:nvSpPr>
        <p:spPr>
          <a:xfrm xmlns:a="http://schemas.openxmlformats.org/drawingml/2006/main">
            <a:off x="1047750" y="4000500"/>
            <a:ext cx="4572000"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1" name="">
            <a:extLst xmlns:a="http://schemas.openxmlformats.org/drawingml/2006/main">
              <a:ext uri="{FF2B5EF4-FFF2-40B4-BE49-F238E27FC236}">
                <a16:creationId xmlns:a16="http://schemas.microsoft.com/office/drawing/2014/main" id="{952A3AEB-E3DB-4A6D-8618-6D3AF13D251D}"/>
              </a:ext>
            </a:extLst>
          </p:cNvPr>
          <p:cNvSpPr>
            <a:spLocks xmlns:a="http://schemas.openxmlformats.org/drawingml/2006/main" noGrp="1"/>
          </p:cNvSpPr>
          <p:nvPr/>
        </p:nvSpPr>
        <p:spPr>
          <a:xfrm xmlns:a="http://schemas.openxmlformats.org/drawingml/2006/main">
            <a:off x="1047750" y="4000500"/>
            <a:ext cx="47625" cy="1428750"/>
          </a:xfrm>
          <a:prstGeom xmlns:a="http://schemas.openxmlformats.org/drawingml/2006/main" prst="rect">
            <a:avLst/>
          </a:prstGeom>
          <a:solidFill xmlns:a="http://schemas.openxmlformats.org/drawingml/2006/main">
            <a:srgbClr val="14A38B"/>
          </a:solidFill>
          <a:ln xmlns:a="http://schemas.openxmlformats.org/drawingml/2006/main" w="0">
            <a:solidFill>
              <a:srgbClr val="14A38B"/>
            </a:solidFill>
          </a:ln>
        </p:spPr>
      </p:sp>
      <p:sp>
        <p:nvSpPr>
          <p:cNvPr id="22" name="">
            <a:extLst xmlns:a="http://schemas.openxmlformats.org/drawingml/2006/main">
              <a:ext uri="{FF2B5EF4-FFF2-40B4-BE49-F238E27FC236}">
                <a16:creationId xmlns:a16="http://schemas.microsoft.com/office/drawing/2014/main" id="{D35C8CA1-EA6A-4E3C-B79A-966AB64875BE}"/>
              </a:ext>
            </a:extLst>
          </p:cNvPr>
          <p:cNvSpPr>
            <a:spLocks xmlns:a="http://schemas.openxmlformats.org/drawingml/2006/main" noGrp="1"/>
          </p:cNvSpPr>
          <p:nvPr/>
        </p:nvSpPr>
        <p:spPr>
          <a:xfrm xmlns:a="http://schemas.openxmlformats.org/drawingml/2006/main">
            <a:off x="1257300" y="4133850"/>
            <a:ext cx="4152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Research integrity</a:t>
            </a:r>
          </a:p>
        </p:txBody>
      </p:sp>
      <p:sp>
        <p:nvSpPr>
          <p:cNvPr id="23" name="">
            <a:extLst xmlns:a="http://schemas.openxmlformats.org/drawingml/2006/main">
              <a:ext uri="{FF2B5EF4-FFF2-40B4-BE49-F238E27FC236}">
                <a16:creationId xmlns:a16="http://schemas.microsoft.com/office/drawing/2014/main" id="{6087AEED-C115-4B48-B248-ABD479604316}"/>
              </a:ext>
            </a:extLst>
          </p:cNvPr>
          <p:cNvSpPr>
            <a:spLocks xmlns:a="http://schemas.openxmlformats.org/drawingml/2006/main" noGrp="1"/>
          </p:cNvSpPr>
          <p:nvPr/>
        </p:nvSpPr>
        <p:spPr>
          <a:xfrm xmlns:a="http://schemas.openxmlformats.org/drawingml/2006/main">
            <a:off x="1257300" y="4457700"/>
            <a:ext cx="41529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Separate oracle upper bounds from deployable models. Label leakage risks. Keep negative results.</a:t>
            </a:r>
          </a:p>
        </p:txBody>
      </p:sp>
      <p:sp>
        <p:nvSpPr>
          <p:cNvPr id="24" name="">
            <a:extLst xmlns:a="http://schemas.openxmlformats.org/drawingml/2006/main">
              <a:ext uri="{FF2B5EF4-FFF2-40B4-BE49-F238E27FC236}">
                <a16:creationId xmlns:a16="http://schemas.microsoft.com/office/drawing/2014/main" id="{2AFF32A7-A1DB-4F68-9DB3-7731C04172E7}"/>
              </a:ext>
            </a:extLst>
          </p:cNvPr>
          <p:cNvSpPr>
            <a:spLocks xmlns:a="http://schemas.openxmlformats.org/drawingml/2006/main" noGrp="1"/>
          </p:cNvSpPr>
          <p:nvPr/>
        </p:nvSpPr>
        <p:spPr>
          <a:xfrm xmlns:a="http://schemas.openxmlformats.org/drawingml/2006/main">
            <a:off x="6381750" y="4000500"/>
            <a:ext cx="4572000" cy="1428750"/>
          </a:xfrm>
          <a:prstGeom xmlns:a="http://schemas.openxmlformats.org/drawingml/2006/main" prst="roundRect">
            <a:avLst>
              <a:gd name="adj" fmla="val 9000"/>
            </a:avLst>
          </a:prstGeom>
          <a:solidFill xmlns:a="http://schemas.openxmlformats.org/drawingml/2006/main">
            <a:srgbClr val="122030"/>
          </a:solidFill>
          <a:ln xmlns:a="http://schemas.openxmlformats.org/drawingml/2006/main" w="9525">
            <a:solidFill>
              <a:srgbClr val="243244"/>
            </a:solidFill>
          </a:ln>
        </p:spPr>
      </p:sp>
      <p:sp>
        <p:nvSpPr>
          <p:cNvPr id="25" name="">
            <a:extLst xmlns:a="http://schemas.openxmlformats.org/drawingml/2006/main">
              <a:ext uri="{FF2B5EF4-FFF2-40B4-BE49-F238E27FC236}">
                <a16:creationId xmlns:a16="http://schemas.microsoft.com/office/drawing/2014/main" id="{3EF16872-C20B-49C3-87BC-71884046B8A4}"/>
              </a:ext>
            </a:extLst>
          </p:cNvPr>
          <p:cNvSpPr>
            <a:spLocks xmlns:a="http://schemas.openxmlformats.org/drawingml/2006/main" noGrp="1"/>
          </p:cNvSpPr>
          <p:nvPr/>
        </p:nvSpPr>
        <p:spPr>
          <a:xfrm xmlns:a="http://schemas.openxmlformats.org/drawingml/2006/main">
            <a:off x="6381750" y="4000500"/>
            <a:ext cx="47625" cy="1428750"/>
          </a:xfrm>
          <a:prstGeom xmlns:a="http://schemas.openxmlformats.org/drawingml/2006/main" prst="rect">
            <a:avLst/>
          </a:prstGeom>
          <a:solidFill xmlns:a="http://schemas.openxmlformats.org/drawingml/2006/main">
            <a:srgbClr val="E8A020"/>
          </a:solidFill>
          <a:ln xmlns:a="http://schemas.openxmlformats.org/drawingml/2006/main" w="0">
            <a:solidFill>
              <a:srgbClr val="E8A020"/>
            </a:solidFill>
          </a:ln>
        </p:spPr>
      </p:sp>
      <p:sp>
        <p:nvSpPr>
          <p:cNvPr id="26" name="">
            <a:extLst xmlns:a="http://schemas.openxmlformats.org/drawingml/2006/main">
              <a:ext uri="{FF2B5EF4-FFF2-40B4-BE49-F238E27FC236}">
                <a16:creationId xmlns:a16="http://schemas.microsoft.com/office/drawing/2014/main" id="{7D6EB36E-19F1-4218-BE91-E22743C30164}"/>
              </a:ext>
            </a:extLst>
          </p:cNvPr>
          <p:cNvSpPr>
            <a:spLocks xmlns:a="http://schemas.openxmlformats.org/drawingml/2006/main" noGrp="1"/>
          </p:cNvSpPr>
          <p:nvPr/>
        </p:nvSpPr>
        <p:spPr>
          <a:xfrm xmlns:a="http://schemas.openxmlformats.org/drawingml/2006/main">
            <a:off x="6591300" y="4133850"/>
            <a:ext cx="4152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E8F0EE"/>
                </a:solidFill>
              </a:defRPr>
            </a:pPr>
            <a:r>
              <a:rPr sz="1350" b="1">
                <a:solidFill>
                  <a:srgbClr val="E8F0EE"/>
                </a:solidFill>
              </a:rPr>
              <a:t>Final conclusion</a:t>
            </a:r>
          </a:p>
        </p:txBody>
      </p:sp>
      <p:sp>
        <p:nvSpPr>
          <p:cNvPr id="27" name="">
            <a:extLst xmlns:a="http://schemas.openxmlformats.org/drawingml/2006/main">
              <a:ext uri="{FF2B5EF4-FFF2-40B4-BE49-F238E27FC236}">
                <a16:creationId xmlns:a16="http://schemas.microsoft.com/office/drawing/2014/main" id="{D979B049-AE1A-4BE7-9EB0-C1D59C512A67}"/>
              </a:ext>
            </a:extLst>
          </p:cNvPr>
          <p:cNvSpPr>
            <a:spLocks xmlns:a="http://schemas.openxmlformats.org/drawingml/2006/main" noGrp="1"/>
          </p:cNvSpPr>
          <p:nvPr/>
        </p:nvSpPr>
        <p:spPr>
          <a:xfrm xmlns:a="http://schemas.openxmlformats.org/drawingml/2006/main">
            <a:off x="6591300" y="4457700"/>
            <a:ext cx="41529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9FB3BE"/>
                </a:solidFill>
              </a:defRPr>
            </a:pPr>
            <a:r>
              <a:rPr sz="1200" b="0">
                <a:solidFill>
                  <a:srgbClr val="9FB3BE"/>
                </a:solidFill>
              </a:rPr>
              <a:t>Accepted NOW = k=4. Accepted FUTURE = LSTM. RF = challenger. k=6 = research direction.</a:t>
            </a:r>
          </a:p>
        </p:txBody>
      </p:sp>
      <p:sp>
        <p:nvSpPr>
          <p:cNvPr id="28" name="">
            <a:extLst xmlns:a="http://schemas.openxmlformats.org/drawingml/2006/main">
              <a:ext uri="{FF2B5EF4-FFF2-40B4-BE49-F238E27FC236}">
                <a16:creationId xmlns:a16="http://schemas.microsoft.com/office/drawing/2014/main" id="{C9B5309C-B319-4A42-9582-266823CEF7D3}"/>
              </a:ext>
            </a:extLst>
          </p:cNvPr>
          <p:cNvSpPr>
            <a:spLocks xmlns:a="http://schemas.openxmlformats.org/drawingml/2006/main" noGrp="1"/>
          </p:cNvSpPr>
          <p:nvPr/>
        </p:nvSpPr>
        <p:spPr>
          <a:xfrm xmlns:a="http://schemas.openxmlformats.org/drawingml/2006/main">
            <a:off x="1190625" y="5857875"/>
            <a:ext cx="98107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ln>
        </p:spPr>
        <p:txBody>
          <a:bodyPr xmlns:a="http://schemas.openxmlformats.org/drawingml/2006/main" lIns="0" tIns="0" rIns="0" bIns="0" anchor="ctr">
            <a:normAutofit fontScale="78972"/>
          </a:bodyPr>
          <a:lstStyle xmlns:a="http://schemas.openxmlformats.org/drawingml/2006/main"/>
          <a:p xmlns:a="http://schemas.openxmlformats.org/drawingml/2006/main">
            <a:pPr algn="ctr">
              <a:defRPr sz="1500" b="1">
                <a:solidFill>
                  <a:srgbClr val="E8F0EE"/>
                </a:solidFill>
              </a:defRPr>
            </a:pPr>
            <a:r>
              <a:rPr sz="1500" b="1">
                <a:solidFill>
                  <a:srgbClr val="E8F0EE"/>
                </a:solidFill>
              </a:rPr>
              <a:t>Closing line: “The project is academically valuable because it is honest about what works, what does not, and what cannot be deployed.”</a:t>
            </a:r>
          </a:p>
        </p:txBody>
      </p:sp>
    </p:spTree>
    <p:extLst>
      <p:ext uri="{BB962C8B-B14F-4D97-AF65-F5344CB8AC3E}">
        <p14:creationId xmlns:p14="http://schemas.microsoft.com/office/powerpoint/2010/main" val="1203703211"/>
      </p:ext>
    </p:extLst>
  </p:cSld>
</p:sld>
</file>

<file path=ppt/theme/theme1.xml><?xml version="1.0" encoding="utf-8"?>
<a:theme xmlns:a="http://schemas.openxmlformats.org/drawingml/2006/main" name="CapstoneDark">
  <a:themeElements>
    <a:clrScheme name="CapstoneDark">
      <a:accent1>
        <a:srgbClr val="14A38B"/>
      </a:accent1>
      <a:accent2>
        <a:srgbClr val="E8A020"/>
      </a:accent2>
    </a:clrScheme>
    <a:fontScheme name="Office">
      <a:majorFont>
        <a:latin typeface="Calibri Light"/>
        <a:ea typeface="Calibri Light"/>
        <a:cs typeface="Calibri Light"/>
      </a:majorFont>
      <a:minorFont>
        <a:latin typeface="Calibri"/>
        <a:ea typeface="Calibri"/>
        <a:cs typeface="Calibri"/>
      </a:minorFont>
    </a:fontScheme>
    <a:fmtScheme name="CapstoneDark">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2026-06-16T12:51:03.4080000Z</dcterms:created>
  <dcterms:modified xsi:type="dcterms:W3CDTF">2026-06-16T12:51:03.4080000Z</dcterms:modified>
</coreProperties>
</file>
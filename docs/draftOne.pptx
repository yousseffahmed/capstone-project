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5886d6d1b4c12" /><Relationship Type="http://schemas.openxmlformats.org/officeDocument/2006/relationships/extended-properties" Target="/docProps/app.xml" Id="R114bf93851114d67" /><Relationship Type="http://schemas.openxmlformats.org/officeDocument/2006/relationships/officeDocument" Target="/ppt/presentation.xml" Id="Ra4734d03fcde4b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b415c112449f7"/>
  </p:sldMasterIdLst>
  <p:notesMasterIdLst>
    <p:notesMasterId xmlns:r="http://schemas.openxmlformats.org/officeDocument/2006/relationships" r:id="Rb13e4031a20c42eb"/>
  </p:notesMasterIdLst>
  <p:sldIdLst>
    <p:sldId xmlns:r="http://schemas.openxmlformats.org/officeDocument/2006/relationships" id="256" r:id="Re643c1a47f754a3d"/>
    <p:sldId xmlns:r="http://schemas.openxmlformats.org/officeDocument/2006/relationships" id="257" r:id="Ra3e7f1d67d6a44bd"/>
    <p:sldId xmlns:r="http://schemas.openxmlformats.org/officeDocument/2006/relationships" id="258" r:id="R430239f6a0424874"/>
    <p:sldId xmlns:r="http://schemas.openxmlformats.org/officeDocument/2006/relationships" id="259" r:id="R416b8477668e4ced"/>
    <p:sldId xmlns:r="http://schemas.openxmlformats.org/officeDocument/2006/relationships" id="260" r:id="Rb97f964ea16d404f"/>
    <p:sldId xmlns:r="http://schemas.openxmlformats.org/officeDocument/2006/relationships" id="261" r:id="Rf6b70084c2944aba"/>
    <p:sldId xmlns:r="http://schemas.openxmlformats.org/officeDocument/2006/relationships" id="262" r:id="Rddb9e3e3bd5a49c1"/>
    <p:sldId xmlns:r="http://schemas.openxmlformats.org/officeDocument/2006/relationships" id="263" r:id="Rf8def42074b54d75"/>
    <p:sldId xmlns:r="http://schemas.openxmlformats.org/officeDocument/2006/relationships" id="264" r:id="Rbe5eb2b658e5496c"/>
    <p:sldId xmlns:r="http://schemas.openxmlformats.org/officeDocument/2006/relationships" id="265" r:id="R6d9076a9764e414c"/>
    <p:sldId xmlns:r="http://schemas.openxmlformats.org/officeDocument/2006/relationships" id="266" r:id="R2fcbbbda8bb7417d"/>
    <p:sldId xmlns:r="http://schemas.openxmlformats.org/officeDocument/2006/relationships" id="267" r:id="Rf0c03b9579d843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b415c112449f7" /><Relationship Type="http://schemas.openxmlformats.org/officeDocument/2006/relationships/theme" Target="/ppt/theme/theme1.xml" Id="Rc5e0da1236884e48" /><Relationship Type="http://schemas.openxmlformats.org/officeDocument/2006/relationships/notesMaster" Target="/ppt/notesMasters/notesMaster1.xml" Id="Rb13e4031a20c42eb" /><Relationship Type="http://schemas.openxmlformats.org/officeDocument/2006/relationships/presProps" Target="/ppt/presProps.xml" Id="Rb181891f9d914829" /><Relationship Type="http://schemas.openxmlformats.org/officeDocument/2006/relationships/viewProps" Target="/ppt/viewProps.xml" Id="Rbe902524bd4d436d" /><Relationship Type="http://schemas.openxmlformats.org/officeDocument/2006/relationships/tableStyles" Target="/ppt/tableStyles.xml" Id="Ra3e73f140d734ee0" /><Relationship Type="http://schemas.openxmlformats.org/officeDocument/2006/relationships/slide" Target="/ppt/slides/slide1.xml" Id="Re643c1a47f754a3d" /><Relationship Type="http://schemas.openxmlformats.org/officeDocument/2006/relationships/slide" Target="/ppt/slides/slide2.xml" Id="Ra3e7f1d67d6a44bd" /><Relationship Type="http://schemas.openxmlformats.org/officeDocument/2006/relationships/slide" Target="/ppt/slides/slide3.xml" Id="R430239f6a0424874" /><Relationship Type="http://schemas.openxmlformats.org/officeDocument/2006/relationships/slide" Target="/ppt/slides/slide4.xml" Id="R416b8477668e4ced" /><Relationship Type="http://schemas.openxmlformats.org/officeDocument/2006/relationships/slide" Target="/ppt/slides/slide5.xml" Id="Rb97f964ea16d404f" /><Relationship Type="http://schemas.openxmlformats.org/officeDocument/2006/relationships/slide" Target="/ppt/slides/slide6.xml" Id="Rf6b70084c2944aba" /><Relationship Type="http://schemas.openxmlformats.org/officeDocument/2006/relationships/slide" Target="/ppt/slides/slide7.xml" Id="Rddb9e3e3bd5a49c1" /><Relationship Type="http://schemas.openxmlformats.org/officeDocument/2006/relationships/slide" Target="/ppt/slides/slide8.xml" Id="Rf8def42074b54d75" /><Relationship Type="http://schemas.openxmlformats.org/officeDocument/2006/relationships/slide" Target="/ppt/slides/slide9.xml" Id="Rbe5eb2b658e5496c" /><Relationship Type="http://schemas.openxmlformats.org/officeDocument/2006/relationships/slide" Target="/ppt/slides/slide10.xml" Id="R6d9076a9764e414c" /><Relationship Type="http://schemas.openxmlformats.org/officeDocument/2006/relationships/slide" Target="/ppt/slides/slide11.xml" Id="R2fcbbbda8bb7417d" /><Relationship Type="http://schemas.openxmlformats.org/officeDocument/2006/relationships/slide" Target="/ppt/slides/slide12.xml" Id="Rf0c03b9579d843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6f16fea93642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apstoneDark">
  <a:themeElements>
    <a:clrScheme name="CapstoneDark">
      <a:accent1>
        <a:srgbClr val="14A38B"/>
      </a:accent1>
      <a:accent2>
        <a:srgbClr val="E8A02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pstone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7fb7de991f4ead" /><Relationship Type="http://schemas.openxmlformats.org/officeDocument/2006/relationships/notesMaster" Target="/ppt/notesMasters/notesMaster1.xml" Id="R3e105e8fcc124d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56d47d6c354ff8" /><Relationship Type="http://schemas.openxmlformats.org/officeDocument/2006/relationships/notesMaster" Target="/ppt/notesMasters/notesMaster1.xml" Id="Rc78a442d253d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8024efbb174cb6" /><Relationship Type="http://schemas.openxmlformats.org/officeDocument/2006/relationships/notesMaster" Target="/ppt/notesMasters/notesMaster1.xml" Id="Re7d7887d552242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b4795e03a44225" /><Relationship Type="http://schemas.openxmlformats.org/officeDocument/2006/relationships/notesMaster" Target="/ppt/notesMasters/notesMaster1.xml" Id="R7ac6665e32144f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73f4bd037d434a" /><Relationship Type="http://schemas.openxmlformats.org/officeDocument/2006/relationships/notesMaster" Target="/ppt/notesMasters/notesMaster1.xml" Id="R9e424f5796794d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43876aa6f240bc" /><Relationship Type="http://schemas.openxmlformats.org/officeDocument/2006/relationships/notesMaster" Target="/ppt/notesMasters/notesMaster1.xml" Id="Recb3eea126e04c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6add300b8d4edc" /><Relationship Type="http://schemas.openxmlformats.org/officeDocument/2006/relationships/notesMaster" Target="/ppt/notesMasters/notesMaster1.xml" Id="R1faf0d2bfd2540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4073b4171c4f20" /><Relationship Type="http://schemas.openxmlformats.org/officeDocument/2006/relationships/notesMaster" Target="/ppt/notesMasters/notesMaster1.xml" Id="Rc17347338fac4e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9f2f2a3ca404f" /><Relationship Type="http://schemas.openxmlformats.org/officeDocument/2006/relationships/notesMaster" Target="/ppt/notesMasters/notesMaster1.xml" Id="Rea15976c04474a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c431e99e61454e" /><Relationship Type="http://schemas.openxmlformats.org/officeDocument/2006/relationships/notesMaster" Target="/ppt/notesMasters/notesMaster1.xml" Id="R094e7d071f6c49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f4469b685b43bc" /><Relationship Type="http://schemas.openxmlformats.org/officeDocument/2006/relationships/notesMaster" Target="/ppt/notesMasters/notesMaster1.xml" Id="R036ceb97138544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54fa4c8e9b4d1b" /><Relationship Type="http://schemas.openxmlformats.org/officeDocument/2006/relationships/notesMaster" Target="/ppt/notesMasters/notesMaster1.xml" Id="R03a2c0b0cdc24a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state that this is a 25-minute group defense split into five 5-minute parts.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0362dd2da4b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1E526BF9-A269-4542-956D-EC9302411B0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208756C-E05A-468D-A5EC-C4945FFC691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C1BB37-1DA3-4DDE-B191-10AB2BFDA07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E5D400-A6AA-4630-A895-DBAFA884A91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91b119b09324fda" /><Relationship Type="http://schemas.openxmlformats.org/officeDocument/2006/relationships/slideLayout" Target="/ppt/slideLayouts/slideLayout2.xml" Id="R54e59799a07848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72A54E-56D4-427B-938A-7BE1F34C85F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e59799a07848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f02f5e66524996" /><Relationship Type="http://schemas.openxmlformats.org/officeDocument/2006/relationships/notesSlide" Target="/ppt/notesSlides/notesSlide1.xml" Id="R6f0b7f2ee14d44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841279f39540d4" /><Relationship Type="http://schemas.openxmlformats.org/officeDocument/2006/relationships/notesSlide" Target="/ppt/notesSlides/notesSlide2.xml" Id="Re2fdafb9dc2c44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3ad7b858c4105" /><Relationship Type="http://schemas.openxmlformats.org/officeDocument/2006/relationships/notesSlide" Target="/ppt/notesSlides/notesSlide3.xml" Id="R0373480d58cd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22b10e7fe24400" /><Relationship Type="http://schemas.openxmlformats.org/officeDocument/2006/relationships/notesSlide" Target="/ppt/notesSlides/notesSlide4.xml" Id="Rf016d3d019c94f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6612fcff1843a7" /><Relationship Type="http://schemas.openxmlformats.org/officeDocument/2006/relationships/image" Target="/ppt/media/image.png" Id="Re39f5089f02445b2" /><Relationship Type="http://schemas.openxmlformats.org/officeDocument/2006/relationships/notesSlide" Target="/ppt/notesSlides/notesSlide5.xml" Id="Ra792ae8a687542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a15925b22478d" /><Relationship Type="http://schemas.openxmlformats.org/officeDocument/2006/relationships/notesSlide" Target="/ppt/notesSlides/notesSlide6.xml" Id="R74e1216b601842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bfda9d9f2a4b80" /><Relationship Type="http://schemas.openxmlformats.org/officeDocument/2006/relationships/notesSlide" Target="/ppt/notesSlides/notesSlide7.xml" Id="Rbb2ca79fa65e45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779940de174c23" /><Relationship Type="http://schemas.openxmlformats.org/officeDocument/2006/relationships/image" Target="/ppt/media/image2.png" Id="R5d6f506deafe463e" /><Relationship Type="http://schemas.openxmlformats.org/officeDocument/2006/relationships/notesSlide" Target="/ppt/notesSlides/notesSlide8.xml" Id="R0d421e645d8c4f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6f5220ffff4159" /><Relationship Type="http://schemas.openxmlformats.org/officeDocument/2006/relationships/notesSlide" Target="/ppt/notesSlides/notesSlide9.xml" Id="Ra2a041c3c08047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7852c83e4c42a0" /><Relationship Type="http://schemas.openxmlformats.org/officeDocument/2006/relationships/image" Target="/ppt/media/image3.png" Id="R67ef285b6c17481c" /><Relationship Type="http://schemas.openxmlformats.org/officeDocument/2006/relationships/notesSlide" Target="/ppt/notesSlides/notesSlide10.xml" Id="Rc26af194926e4f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666d97407a4f0d" /><Relationship Type="http://schemas.openxmlformats.org/officeDocument/2006/relationships/notesSlide" Target="/ppt/notesSlides/notesSlide11.xml" Id="Rf2312d0f0aea49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b03bc566a4076" /><Relationship Type="http://schemas.openxmlformats.org/officeDocument/2006/relationships/notesSlide" Target="/ppt/notesSlides/notesSlide12.xml" Id="R25ba2eb9b9e548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22629-5654-4956-8A3E-5F8ACE6C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77B8C-00A2-4407-8287-AE85040D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76358-E968-4EDA-86C6-88E3CDDE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4714C-FA2B-40F7-B264-C220C979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draftOne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10190-4CFE-4D51-B419-B65D180D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9374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F0EE"/>
                </a:solidFill>
              </a:defRPr>
            </a:pPr>
            <a:r>
              <a:rPr sz="3300" b="1">
                <a:solidFill>
                  <a:srgbClr val="E8F0EE"/>
                </a:solidFill>
              </a:rPr>
              <a:t>Trustworthy PM2.5 Where There Is No Sensor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651B1-C557-4DC4-980D-18D86024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FB3BE"/>
                </a:solidFill>
              </a:defRPr>
            </a:pPr>
            <a:r>
              <a:rPr sz="1650" b="0">
                <a:solidFill>
                  <a:srgbClr val="9FB3BE"/>
                </a:solidFill>
              </a:rPr>
              <a:t>A five-person capstone defense flow for the Kampala air-quality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E9560-67CA-4DF8-B6D8-69BB5BBF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2095500" cy="3238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241F"/>
                </a:solidFill>
              </a:defRPr>
            </a:pPr>
            <a:r>
              <a:rPr sz="1050" b="1">
                <a:solidFill>
                  <a:srgbClr val="06241F"/>
                </a:solidFill>
              </a:rPr>
              <a:t>NOW: k=4 accepted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75048-9E19-4D9C-8B1F-7ED98BBE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2381250" cy="3238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241F"/>
                </a:solidFill>
              </a:defRPr>
            </a:pPr>
            <a:r>
              <a:rPr sz="1050" b="1">
                <a:solidFill>
                  <a:srgbClr val="06241F"/>
                </a:solidFill>
              </a:rPr>
              <a:t>FUTURE: LSTM headline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F20E1-19DD-4F68-AA9F-4B0B8589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90800"/>
            <a:ext cx="2095500" cy="3238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241F"/>
                </a:solidFill>
              </a:defRPr>
            </a:pPr>
            <a:r>
              <a:rPr sz="1050" b="1">
                <a:solidFill>
                  <a:srgbClr val="06241F"/>
                </a:solidFill>
              </a:rPr>
              <a:t>k=6: research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10A48-7866-4745-9A03-32328C80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619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45087-094B-4E83-9870-B6F0222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31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A38B"/>
                </a:solidFill>
              </a:defRPr>
            </a:pPr>
            <a:r>
              <a:rPr sz="2250" b="1">
                <a:solidFill>
                  <a:srgbClr val="14A38B"/>
                </a:solidFill>
              </a:rPr>
              <a:t>39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4CCCB-6D80-4917-BF1D-AFE0ECDB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AirQo sensor sites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1FB3B-B642-46D9-B1F8-8383AA10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05250"/>
            <a:ext cx="1809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27C83-38B3-4D4B-B89D-5B7DAED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767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A020"/>
                </a:solidFill>
              </a:defRPr>
            </a:pPr>
            <a:r>
              <a:rPr sz="2250" b="1">
                <a:solidFill>
                  <a:srgbClr val="E8A020"/>
                </a:solidFill>
              </a:rPr>
              <a:t>13,944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6F38E-6E08-450F-B37D-F701AE5A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958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site-days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BEE12-2C2F-4CA1-A8FC-2A76BB94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A4896-00F1-4771-A330-0947CAD7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68%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BCF7D-2FA0-4368-BB40-A512F6AA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958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NOW exact safety tier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515EE-D3FC-4BE9-926E-3AA523EE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2000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6F240-D8A6-498B-9130-ECC68FE2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767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98.5%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D44DF-9F5B-47EB-B32D-35B0C090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within one tier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4C37D-9648-41BA-BAA6-3374BF67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47750"/>
            <a:ext cx="2095500" cy="4286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0215D-A0F0-4E87-91FC-E7108425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47750"/>
            <a:ext cx="476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CCA00-27C7-4949-A100-46887DE1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001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Core defense 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C4080-D797-49D8-8D8F-2F572DD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33525"/>
            <a:ext cx="16764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We did not replace the model just because one score looked better. The final recommendation separates deployable models from oracle upper bounds.</a:t>
            </a:r>
          </a:p>
        </p:txBody>
      </p:sp>
    </p:spTree>
    <p:extLst>
      <p:ext uri="{BB962C8B-B14F-4D97-AF65-F5344CB8AC3E}">
        <p14:creationId xmlns:p14="http://schemas.microsoft.com/office/powerpoint/2010/main" val="1617093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A4175-4AD6-4773-9D8E-9B7C108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187A5-3D12-4EF1-A3FC-155EABAF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AC07-1EED-4B90-83A4-36F6E3C5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74081-8BBC-4DE2-B4AD-7B411A3D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5 presenters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6D8A3-C982-4595-BCAA-561B67A3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Who Presents What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9EA2B-1FAA-407B-8F54-1F3FE381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Each person owns one clear part of the research 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391D9-DD30-44CF-839D-C62BAE98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81200" cy="2476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0A9C9-576E-4278-92BC-55EC63EA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0B8AA-DC88-48B3-8699-F563486B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694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Person 1 · Problem +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8C87C-3F16-4A10-A079-280799CB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1562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Why random-split PM2.5 models fail at new sites.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496F1-4986-4A31-BDEC-DB53568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981200" cy="2476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DEA64-1E2D-49DA-926A-0ABAB00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37011-B8ED-4DE3-AC80-12122173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036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Person 2 · NOW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855E2-AD16-40D7-A7A1-9646CEAD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67025"/>
            <a:ext cx="1562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Categorize-then-predict and why k=4 remains accepted.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B52BE-E725-4746-9990-2C1C0CBE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981200" cy="2476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9ED53-8A24-4D2D-BC28-5E71354A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BCB2D-44EA-421C-A145-B390D597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336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7885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Person 3 · Planner Tool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FCDF1-A568-4183-9A79-51669378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67025"/>
            <a:ext cx="1562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Geodata, EPA safety tiers, and the prototype.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32B47-EAD0-47C0-9889-75D945C4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981200" cy="2476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5151D-EBBD-4C19-AC5C-4851D354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D7ABF-3F9F-4EAB-912C-64FD309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6366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Person 4 · FUTURE Forecast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08CFA-9B6E-46CB-BF96-7CEFDFD2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67025"/>
            <a:ext cx="1562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LSTM headline and RF / rolling-7 challengers.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227DF-029C-494C-BF1B-1422B46E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981200" cy="2476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68A8EC-C204-451E-A9A7-F9C8452D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2FA5C-8510-4DF6-8232-DC6A3342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336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55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Person 5 · Final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CF8C0-AEA3-4044-956A-899288BD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67025"/>
            <a:ext cx="15621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What to claim, what not to claim, final recommendation.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84969-FD07-488A-85BE-544877E5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F0EE"/>
                </a:solidFill>
              </a:defRPr>
            </a:pPr>
            <a:r>
              <a:rPr sz="1650" b="1">
                <a:solidFill>
                  <a:srgbClr val="E8F0EE"/>
                </a:solidFill>
              </a:rPr>
              <a:t>Timing target: 5 minutes per presenter · 25 minutes total</a:t>
            </a:r>
          </a:p>
        </p:txBody>
      </p:sp>
    </p:spTree>
    <p:extLst>
      <p:ext uri="{BB962C8B-B14F-4D97-AF65-F5344CB8AC3E}">
        <p14:creationId xmlns:p14="http://schemas.microsoft.com/office/powerpoint/2010/main" val="50274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D705C-4A2C-45F0-A9A3-CCB27BBC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3FFC5-BB84-42C1-A82F-928ECB6A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FDCAF-4AE7-4F26-A2F3-610D36E6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6D5E6-89D0-47E8-BAA4-22AA0B64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85872-7A5C-4482-A1A0-E72FEC8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The Real Question Is Generalization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162E6-6BD0-4AAC-B719-B1AD05E8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The project is about whether the model works at places and times it has not seen.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6AECA-2EB7-48EC-9F22-FB8FFD20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CA55D-4257-4F09-A521-58463048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5A4C"/>
                </a:solidFill>
              </a:defRPr>
            </a:pPr>
            <a:r>
              <a:rPr sz="2250" b="1">
                <a:solidFill>
                  <a:srgbClr val="EC5A4C"/>
                </a:solidFill>
              </a:rPr>
              <a:t>0.81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21C5F-5F08-4A77-A73D-BB013DA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leaky random split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531AE-4F17-4C3B-9A60-60C60DBD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2381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13936-15F4-4853-90E4-8BFCC59B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A020"/>
                </a:solidFill>
              </a:defRPr>
            </a:pPr>
            <a:r>
              <a:rPr sz="2250" b="1">
                <a:solidFill>
                  <a:srgbClr val="E8A020"/>
                </a:solidFill>
              </a:rPr>
              <a:t>0.316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762C9-C9CB-421F-92A9-6B6A284A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71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honest new-site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5BD95-E3C0-4814-B638-E8372E51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381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9AA49-69E0-46AA-923B-DB5D4716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A38B"/>
                </a:solidFill>
              </a:defRPr>
            </a:pPr>
            <a:r>
              <a:rPr sz="2250" b="1">
                <a:solidFill>
                  <a:srgbClr val="14A38B"/>
                </a:solidFill>
              </a:rPr>
              <a:t>+1…+7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6795F-0B1E-4577-832C-6DA82ED4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future forecast horizons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554DC-4BF0-4F66-9F55-4F7F80D1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571750" cy="2095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2F0F3-AF9D-47E0-9EEC-B778087C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1132A-59AF-4CA1-83AA-97A5F8C9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Defense 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33618-CEBE-46DB-98DE-3EFAA1AD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81275"/>
            <a:ext cx="2152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A planner needs PM2.5 at a sensor-less location, not just gap-filling at sensors already seen during training.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FB7F8-E287-471B-AEEF-C6E8B829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B4803C-C64F-4B47-9601-8EE9FB49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0125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NOW: predict today at a held-out site.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67734-1515-4C43-90F1-DC323568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60555-7826-4492-9527-64B5C063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72075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FUTURE: forecast ahead at known sites using past history.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AE4343-788E-4DD0-AEB9-83FF598D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971E0-6170-4B97-9166-A1162E4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34025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3BE"/>
                </a:solidFill>
              </a:defRPr>
            </a:pPr>
            <a:r>
              <a:rPr sz="1425" b="0">
                <a:solidFill>
                  <a:srgbClr val="9FB3BE"/>
                </a:solidFill>
              </a:rPr>
              <a:t>Different question, different honest test, different accepted model.</a:t>
            </a:r>
          </a:p>
        </p:txBody>
      </p:sp>
    </p:spTree>
    <p:extLst>
      <p:ext uri="{BB962C8B-B14F-4D97-AF65-F5344CB8AC3E}">
        <p14:creationId xmlns:p14="http://schemas.microsoft.com/office/powerpoint/2010/main" val="2741577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09D7C-C801-4EBD-9ABC-32A4A653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73414-260C-4101-B622-34BB0899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61973-36BC-4760-A648-4224828F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C2A82-B93B-4B22-A9E2-E7C17D7D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AFD80-775B-4D29-A8C5-536723C7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Data and Feature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81760-4623-4601-8CEA-264C5AF0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The strongest defense starts with what the model was allowed to know.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D9159-D9C9-4B37-9494-D3784932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71450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369A9-34ED-405B-B50C-37AB1FE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A38B"/>
                </a:solidFill>
              </a:defRPr>
            </a:pPr>
            <a:r>
              <a:rPr sz="2250" b="1">
                <a:solidFill>
                  <a:srgbClr val="14A38B"/>
                </a:solidFill>
              </a:rPr>
              <a:t>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90204-327D-4D1A-85D3-99D88531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sensor sites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C8A29-F63E-4232-ADC7-03D60A48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43125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0E310-9514-460B-8F25-10BE7DCE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14575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A020"/>
                </a:solidFill>
              </a:defRPr>
            </a:pPr>
            <a:r>
              <a:rPr sz="2250" b="1">
                <a:solidFill>
                  <a:srgbClr val="E8A020"/>
                </a:solidFill>
              </a:rPr>
              <a:t>2019–2020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B9BB8-6ED5-4A6D-B190-DA5EA5B5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3367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daily PM2.5 panel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364C2-9E53-4116-8930-7FA011EE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2000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283F0-1190-41C6-A729-D7DB2E09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4575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~84%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6B3AC-2E60-4E5C-88AB-D0320F1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3367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daily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73700-BA9C-4937-B793-DA15D6F5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314325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2FDA5-5A50-4F65-9A86-C3446EF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49112-DBB1-40BE-BE9B-CBB6DBD7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Allowed inputs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72AAC-0129-4505-980C-4390CCF8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00525"/>
            <a:ext cx="2724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Weather, location, calendar, road density, distance to major road, elevation, and optional PM2.5 history for deploy windows.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F59B3-E0FB-4827-8700-ADBF3AAE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314325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E4F59-D58B-4B90-B511-F77484B0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D4551-BE27-4325-8B54-5DCE922C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Banned inputs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C89F0-3CBC-4AF6-ADB9-85B7CA03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00525"/>
            <a:ext cx="2724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pm10 and n_obs are target-coupled or unavailable at a sensor-less site. Using them would manufacture a fake win.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81515-ADFC-4B98-A476-A022DF1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314325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7151E-B57E-456A-8E89-61D616F5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F6B36-098A-4A8A-8C65-FDB97DBA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Key distinction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9F364D-6D6C-434D-B8B2-38A73B1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00525"/>
            <a:ext cx="2724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Zero-deploy features are available immediately. Short-deploy features require temporary PM2.5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153076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7A03E-AA44-4815-9E5D-6A58A62C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8BC44-7DF7-46B5-A416-09F5FC2A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63AE-7F99-4C8A-9EF9-92E883D2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9DDC1-1061-46DF-A736-A4F5BFA9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397FA-EFDD-468E-8003-F7B4D595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Categorize, Then Predict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2C4FB-11BE-4BD1-9061-C91D9017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A new site becomes a kind of place, not a stranger.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f5089f02445b2"/>
          <a:stretch xmlns:a="http://schemas.openxmlformats.org/drawingml/2006/main"/>
        </p:blipFill>
        <p:spPr>
          <a:xfrm xmlns:a="http://schemas.openxmlformats.org/drawingml/2006/main">
            <a:off x="666750" y="2265045"/>
            <a:ext cx="6096000" cy="280416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0026C-53BC-4021-AF7B-6DD0365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3714750" cy="1333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FB0DA-6DE3-4B44-BF9D-A3514D9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A63AD-B112-4ED5-A4FB-B197E22F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5265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Mechanism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F2885-78C5-4B1A-8DDE-C4EF45F6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86025"/>
            <a:ext cx="3295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Kampala weather is near-uniform. The blind model misses site baseline level; category gives a learned regime intercept.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22898-A59B-462C-B5AF-69AC7F7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1875"/>
            <a:ext cx="3714750" cy="1428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4ABF2-4B85-4B15-AA24-2481259E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18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DB3E7-92EA-4386-9DE4-7E9758B4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24275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D654D-0274-46C5-8254-AF811580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57650"/>
            <a:ext cx="3295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Categorization lifts honest new-site performance versus the blind pooled model. Mixture-of-experts collapses under noisy category assignment.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61911-9E19-4ACC-B124-2536447D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FB3BE"/>
                </a:solidFill>
              </a:defRPr>
            </a:pPr>
            <a:r>
              <a:rPr sz="1350" b="0">
                <a:solidFill>
                  <a:srgbClr val="9FB3BE"/>
                </a:solidFill>
              </a:rPr>
              <a:t>Presenter handoff: “Now we know categorization helps. But how many categories should we trust?”</a:t>
            </a:r>
          </a:p>
        </p:txBody>
      </p:sp>
    </p:spTree>
    <p:extLst>
      <p:ext uri="{BB962C8B-B14F-4D97-AF65-F5344CB8AC3E}">
        <p14:creationId xmlns:p14="http://schemas.microsoft.com/office/powerpoint/2010/main" val="1670921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DC91D-581A-48B3-B4DE-443B2AFB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20154-C26B-47B4-83A0-12627F6F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3B731-E4ED-42FB-9D01-C2434C68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B3878-FC69-456D-8857-EA543D29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ADAE8-F693-4670-811E-F0B349A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Why k=4 Stays Accepted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04FB1-B619-4B68-B448-EE2DE3B8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k=6 is scientifically interesting, but not production-ready.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A420B-90BB-4D8B-9102-7DDB885E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47650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39211-AB51-428B-9139-E4A5AFE9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k=4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DBFF6-BC5D-4BA7-ACBE-3F805C9F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accepted NOW / safety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13B3-EFA5-4F9B-AAC0-3D4F09D4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381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EC675-5B3F-4FA4-8EC2-EC3DCB7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717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A020"/>
                </a:solidFill>
              </a:defRPr>
            </a:pPr>
            <a:r>
              <a:rPr sz="2250" b="1">
                <a:solidFill>
                  <a:srgbClr val="E8A020"/>
                </a:solidFill>
              </a:rPr>
              <a:t>k=6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457DF-1DF6-4F00-8287-18E8A8DF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90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meaningful but fragile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8B465-4F4B-4506-944F-967CCB31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66700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DDBFF-0285-4879-B3C2-0306F6E7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A38B"/>
                </a:solidFill>
              </a:defRPr>
            </a:pPr>
            <a:r>
              <a:rPr sz="2250" b="1">
                <a:solidFill>
                  <a:srgbClr val="14A38B"/>
                </a:solidFill>
              </a:rPr>
              <a:t>0.506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E5B2A-4F9B-4846-A713-F7893AC9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best deployable k=6, 45 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816C1-4024-4031-B345-B4CAA426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09550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7A6A8-A05F-4878-8CD6-ECE1F5BE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5A4C"/>
                </a:solidFill>
              </a:defRPr>
            </a:pPr>
            <a:r>
              <a:rPr sz="2250" b="1">
                <a:solidFill>
                  <a:srgbClr val="EC5A4C"/>
                </a:solidFill>
              </a:rPr>
              <a:t>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545F6-91CE-4CD2-BE42-79BC2EB8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908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production replacement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3DA7B-6546-4A8B-8DC2-B37566D7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4572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8003F9-2DD6-4615-B692-41144B2D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73B11-621C-494F-B97C-747310ED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What k=6 teaches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534F5-9041-45AF-AA4B-AC612097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4152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It splits finer pollution regimes by level, volatility, ventilation, and humidity. But with only 39 sites, some groups become tiny.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91117-50A7-4DA6-BA79-A1BC08B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4572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EE54A-9A93-404E-8ABF-1F80884B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2EE84-CEFC-4559-87A0-239BF673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0025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Final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21E3D-E43C-4B1E-AA69-70F73B84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4152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Full-history k=6 uses held-out PM2.5 behavior, so it is a non-deployable upper bound. Deployable k=6 does not beat k=4.</a:t>
            </a:r>
          </a:p>
        </p:txBody>
      </p:sp>
    </p:spTree>
    <p:extLst>
      <p:ext uri="{BB962C8B-B14F-4D97-AF65-F5344CB8AC3E}">
        <p14:creationId xmlns:p14="http://schemas.microsoft.com/office/powerpoint/2010/main" val="487500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DFE45-A056-4CD8-989F-ABAE896A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F858A-1F99-4402-9E7F-7568B5A8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05929-7E45-4E6D-924D-F707F870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C61D6-66E1-4F58-B92D-E50935F8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EC52C-DEEA-432A-AE20-9DF6D713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Geodata Makes the Tool Practical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F6603-952C-4C32-A436-225AAD82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Free urban data gives a zero-deploy signal, but not the whole category.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DFFF8-0B5E-43C4-A4B7-03685B42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AB01D-F222-44B7-A3D5-3C45F3D9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A38B"/>
                </a:solidFill>
              </a:defRPr>
            </a:pPr>
            <a:r>
              <a:rPr sz="2250" b="1">
                <a:solidFill>
                  <a:srgbClr val="14A38B"/>
                </a:solidFill>
              </a:rPr>
              <a:t>0.421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77508-8CCD-4F89-B190-6F9930C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geodata-only new-site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F3520-5E2D-42AD-80DB-EC8490E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2381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540D8-3421-4B96-89D6-A5A7E33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0.547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EF991-B48F-43C1-9BEE-F94A6536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860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category + geodata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A753C-CBC5-41E6-8573-14D334CC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47650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D147E-7D7D-4DE2-9EF2-C4CE059D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5A4C"/>
                </a:solidFill>
              </a:defRPr>
            </a:pPr>
            <a:r>
              <a:rPr sz="2250" b="1">
                <a:solidFill>
                  <a:srgbClr val="EC5A4C"/>
                </a:solidFill>
              </a:rPr>
              <a:t>0.538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ED202-51B9-455E-97AE-87289535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geodata→category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9474E-9F5C-43FC-AADD-A5F64F6B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05000"/>
            <a:ext cx="2190750" cy="18097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3DC12-B93A-46D4-9E79-B474D41D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050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F9681-22B3-4324-842F-AFEE8F3C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57400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506BD-BB3A-4729-BEF6-117777F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90775"/>
            <a:ext cx="1771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Geodata helps regression directly, but it cannot reliably name the pollution regime.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76951-A18D-4685-AE75-A06EDFB4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BBB61-BDED-468C-9304-7F9AD0BA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76750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OSM road density and distance to major road capture traffic exposure.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09066-913B-4CDD-8664-4D2CE5F6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5119C-5211-491D-B9F9-DAF72CF4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857750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SRTM elevation adds static terrain signal.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18927C-00DD-4DE5-87CB-B820A079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62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638CF-5D85-48A2-B6C9-D5E75EA8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238750"/>
            <a:ext cx="836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3BE"/>
                </a:solidFill>
              </a:defRPr>
            </a:pPr>
            <a:r>
              <a:rPr sz="1425" b="0">
                <a:solidFill>
                  <a:srgbClr val="9FB3BE"/>
                </a:solidFill>
              </a:rPr>
              <a:t>Building density was tested and documented as a small/negative lever.</a:t>
            </a:r>
          </a:p>
        </p:txBody>
      </p:sp>
    </p:spTree>
    <p:extLst>
      <p:ext uri="{BB962C8B-B14F-4D97-AF65-F5344CB8AC3E}">
        <p14:creationId xmlns:p14="http://schemas.microsoft.com/office/powerpoint/2010/main" val="703998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EC2A5-107A-4CA8-9EE0-81179923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9C933-44DA-415C-BBA7-E949F4F1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8211-90B8-4276-A84D-D9385C5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48625-2093-4CC7-AE37-1208FE50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A4D64-57AE-4983-94F1-8C08C045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From Regression to Planner Safety Tiers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F01F1-F153-4A92-A6A7-DE8FCEEC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The deliverable is a decision tool, not just a score table.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f506deafe463e"/>
          <a:stretch xmlns:a="http://schemas.openxmlformats.org/drawingml/2006/main"/>
        </p:blipFill>
        <p:spPr>
          <a:xfrm xmlns:a="http://schemas.openxmlformats.org/drawingml/2006/main">
            <a:off x="628650" y="2790418"/>
            <a:ext cx="5476875" cy="15629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FA7F4-9E4B-4B16-84D7-9EDFBD6D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A2737-2CDA-464F-AD86-37B7E099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24075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68%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48A44-B4F8-498A-9F2C-264667EF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4317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exact NOW safety tier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FE34E-C440-47A7-A4F2-00F258C8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000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4748C-645A-4721-B88B-314858D4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24075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98.5%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F4211-3375-4EC1-A069-8088C13C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4317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within one tier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0D9485-FC93-4F93-BB68-182C5970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476750" cy="12858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4C327-54D4-4261-A351-2C1466A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FD942-94FE-4C87-A9C3-D1266236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814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EPA bands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7C652-881C-44BA-8BBD-548F8071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14775"/>
            <a:ext cx="40576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Elevated ≤35.4 · High 35.5–55.4 · Dangerous &gt;55.4 µg/m³.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C5896-2F5A-48BA-A2DE-6DB7C116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476750" cy="9048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E4AE2-8489-48BF-8D46-AED2E94E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9EEC3-B58D-4C6B-8372-8B3206D0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05400"/>
            <a:ext cx="4057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Prototype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3DE9D-68A5-424F-B2EC-025DDCFE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38775"/>
            <a:ext cx="4057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135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The browser tool shows the safety map, prediction form, bands, and planner-tunable danger alert.</a:t>
            </a:r>
          </a:p>
        </p:txBody>
      </p:sp>
    </p:spTree>
    <p:extLst>
      <p:ext uri="{BB962C8B-B14F-4D97-AF65-F5344CB8AC3E}">
        <p14:creationId xmlns:p14="http://schemas.microsoft.com/office/powerpoint/2010/main" val="1055620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51096-1070-4BA7-8DC5-0B15FACA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61493-4893-4661-8C84-B0484FB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3DBCA-BEE8-43E2-85C8-3F41B06B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70C75-D55C-4C19-9A5C-391F190F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4A97F-6ABD-46A0-8D38-D730D4CB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FUTURE Forecasting Is a Separate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78CAA-6C2E-404B-8DCA-ED416D22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Known-site forecasting uses history, so it has a different deployment setting.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3FA1A-1CBD-4A07-852B-ED20D996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35B7D-C439-49B5-947D-99F8BB5D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A38B"/>
                </a:solidFill>
              </a:defRPr>
            </a:pPr>
            <a:r>
              <a:rPr sz="2250" b="1">
                <a:solidFill>
                  <a:srgbClr val="14A38B"/>
                </a:solidFill>
              </a:rPr>
              <a:t>0.506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C6F27-60FD-4EF1-AE8B-B416E4CE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LSTM +1 day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62044-F195-4D46-9AA8-9F06759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76298-CC85-431B-A3C6-1F64D83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A38B"/>
                </a:solidFill>
              </a:defRPr>
            </a:pPr>
            <a:r>
              <a:rPr sz="2250" b="1">
                <a:solidFill>
                  <a:srgbClr val="14A38B"/>
                </a:solidFill>
              </a:rPr>
              <a:t>0.477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58D58-C873-4A5A-A11C-C517B137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LSTM +3 day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0BCAD-C2A6-44E7-906F-208596C1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FCC29-5697-43FB-B089-5F9F0CE0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6695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A38B"/>
                </a:solidFill>
              </a:defRPr>
            </a:pPr>
            <a:r>
              <a:rPr sz="2250" b="1">
                <a:solidFill>
                  <a:srgbClr val="14A38B"/>
                </a:solidFill>
              </a:rPr>
              <a:t>0.432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38778-E509-4C6D-9A17-40FBD193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LSTM +7 day R²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06923-8B54-4A54-850E-99AB2448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47650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7B16F-4403-4348-B0B5-160C8358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5A4C"/>
                </a:solidFill>
              </a:defRPr>
            </a:pPr>
            <a:r>
              <a:rPr sz="2250" b="1">
                <a:solidFill>
                  <a:srgbClr val="EC5A4C"/>
                </a:solidFill>
              </a:rPr>
              <a:t>0.015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545F4-8483-41F0-8CCF-0D3372F2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+7 current persistence R²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23CE3-D3E9-4561-BF15-47926956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095750" cy="1476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794C2-2A0D-4D27-BC15-9746B128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66CBA-B8C2-4AF8-AA49-CEBDCE3C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Why LSTM earned headline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D4104-28E1-48B8-AA1B-154851C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81525"/>
            <a:ext cx="3676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It uses PM2.5 lag structure and category embedding, and it beats the original persistence / GBM-on-lags benchmark across horizons.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7B469-76A5-40AA-8A8D-35E74C77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095750" cy="1476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C00B5-CD8F-4114-921C-511E94A5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AE1A6-D24A-4C8B-AD99-67AADEE5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Deployability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C11ACF-5850-43A6-8BFF-E3E6688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525"/>
            <a:ext cx="3676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FUTURE models are not zero-deploy new-site models. They require known-site PM2.5 history.</a:t>
            </a:r>
          </a:p>
        </p:txBody>
      </p:sp>
    </p:spTree>
    <p:extLst>
      <p:ext uri="{BB962C8B-B14F-4D97-AF65-F5344CB8AC3E}">
        <p14:creationId xmlns:p14="http://schemas.microsoft.com/office/powerpoint/2010/main" val="93501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5748-B54B-4531-95C9-867FECD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2F1B0-89D7-4881-A0BD-97C7FAB3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4D530-E59E-434B-83C8-9CF73F4E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9BAC0-D36B-43AF-A133-0A7EA85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27513-CA45-4737-A0F3-A860B79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RF and Rolling-7 Are Challengers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CAE32-2CFF-4A07-B4BC-2FC5383F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The fair same-row benchmark narrows the claim without replacing the headline.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f285b6c17481c"/>
          <a:stretch xmlns:a="http://schemas.openxmlformats.org/drawingml/2006/main"/>
        </p:blipFill>
        <p:spPr>
          <a:xfrm xmlns:a="http://schemas.openxmlformats.org/drawingml/2006/main">
            <a:off x="685800" y="1921669"/>
            <a:ext cx="5905500" cy="339566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D8D4E-1044-4F4C-A179-9DB9BF74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05000"/>
            <a:ext cx="371475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80B4D-EEC1-4C07-8CF0-C368BB13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050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E06E9-D763-4FC3-9308-CB14D8A5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574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What changed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03EDC-EA75-453A-A934-7FD0DEA8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90775"/>
            <a:ext cx="3295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On identical rows, RF and rolling-7 are competitive and can win or tie at some horizons.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D911B-56E6-44BB-BEBB-29FC49E2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71475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A3406-1563-4147-A079-0C3433F8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EA440-0B1E-4944-AD3C-F7AA510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814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What did not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43CFA-50FA-4172-A384-EEEA2494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14775"/>
            <a:ext cx="3295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They do not justify a headline replacement. LSTM remains the accepted FUTURE model; RF/rolling-7 become formal challengers.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2FAC4-0F72-4877-8C5B-EDA6148E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53000"/>
            <a:ext cx="3714750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8D158-83DE-42DF-A906-11A5D5DA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530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08FE6-A1C8-4C75-9EA3-E9E8611D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1054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Do not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90C76-8C3B-4FC6-8E1E-39230E71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438775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875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“RF beats LSTM overall.” That is not supported.</a:t>
            </a:r>
          </a:p>
        </p:txBody>
      </p:sp>
    </p:spTree>
    <p:extLst>
      <p:ext uri="{BB962C8B-B14F-4D97-AF65-F5344CB8AC3E}">
        <p14:creationId xmlns:p14="http://schemas.microsoft.com/office/powerpoint/2010/main" val="709643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C71C-3C5E-45CA-8B51-A56018D4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5CFC4-59EE-4F84-8CA0-AB81D7D7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2CDD5-6AD9-4D72-B2E5-87957C5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E555F-CF69-46E9-9D22-4DB8FE25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Person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EB5D1-6B4C-4ADE-A607-A556ED40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Final Honest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48CF3-3273-47B2-819C-181D72CE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The audit improved the capstone by refusing unsupported upgrades.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D54D4-2B04-424F-AF14-DF08428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953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45856-8A2F-4A44-ABB8-B56E967E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8B"/>
          </a:solidFill>
          <a:ln xmlns:a="http://schemas.openxmlformats.org/drawingml/2006/main" w="0">
            <a:solidFill>
              <a:srgbClr val="14A38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E8738-12E2-42E3-BCB8-9EBDECC0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81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We separated deployable models from oracle upper bounds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087E0-6F05-416B-8AD1-F7CA9D03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86025"/>
            <a:ext cx="453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Full-history category assignment can be useful scientifically, but it is not available at a new site.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71F3B-04D5-414F-B9C7-EE07DDE7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953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D0D8E-EE62-48FF-BEA6-B1E4087D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020"/>
          </a:solidFill>
          <a:ln xmlns:a="http://schemas.openxmlformats.org/drawingml/2006/main" w="0">
            <a:solidFill>
              <a:srgbClr val="E8A02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38371-451C-499E-B73D-6EAB8F83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7853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We did not replace the model just because one score looked better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8D5E2-9B3A-4B6E-A4DB-9A1B5AAB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86025"/>
            <a:ext cx="4533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k=6 full-history looked strong, but deployable k=6 did not beat accepted k=4.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7148E-D5EA-48FB-B363-825ADD9E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953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AE61F-B73E-42FF-BE8A-21AE2836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A4C"/>
          </a:solidFill>
          <a:ln xmlns:a="http://schemas.openxmlformats.org/drawingml/2006/main" w="0">
            <a:solidFill>
              <a:srgbClr val="EC5A4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D6A5A-C067-4218-8641-FEBF3124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What not to claim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6251B-35F2-4260-9F77-0E8A52EE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00525"/>
            <a:ext cx="4533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Do not claim k=6 is production. Do not claim RF beats LSTM overall. Do not claim random split performance is real-world performance.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CCCED-10D5-4D15-A1E9-524B62DB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953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1C8B6-7E0D-4C42-8AE2-FA473F9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8A"/>
          </a:solidFill>
          <a:ln xmlns:a="http://schemas.openxmlformats.org/drawingml/2006/main" w="0">
            <a:solidFill>
              <a:srgbClr val="46C9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1E34E5-6706-4F5B-A212-E7FD9BB7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8F0EE"/>
                </a:solidFill>
              </a:defRPr>
            </a:pPr>
            <a:r>
              <a:rPr sz="1425" b="1">
                <a:solidFill>
                  <a:srgbClr val="E8F0EE"/>
                </a:solidFill>
              </a:rPr>
              <a:t>Defense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20959-77EC-4A9F-9DA7-268471CE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00525"/>
            <a:ext cx="4533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Use final_model_decision_table.csv, professor_summary.md, presentation_talking_points.md, and full_repository_audit.md.</a:t>
            </a:r>
          </a:p>
        </p:txBody>
      </p:sp>
    </p:spTree>
    <p:extLst>
      <p:ext uri="{BB962C8B-B14F-4D97-AF65-F5344CB8AC3E}">
        <p14:creationId xmlns:p14="http://schemas.microsoft.com/office/powerpoint/2010/main" val="376972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415BED-1B41-427D-98E0-92BDEE9140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04A4D-8976-4025-A44D-98D0424B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5"/>
          </a:solidFill>
          <a:ln xmlns:a="http://schemas.openxmlformats.org/drawingml/2006/main" w="0">
            <a:solidFill>
              <a:srgbClr val="0B182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6A5B2-A613-485F-829D-224419A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0D830-024C-44ED-A932-B9C62B76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3BE"/>
                </a:solidFill>
              </a:defRPr>
            </a:pPr>
            <a:r>
              <a:rPr sz="1200" b="1">
                <a:solidFill>
                  <a:srgbClr val="9FB3BE"/>
                </a:solidFill>
              </a:rPr>
              <a:t>Kampala PM2.5 · Smart City Capstone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461BA-F02A-4B46-A3B4-8D339FD3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4A38B"/>
                </a:solidFill>
              </a:defRPr>
            </a:pPr>
            <a:r>
              <a:rPr sz="1050" b="1">
                <a:solidFill>
                  <a:srgbClr val="14A38B"/>
                </a:solidFill>
              </a:rPr>
              <a:t>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61297-8C5A-410B-8202-58F4F58E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F0EE"/>
                </a:solidFill>
              </a:defRPr>
            </a:pPr>
            <a:r>
              <a:rPr sz="2850" b="1">
                <a:solidFill>
                  <a:srgbClr val="E8F0EE"/>
                </a:solidFill>
              </a:rPr>
              <a:t>Final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D2861-1721-439B-9B33-1137C36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3BE"/>
                </a:solidFill>
              </a:defRPr>
            </a:pPr>
            <a:r>
              <a:rPr sz="1575" b="0">
                <a:solidFill>
                  <a:srgbClr val="9FB3BE"/>
                </a:solidFill>
              </a:rPr>
              <a:t>Keep the accepted pipeline, present challengers honestly, and defend the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B3A13-F45F-414A-80BA-3AC7E3CA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5621C-6F38-4D30-A7C8-8781A990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Keep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CB8B6-0FA9-4EB8-A9CA-A7B37103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NOW k=4 /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8995A-D9B2-4FFA-9294-A8D9AFCD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47650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B464C-41B4-4A89-9A41-1A3D75A1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622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6C98A"/>
                </a:solidFill>
              </a:defRPr>
            </a:pPr>
            <a:r>
              <a:rPr sz="2250" b="1">
                <a:solidFill>
                  <a:srgbClr val="46C98A"/>
                </a:solidFill>
              </a:rPr>
              <a:t>Keep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49076-3073-4B62-A12F-3C2AECAA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FUTURE LSTM headline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B1926-DEEC-48A3-9131-E4E29E2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BA0D1-A461-48FF-AA23-B7393E4D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622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C5A4C"/>
                </a:solidFill>
              </a:defRPr>
            </a:pPr>
            <a:r>
              <a:rPr sz="2250" b="1">
                <a:solidFill>
                  <a:srgbClr val="EC5A4C"/>
                </a:solidFill>
              </a:rPr>
              <a:t>Reject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7E765-3E8A-4C27-A097-A0243EE8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k=6 as 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0238D-629B-4EB9-8DD0-09707653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1907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22030"/>
          </a:solidFill>
          <a:ln xmlns:a="http://schemas.openxmlformats.org/drawingml/2006/main" w="9525">
            <a:solidFill>
              <a:srgbClr val="24324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06833-782B-4423-8258-6FCA27DC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A020"/>
                </a:solidFill>
              </a:defRPr>
            </a:pPr>
            <a:r>
              <a:rPr sz="2250" b="1">
                <a:solidFill>
                  <a:srgbClr val="E8A020"/>
                </a:solidFill>
              </a:rPr>
              <a:t>Track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2DE18-0F26-429E-BE0B-4CE73D6E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FB3BE"/>
                </a:solidFill>
              </a:defRPr>
            </a:pPr>
            <a:r>
              <a:rPr sz="1125" b="0">
                <a:solidFill>
                  <a:srgbClr val="9FB3BE"/>
                </a:solidFill>
              </a:rPr>
              <a:t>RF / rolling-7 challengers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DBF4F-ED3E-49F2-BF3C-53CB7CC4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A38B"/>
                </a:solidFill>
              </a:defRPr>
            </a:pPr>
            <a:r>
              <a:rPr sz="1650" b="1">
                <a:solidFill>
                  <a:srgbClr val="14A38B"/>
                </a:solidFill>
              </a:rPr>
              <a:t>One-sentence close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C48BC-91CE-4A7C-B2B0-6E0EB341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9906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626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F0EE"/>
                </a:solidFill>
              </a:defRPr>
            </a:pPr>
            <a:r>
              <a:rPr sz="2175" b="1">
                <a:solidFill>
                  <a:srgbClr val="E8F0EE"/>
                </a:solidFill>
              </a:rPr>
              <a:t>This project is strongest because it proves useful PM2.5 decision support while clearly separating honest deployable results from attractive but non-deployable upper bounds.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FE11A-0486-4430-89ED-725E6A1A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84321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FB3BE"/>
                </a:solidFill>
              </a:defRPr>
            </a:pPr>
            <a:r>
              <a:rPr sz="1275" b="0">
                <a:solidFill>
                  <a:srgbClr val="9FB3BE"/>
                </a:solidFill>
              </a:rPr>
              <a:t>End with: “The accepted model remains k=4 for NOW/safety, LSTM remains the FUTURE headline, and the audit shows restraint rather than score-chasing.”</a:t>
            </a:r>
          </a:p>
        </p:txBody>
      </p:sp>
    </p:spTree>
    <p:extLst>
      <p:ext uri="{BB962C8B-B14F-4D97-AF65-F5344CB8AC3E}">
        <p14:creationId xmlns:p14="http://schemas.microsoft.com/office/powerpoint/2010/main" val="1673556671"/>
      </p:ext>
    </p:extLst>
  </p:cSld>
</p:sld>
</file>

<file path=ppt/theme/theme1.xml><?xml version="1.0" encoding="utf-8"?>
<a:theme xmlns:a="http://schemas.openxmlformats.org/drawingml/2006/main" name="CapstoneDark">
  <a:themeElements>
    <a:clrScheme name="CapstoneDark">
      <a:accent1>
        <a:srgbClr val="14A38B"/>
      </a:accent1>
      <a:accent2>
        <a:srgbClr val="E8A020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pstone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2026-06-15T10:12:17.4750000Z</dcterms:created>
  <dcterms:modified xsi:type="dcterms:W3CDTF">2026-06-15T10:12:17.4750000Z</dcterms:modified>
</coreProperties>
</file>